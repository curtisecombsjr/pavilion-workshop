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 test echoes the same flags/threads the base sets, so you can watch inheritance resolve without compiling STREAM. Proof: small got both inherited values; large kept the inherited build (flags=-O3) but overrode threads; debug kept the inherited threads but overrode the build. Note BUILD_REUSED — small and large share base's build.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result_evaluate runs expressions over the parsed results. Assigning the special 'result' key overrides the default exit-code result — so a test that exits 0 still FAILs if the number doesn't clear the bar. Expressions can do math, comparisons, all(), any(), etc.</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tests exit 0, so by exit code both would PASS. The evaluation flips 'low' to FAIL because 80 isn't &gt; 100. This is how you turn a measured number into an acceptance criterion.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 Here the same test flips FAIL→PASS purely because the mode overrode a value — no edit to the test itself.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evaluates throughput_mbs &gt; 1300. Base value 1200 fails it. The prod mode overrides only that variable to 1400, so the same test now passes — no edit to the test.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is the proof: base throughput 1200 fails the &gt; 1300 check; the prod mode overrides the value to 1400 and the identical test now passes. Both ran through PBS (qstat).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One 'pav series run' launches every test in the set.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tests into sets and run them with one command. The smoke set here holds demo_pbs.pass, .fail, and .metrics — 2 pass, 1 intentional fail.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The test uses a per_file: name parser so each node's result is recorded; Pavilion's sa_log plugin then invokes saLog once per node with the 'released' action, writing node, content (result), user, action to the CSV.</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The read-back auto-loads the password from pavilion.yaml — no OS_PASS export needed.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INHERITANCE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inherited vs overridden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01-inheritance.sh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demo_inherit.small demo_inherit.large demo_inherit.debug</a:t>
            </a:r>
          </a:p>
          <a:p>
            <a:pPr algn="l"/>
            <a:r>
              <a:rPr sz="1250" b="0">
                <a:solidFill>
                  <a:srgbClr val="1B2B34"/>
                </a:solidFill>
                <a:latin typeface="Consolas"/>
              </a:rPr>
              <a:t>created 3 tests, 0 errors.   BUILD_REUSED: 2   # small &amp; large reuse base's build</a:t>
            </a:r>
          </a:p>
          <a:p>
            <a:pPr algn="l"/>
            <a:r>
              <a:rPr sz="1250" b="0">
                <a:solidFill>
                  <a:srgbClr val="1B2B34"/>
                </a:solidFill>
                <a:latin typeface="Consolas"/>
              </a:rPr>
              <a:t>sid: s148</a:t>
            </a:r>
          </a:p>
          <a:p>
            <a:pPr algn="l"/>
            <a:r>
              <a:rPr sz="1250" b="0">
                <a:solidFill>
                  <a:srgbClr val="1B2B34"/>
                </a:solidFill>
                <a:latin typeface="Consolas"/>
              </a:rPr>
              <a:t> </a:t>
            </a:r>
          </a:p>
          <a:p>
            <a:pPr algn="l"/>
            <a:r>
              <a:rPr sz="1400" b="1">
                <a:solidFill>
                  <a:srgbClr val="2E6DA4"/>
                </a:solidFill>
                <a:latin typeface="Consolas"/>
              </a:rPr>
              <a:t>$ qstat -a                                              # each child = its own PBS job</a:t>
            </a:r>
          </a:p>
          <a:p>
            <a:pPr algn="l"/>
            <a:r>
              <a:rPr sz="1250" b="0">
                <a:solidFill>
                  <a:srgbClr val="1B2B34"/>
                </a:solidFill>
                <a:latin typeface="Consolas"/>
              </a:rPr>
              <a:t>9068.pbs-server pavilion workq pav_demo_*  1  1  R</a:t>
            </a:r>
          </a:p>
          <a:p>
            <a:pPr algn="l"/>
            <a:r>
              <a:rPr sz="1250" b="0">
                <a:solidFill>
                  <a:srgbClr val="1B2B34"/>
                </a:solidFill>
                <a:latin typeface="Consolas"/>
              </a:rPr>
              <a:t>9069.pbs-server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s148                               # inherited vs overridden, per child</a:t>
            </a:r>
          </a:p>
          <a:p>
            <a:pPr algn="l"/>
            <a:r>
              <a:rPr sz="1250" b="0">
                <a:solidFill>
                  <a:srgbClr val="1B2B34"/>
                </a:solidFill>
                <a:latin typeface="Consolas"/>
              </a:rPr>
              <a:t>small  -&gt; flags=-O3                    threads=2    # inherits everything</a:t>
            </a:r>
          </a:p>
          <a:p>
            <a:pPr algn="l"/>
            <a:r>
              <a:rPr sz="1250" b="0">
                <a:solidFill>
                  <a:srgbClr val="1B2B34"/>
                </a:solidFill>
                <a:latin typeface="Consolas"/>
              </a:rPr>
              <a:t>large  -&gt; flags=-O3                    threads=5    # overrode just the variable</a:t>
            </a:r>
          </a:p>
          <a:p>
            <a:pPr algn="l"/>
            <a:r>
              <a:rPr sz="1250" b="0">
                <a:solidFill>
                  <a:srgbClr val="1B2B34"/>
                </a:solidFill>
                <a:latin typeface="Consolas"/>
              </a:rPr>
              <a:t>debug  -&gt; flags=-O3-fsanitize=address  threads=2    # overrode just the build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base, three children: small inherits all; large changes only the variable; debug changes only the build.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13-history.sh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EVALUATION</a:t>
            </a:r>
          </a:p>
          <a:p>
            <a:r>
              <a:rPr sz="3600" b="1">
                <a:solidFill>
                  <a:srgbClr val="1F3B63"/>
                </a:solidFill>
                <a:latin typeface="Arial"/>
              </a:rPr>
              <a:t>Turning numbers into pass/fail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EVALUATE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evaluation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Parsing pulls values out; result_evaluate judges them. The 'result' key sets PASS/FAIL.</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high:</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"score 150"'</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score:</a:t>
            </a:r>
          </a:p>
          <a:p>
            <a:pPr algn="l"/>
            <a:r>
              <a:rPr sz="1400" b="0">
                <a:solidFill>
                  <a:srgbClr val="1B2B34"/>
                </a:solidFill>
                <a:latin typeface="Consolas"/>
              </a:rPr>
              <a:t>        regex: 'score (\S+)'      # parse: pull the number out</a:t>
            </a:r>
          </a:p>
          <a:p>
            <a:pPr algn="l"/>
            <a:r>
              <a:rPr sz="1400" b="0">
                <a:solidFill>
                  <a:srgbClr val="1B2B34"/>
                </a:solidFill>
                <a:latin typeface="Consolas"/>
              </a:rPr>
              <a:t>  result_evaluate:</a:t>
            </a:r>
          </a:p>
          <a:p>
            <a:pPr algn="l"/>
            <a:r>
              <a:rPr sz="1400" b="0">
                <a:solidFill>
                  <a:srgbClr val="1B2B34"/>
                </a:solidFill>
                <a:latin typeface="Consolas"/>
              </a:rPr>
              <a:t>    result: 'score &gt; 100'          # evaluate: turn it into PASS/FAIL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EVAL</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Evaluate decides pass or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04-evaluate.sh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demo_eval.high demo_eval.low     # both exit 0</a:t>
            </a:r>
          </a:p>
          <a:p>
            <a:pPr algn="l"/>
            <a:r>
              <a:rPr sz="1250" b="0">
                <a:solidFill>
                  <a:srgbClr val="1B2B34"/>
                </a:solidFill>
                <a:latin typeface="Consolas"/>
              </a:rPr>
              <a:t>created 2 tests, 0 errors.</a:t>
            </a:r>
          </a:p>
          <a:p>
            <a:pPr algn="l"/>
            <a:r>
              <a:rPr sz="1250" b="0">
                <a:solidFill>
                  <a:srgbClr val="1B2B34"/>
                </a:solidFill>
                <a:latin typeface="Consolas"/>
              </a:rPr>
              <a:t>sid: s155</a:t>
            </a:r>
          </a:p>
          <a:p>
            <a:pPr algn="l"/>
            <a:r>
              <a:rPr sz="1250" b="0">
                <a:solidFill>
                  <a:srgbClr val="1B2B34"/>
                </a:solidFill>
                <a:latin typeface="Consolas"/>
              </a:rPr>
              <a:t> </a:t>
            </a:r>
          </a:p>
          <a:p>
            <a:pPr algn="l"/>
            <a:r>
              <a:rPr sz="1400" b="1">
                <a:solidFill>
                  <a:srgbClr val="2E6DA4"/>
                </a:solidFill>
                <a:latin typeface="Consolas"/>
              </a:rPr>
              <a:t>$ qstat -a                                 # two PBS jobs</a:t>
            </a:r>
          </a:p>
          <a:p>
            <a:pPr algn="l"/>
            <a:r>
              <a:rPr sz="1250" b="0">
                <a:solidFill>
                  <a:srgbClr val="1B2B34"/>
                </a:solidFill>
                <a:latin typeface="Consolas"/>
              </a:rPr>
              <a:t>9086.pbs-server pavilion workq pav_demo_*  1  1  R</a:t>
            </a:r>
          </a:p>
          <a:p>
            <a:pPr algn="l"/>
            <a:r>
              <a:rPr sz="1250" b="0">
                <a:solidFill>
                  <a:srgbClr val="1B2B34"/>
                </a:solidFill>
                <a:latin typeface="Consolas"/>
              </a:rPr>
              <a:t>9087.pbs-server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s155                  # result = score &gt; 100, NOT the exit code</a:t>
            </a:r>
          </a:p>
          <a:p>
            <a:pPr algn="l"/>
            <a:r>
              <a:rPr sz="1250" b="0">
                <a:solidFill>
                  <a:srgbClr val="1E7D3C"/>
                </a:solidFill>
                <a:latin typeface="Consolas"/>
              </a:rPr>
              <a:t>high  -&gt; score=150   result=PASS     # 150 &gt; 100</a:t>
            </a:r>
          </a:p>
          <a:p>
            <a:pPr algn="l"/>
            <a:r>
              <a:rPr sz="1250" b="0">
                <a:solidFill>
                  <a:srgbClr val="B32A2A"/>
                </a:solidFill>
                <a:latin typeface="Consolas"/>
              </a:rPr>
              <a:t>low   -&gt; score=80    result=FAIL     # 80 &gt; 100 is false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rule (score &gt; 100), different data → different verdict. Evaluation, not the exit code, sets PASS/FAIL.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the test fails at throughput 1200; a `prod` mode raises it to 1400 → it passes.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and a mode that changes its outcome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The test measures throughput and requires &gt; 1300. Base is 1200 (FAIL); the mode raises it.</a:t>
            </a:r>
          </a:p>
        </p:txBody>
      </p:sp>
      <p:sp>
        <p:nvSpPr>
          <p:cNvPr id="6" name="Rectangle 5"/>
          <p:cNvSpPr/>
          <p:nvPr/>
        </p:nvSpPr>
        <p:spPr>
          <a:xfrm>
            <a:off x="640080" y="2148840"/>
            <a:ext cx="10972800" cy="484632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00" b="0">
                <a:solidFill>
                  <a:srgbClr val="5B6674"/>
                </a:solidFill>
                <a:latin typeface="Consolas"/>
              </a:rPr>
              <a:t># config/suites/demo_modes.yaml   (the test)</a:t>
            </a:r>
          </a:p>
          <a:p>
            <a:pPr algn="l"/>
            <a:r>
              <a:rPr sz="1300" b="0">
                <a:solidFill>
                  <a:srgbClr val="1B2B34"/>
                </a:solidFill>
                <a:latin typeface="Consolas"/>
              </a:rPr>
              <a:t>mode_demo:</a:t>
            </a:r>
          </a:p>
          <a:p>
            <a:pPr algn="l"/>
            <a:r>
              <a:rPr sz="1300" b="0">
                <a:solidFill>
                  <a:srgbClr val="1B2B34"/>
                </a:solidFill>
                <a:latin typeface="Consolas"/>
              </a:rPr>
              <a:t>  variables:</a:t>
            </a:r>
          </a:p>
          <a:p>
            <a:pPr algn="l"/>
            <a:r>
              <a:rPr sz="1300" b="0">
                <a:solidFill>
                  <a:srgbClr val="1B2B34"/>
                </a:solidFill>
                <a:latin typeface="Consolas"/>
              </a:rPr>
              <a:t>    throughput: 1200</a:t>
            </a:r>
          </a:p>
          <a:p>
            <a:pPr algn="l"/>
            <a:r>
              <a:rPr sz="1300" b="0">
                <a:solidFill>
                  <a:srgbClr val="1B2B34"/>
                </a:solidFill>
                <a:latin typeface="Consolas"/>
              </a:rPr>
              <a:t>  run:</a:t>
            </a:r>
          </a:p>
          <a:p>
            <a:pPr algn="l"/>
            <a:r>
              <a:rPr sz="1300" b="0">
                <a:solidFill>
                  <a:srgbClr val="1B2B34"/>
                </a:solidFill>
                <a:latin typeface="Consolas"/>
              </a:rPr>
              <a:t>    cmds:</a:t>
            </a:r>
          </a:p>
          <a:p>
            <a:pPr algn="l"/>
            <a:r>
              <a:rPr sz="1300" b="0">
                <a:solidFill>
                  <a:srgbClr val="1B2B34"/>
                </a:solidFill>
                <a:latin typeface="Consolas"/>
              </a:rPr>
              <a:t>      - 'echo "throughput {{throughput}}"'</a:t>
            </a:r>
          </a:p>
          <a:p>
            <a:pPr algn="l"/>
            <a:r>
              <a:rPr sz="1300" b="0">
                <a:solidFill>
                  <a:srgbClr val="1B2B34"/>
                </a:solidFill>
                <a:latin typeface="Consolas"/>
              </a:rPr>
              <a:t>  result_parse:</a:t>
            </a:r>
          </a:p>
          <a:p>
            <a:pPr algn="l"/>
            <a:r>
              <a:rPr sz="1300" b="0">
                <a:solidFill>
                  <a:srgbClr val="1B2B34"/>
                </a:solidFill>
                <a:latin typeface="Consolas"/>
              </a:rPr>
              <a:t>    regex:</a:t>
            </a:r>
          </a:p>
          <a:p>
            <a:pPr algn="l"/>
            <a:r>
              <a:rPr sz="1300" b="0">
                <a:solidFill>
                  <a:srgbClr val="1B2B34"/>
                </a:solidFill>
                <a:latin typeface="Consolas"/>
              </a:rPr>
              <a:t>      throughput_mbs:</a:t>
            </a:r>
          </a:p>
          <a:p>
            <a:pPr algn="l"/>
            <a:r>
              <a:rPr sz="1300" b="0">
                <a:solidFill>
                  <a:srgbClr val="1B2B34"/>
                </a:solidFill>
                <a:latin typeface="Consolas"/>
              </a:rPr>
              <a:t>        regex: 'throughput (\S+)'</a:t>
            </a:r>
          </a:p>
          <a:p>
            <a:pPr algn="l"/>
            <a:r>
              <a:rPr sz="1300" b="0">
                <a:solidFill>
                  <a:srgbClr val="1B2B34"/>
                </a:solidFill>
                <a:latin typeface="Consolas"/>
              </a:rPr>
              <a:t>  result_evaluate:</a:t>
            </a:r>
          </a:p>
          <a:p>
            <a:pPr algn="l"/>
            <a:r>
              <a:rPr sz="1300" b="0">
                <a:solidFill>
                  <a:srgbClr val="1B2B34"/>
                </a:solidFill>
                <a:latin typeface="Consolas"/>
              </a:rPr>
              <a:t>    result: 'throughput_mbs &gt; 1300'      # PASS only if above 1300</a:t>
            </a:r>
          </a:p>
          <a:p>
            <a:pPr algn="l"/>
            <a:r>
              <a:rPr sz="1300" b="0">
                <a:solidFill>
                  <a:srgbClr val="1B2B34"/>
                </a:solidFill>
                <a:latin typeface="Consolas"/>
              </a:rPr>
              <a:t> </a:t>
            </a:r>
          </a:p>
          <a:p>
            <a:pPr algn="l"/>
            <a:r>
              <a:rPr sz="1300" b="0">
                <a:solidFill>
                  <a:srgbClr val="5B6674"/>
                </a:solidFill>
                <a:latin typeface="Consolas"/>
              </a:rPr>
              <a:t># config/modes/prod.yaml   (the mode overlay)</a:t>
            </a:r>
          </a:p>
          <a:p>
            <a:pPr algn="l"/>
            <a:r>
              <a:rPr sz="1300" b="0">
                <a:solidFill>
                  <a:srgbClr val="1B2B34"/>
                </a:solidFill>
                <a:latin typeface="Consolas"/>
              </a:rPr>
              <a:t>variables:</a:t>
            </a:r>
          </a:p>
          <a:p>
            <a:pPr algn="l"/>
            <a:r>
              <a:rPr sz="1300" b="0">
                <a:solidFill>
                  <a:srgbClr val="1B2B34"/>
                </a:solidFill>
                <a:latin typeface="Consolas"/>
              </a:rPr>
              <a:t>  throughput: 1400                        # override 1200 -&gt; 1400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flips FAIL → PASS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demo_modes.mode_demo           # base: throughput = 1200</a:t>
            </a:r>
          </a:p>
          <a:p>
            <a:pPr algn="l"/>
            <a:r>
              <a:rPr sz="1250" b="0">
                <a:solidFill>
                  <a:srgbClr val="1B2B34"/>
                </a:solidFill>
                <a:latin typeface="Consolas"/>
              </a:rPr>
              <a:t>  'throughput_mbs': 1200,</a:t>
            </a:r>
          </a:p>
          <a:p>
            <a:pPr algn="l"/>
            <a:r>
              <a:rPr sz="1250" b="0">
                <a:solidFill>
                  <a:srgbClr val="B32A2A"/>
                </a:solidFill>
                <a:latin typeface="Consolas"/>
              </a:rPr>
              <a:t>  'result': 'FAIL'          # 1200 &gt; 1300 is false</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8407.pbs-server pavilion workq pav_demo_*  1  1  R</a:t>
            </a:r>
          </a:p>
          <a:p>
            <a:pPr algn="l"/>
            <a:r>
              <a:rPr sz="1250" b="0">
                <a:solidFill>
                  <a:srgbClr val="1B2B34"/>
                </a:solidFill>
                <a:latin typeface="Consolas"/>
              </a:rPr>
              <a:t> </a:t>
            </a:r>
          </a:p>
          <a:p>
            <a:pPr algn="l"/>
            <a:r>
              <a:rPr sz="1400" b="1">
                <a:solidFill>
                  <a:srgbClr val="2E6DA4"/>
                </a:solidFill>
                <a:latin typeface="Consolas"/>
              </a:rPr>
              <a:t>$ pav run -m prod demo_modes.mode_demo    # prod overrides -&gt; throughput = 1400</a:t>
            </a:r>
          </a:p>
          <a:p>
            <a:pPr algn="l"/>
            <a:r>
              <a:rPr sz="1250" b="0">
                <a:solidFill>
                  <a:srgbClr val="1B2B34"/>
                </a:solidFill>
                <a:latin typeface="Consolas"/>
              </a:rPr>
              <a:t>  'throughput_mbs': 1400,</a:t>
            </a:r>
          </a:p>
          <a:p>
            <a:pPr algn="l"/>
            <a:r>
              <a:rPr sz="1250" b="0">
                <a:solidFill>
                  <a:srgbClr val="1E7D3C"/>
                </a:solidFill>
                <a:latin typeface="Consolas"/>
              </a:rPr>
              <a:t>  'result': 'PASS'          # 1400 &gt; 1300 is true</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test, no edits — the prod mode raised throughput past the 1300 threshold, flipping FAIL → PASS.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test set, list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 demo_pbs.fail</a:t>
            </a:r>
          </a:p>
          <a:p>
            <a:pPr algn="l"/>
            <a:r>
              <a:rPr sz="1400" b="0">
                <a:solidFill>
                  <a:srgbClr val="1B2B34"/>
                </a:solidFill>
                <a:latin typeface="Consolas"/>
              </a:rPr>
              <a:t>      - demo_pbs.metrics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s152.</a:t>
            </a:r>
          </a:p>
          <a:p>
            <a:pPr algn="l"/>
            <a:r>
              <a:rPr sz="1250" b="0">
                <a:solidFill>
                  <a:srgbClr val="1B2B34"/>
                </a:solidFill>
                <a:latin typeface="Consolas"/>
              </a:rPr>
              <a:t> </a:t>
            </a:r>
          </a:p>
          <a:p>
            <a:pPr algn="l"/>
            <a:r>
              <a:rPr sz="1400" b="1">
                <a:solidFill>
                  <a:srgbClr val="2E6DA4"/>
                </a:solidFill>
                <a:latin typeface="Consolas"/>
              </a:rPr>
              <a:t>$ qstat -a                        # the set's tests dispatched to PBS</a:t>
            </a:r>
          </a:p>
          <a:p>
            <a:pPr algn="l"/>
            <a:r>
              <a:rPr sz="1250" b="0">
                <a:solidFill>
                  <a:srgbClr val="1B2B34"/>
                </a:solidFill>
                <a:latin typeface="Consolas"/>
              </a:rPr>
              <a:t>9076.pbs-server pavilion workq pav_demo_*  1  1  R</a:t>
            </a:r>
          </a:p>
          <a:p>
            <a:pPr algn="l"/>
            <a:r>
              <a:rPr sz="1250" b="0">
                <a:solidFill>
                  <a:srgbClr val="1B2B34"/>
                </a:solidFill>
                <a:latin typeface="Consolas"/>
              </a:rPr>
              <a:t>9077.pbs-server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s152</a:t>
            </a:r>
          </a:p>
          <a:p>
            <a:pPr algn="l"/>
            <a:r>
              <a:rPr sz="1250" b="0">
                <a:solidFill>
                  <a:srgbClr val="1B2B34"/>
                </a:solidFill>
                <a:latin typeface="Consolas"/>
              </a:rPr>
              <a:t>Id   | Name        | Status   | Tests | Pass | Fail</a:t>
            </a:r>
          </a:p>
          <a:p>
            <a:pPr algn="l"/>
            <a:r>
              <a:rPr sz="1250" b="0">
                <a:solidFill>
                  <a:srgbClr val="1B2B34"/>
                </a:solidFill>
                <a:latin typeface="Consolas"/>
              </a:rPr>
              <a:t>s152 | demo_series | COMPLETE |   3   |   2  |   1</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all three tests in the 'smoke' set — 2 PASS, 1 (intentional) FAIL.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14-salog.sh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demo_pbs.salog                 # 1. run in Pavilion (per_file: name)</a:t>
            </a:r>
          </a:p>
          <a:p>
            <a:pPr algn="l"/>
            <a:r>
              <a:rPr sz="1250" b="0">
                <a:solidFill>
                  <a:srgbClr val="1B2B34"/>
                </a:solidFill>
                <a:latin typeface="Consolas"/>
              </a:rPr>
              <a:t>sid: s141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2. the job, running in PBS</a:t>
            </a:r>
          </a:p>
          <a:p>
            <a:pPr algn="l"/>
            <a:r>
              <a:rPr sz="1250" b="0">
                <a:solidFill>
                  <a:srgbClr val="1B2B34"/>
                </a:solidFill>
                <a:latin typeface="Consolas"/>
              </a:rPr>
              <a:t>8410.pbs-server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the sa_log plugin wrote on release</a:t>
            </a:r>
          </a:p>
          <a:p>
            <a:pPr algn="l"/>
            <a:r>
              <a:rPr sz="1250" b="0">
                <a:solidFill>
                  <a:srgbClr val="1E7D3C"/>
                </a:solidFill>
                <a:latin typeface="Consolas"/>
              </a:rPr>
              <a:t>x1002c6s2b0n1,"demo_pbs.salog result=PASS",pavilion,released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 in PBS → the sa_log plugin calls saLog per node as it's released.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