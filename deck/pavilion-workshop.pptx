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~60 min, concept + lots of live demos. We'll go from a one-line 'hello' test all the way to custom plugins shipping results to OpenSearch.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pitch for a mixed audience: stop hand-writing brittle test scripts. Describe a test once in YAML; Pavilion handles building, scheduling, running, parsing, and recording results — consistently, everywhere.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'why should I care' slide. Baseline testing pairs with regression: you can't spot a regression without a known-good baseline to compare 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each concept plainly. 'suite.test' is how you address a test, e.g. demo_pbs.pass.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for the demos: run -&gt; build (reused) -&gt; kickoff -&gt; run -&gt; parse -&gt;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build step is distinct from the run. Three flavors: compile from source, build from a source directory, or copy pre-built binaries. Built once (on the login node — compute nodes often have no internet) and reused, which is why demos show BUILD_REUSED.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exit code decides PASS/FAIL. It's dispatched to PBS (queue workq).</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fuller shape: a couple of variables up top (used below), the PBS scheduler targeting a queue, then the four stages — build (compile from source), run, result_parse (regex → triad_mbs), and result_evaluate (a pass/fail expression). Still just YAML.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Huge selling point. Real suites share tons of config (same build, same scheduler settings). Inheritance = write it once, variants override just the delta. Less code, less drift, one place to fix things.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base owns the shared config and a variable (threads: 2). 'small' is literally just inherits_from: base — it takes everything. 'large' inherits and overrides only the variable (threads: 5). 'debug' inherits and overrides only the build, adding -fsanitize=address. Each child writes just its delta — that's the DRY win.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test echoes the same flags/threads the base sets, so you can watch inheritance resolve without compiling STREAM. Proof: small got both inherited values; large kept the inherited build (flags=-O3) but overrode threads; debug kept the inherited threads but overrode the build. Note BUILD_REUSED — small and large share base's build.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 'pav --quiet' silences a harmless config-label warning for clean output.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Pavilion records every test run persistently. 'pav status all' searches the whole history (not just the last day); -F takes keywords (PASSED/FAILED) or field filters (name=…), joined with 'and'/'or'. Note the Apr-26 failure — the record goes back as far as your runs 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tests from one 'pav run', both submitted to PBS (qstat proves it). PASS vs FAIL is purely the exit code. Running the PBS test also proves the scheduler itself works.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parsers exist (regex, constant, table, split…) plus result_evaluate for computed pass/fail. Raw stdout becomes queryable numbers.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parsed fields are exactly what ships to OpenSearch later.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result_evaluate runs expressions over the parsed results. Assigning the special 'result' key overrides the default exit-code result — so a test that exits 0 still FAILs if the number doesn't clear the bar. Expressions can do math, comparisons, all(), any(), etc.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tests exit 0, so by exit code both would PASS. The evaluation flips 'low' to FAIL because 80 isn't &gt; 100. This is how you turn a measured number into an acceptance criterion.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people remember. One definition, six tests, each with its own subtitle. share_allocation: false makes Pavilion submit a separate PBS job per instance (the default packs them into one shared allocation).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share_allocation: false gives each permutation its OWN PBS job (distinct job ids 8400–8405). With one free node they run a couple at a time and the rest sit in Q — real scheduler behavior. Point out the auto-generated subtitles (size-mode).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test, different scheduler = portability. Our PBS plugin is the custom bit.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schedule.pbs maps to #PBS resource requests via our plugin. Addressed as demo_pbs.pass.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running step shows the same job in both Pavilion (RUNNING) and PBS (state R). Live tip: 'pav run' then immediately 'pav status' / 'qstat -a' to catch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Modes = reuse. One test, many contexts. Here the same test flips FAIL→PASS purely because the mode overrode a value — no edit to the test itself.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evaluates throughput_mbs &gt; 1300. Base value 1200 fails it. The prod mode overrides only that variable to 1400, so the same test now passes — no edit to the test.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is the proof: base throughput 1200 fails the &gt; 1300 check; the prod mode overrides the value to 1400 and the identical test now passes. Both ran through PBS (qstat).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Sets can be ordered or not; unordered runs them concurrently (robust for a live demo). One 'pav series run' launches every test in the set.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Series group tests into sets and run them with one command. The smoke set here holds demo_pbs.pass, .fail, and .metrics — 2 pass, 1 intentional fail. I use unordered for a robust live run.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every parsed field (throughput_mbs, latency_ms…) is in the JSON — that's what feeds the result loggers next. --json (or -j) is how you script against Pavilion.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custom plugins next: command plugins and result loggers.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add new verbs to pav itself — just Python classes Pavilion auto-discovers.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hello/recent/test-summary/disk-usage all add new verbs to pav itself. recent/test-summary read Pavilion's run database via cmd_utils; disk-usage totals runs / builds / series (handy before a 'pav clean'). Same plugin API for all four.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loggers run at the end of the results stage. One config, applies to all runs.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CSV page also shows scheduler dispatch — these are real PBS jobs (qstat) — then the csv_file logger records one row per test. Parsed metrics land in 'extra', permute vars in 'permute_on'.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saLog is a logger specific to us (NASA/NOAA). The test uses a per_file: name parser so each node's result is recorded; Pavilion's sa_log plugin then invokes saLog once per node with the 'released' action, writing node, content (result), user, action to the CSV.</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suite, query the index to prove indexing, then open Grafana (http://&lt;your-grafana-host&gt;:3000). The read-back auto-loads the password from pavilion.yaml — no OS_PASS export needed.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with pymysql; connects via unix_socket so there's NO password in pavilion.yaml. The row-per-test appears the moment the run finishes.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loggers are plugins, so results can go wherever you need. csv_file / saLog / opensearch / mysql all exist and are shown today; PostgreSQL is an example you'd write a logger for — '[add your own]' says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Pavilion isn't just running tests — it's a data pipeline from 'did it pass' to 'how is the system trending'.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up for Q&amp;A. Offer to walk through any demo again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10515600" cy="1828800"/>
          </a:xfrm>
          <a:prstGeom prst="rect">
            <a:avLst/>
          </a:prstGeom>
          <a:noFill/>
        </p:spPr>
        <p:txBody>
          <a:bodyPr wrap="square">
            <a:spAutoFit/>
          </a:bodyPr>
          <a:lstStyle/>
          <a:p>
            <a:r>
              <a:rPr sz="4600" b="1">
                <a:solidFill>
                  <a:srgbClr val="FFFFFF"/>
                </a:solidFill>
                <a:latin typeface="Arial"/>
              </a:rPr>
              <a:t>Pavilion</a:t>
            </a:r>
          </a:p>
          <a:p>
            <a:r>
              <a:rPr sz="2200" b="0">
                <a:solidFill>
                  <a:srgbClr val="BFD3EA"/>
                </a:solidFill>
                <a:latin typeface="Arial"/>
              </a:rPr>
              <a:t>A YAML-driven test framework for HPC systems</a:t>
            </a:r>
          </a:p>
        </p:txBody>
      </p:sp>
      <p:sp>
        <p:nvSpPr>
          <p:cNvPr id="4" name="TextBox 3"/>
          <p:cNvSpPr txBox="1"/>
          <p:nvPr/>
        </p:nvSpPr>
        <p:spPr>
          <a:xfrm>
            <a:off x="868680" y="3429000"/>
            <a:ext cx="10515600" cy="457200"/>
          </a:xfrm>
          <a:prstGeom prst="rect">
            <a:avLst/>
          </a:prstGeom>
          <a:noFill/>
        </p:spPr>
        <p:txBody>
          <a:bodyPr wrap="square">
            <a:spAutoFit/>
          </a:bodyPr>
          <a:lstStyle/>
          <a:p>
            <a:r>
              <a:rPr sz="1600" b="0">
                <a:solidFill>
                  <a:srgbClr val="9FD0FF"/>
                </a:solidFill>
                <a:latin typeface="Arial"/>
              </a:rPr>
              <a:t>github.com/hpc/pavilion2</a:t>
            </a:r>
            <a:r>
              <a:rPr sz="1600" b="0">
                <a:solidFill>
                  <a:srgbClr val="6F86A6"/>
                </a:solidFill>
                <a:latin typeface="Arial"/>
              </a:rPr>
              <a:t>    ·    </a:t>
            </a:r>
            <a:r>
              <a:rPr sz="1600" b="0">
                <a:solidFill>
                  <a:srgbClr val="9FD0FF"/>
                </a:solidFill>
                <a:latin typeface="Arial"/>
              </a:rPr>
              <a:t>pavilion2.readthedocs.io</a:t>
            </a:r>
          </a:p>
        </p:txBody>
      </p:sp>
      <p:sp>
        <p:nvSpPr>
          <p:cNvPr id="5" name="TextBox 4"/>
          <p:cNvSpPr txBox="1"/>
          <p:nvPr/>
        </p:nvSpPr>
        <p:spPr>
          <a:xfrm>
            <a:off x="868680" y="5760720"/>
            <a:ext cx="10058400" cy="548640"/>
          </a:xfrm>
          <a:prstGeom prst="rect">
            <a:avLst/>
          </a:prstGeom>
          <a:noFill/>
        </p:spPr>
        <p:txBody>
          <a:bodyPr wrap="square">
            <a:spAutoFit/>
          </a:bodyPr>
          <a:lstStyle/>
          <a:p>
            <a:r>
              <a:rPr sz="1400" b="0">
                <a:solidFill>
                  <a:srgbClr val="9FB6D2"/>
                </a:solidFill>
                <a:latin typeface="Arial"/>
              </a:rPr>
              <a:t>Workshop · live demos on the PBS cluster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THE PROBLEM</a:t>
            </a:r>
          </a:p>
          <a:p>
            <a:r>
              <a:rPr sz="3600" b="1">
                <a:solidFill>
                  <a:srgbClr val="1F3B63"/>
                </a:solidFill>
                <a:latin typeface="Arial"/>
              </a:rPr>
              <a:t>Why Pavilion?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OVERVIEW</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What Pavilion is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An open-source (LANL) framework for testing HPC systems.</a:t>
            </a:r>
          </a:p>
          <a:p>
            <a:pPr>
              <a:spcAft>
                <a:spcPts val="1000"/>
              </a:spcAft>
            </a:pPr>
            <a:r>
              <a:rPr sz="2000" b="0">
                <a:solidFill>
                  <a:srgbClr val="21252B"/>
                </a:solidFill>
                <a:latin typeface="Arial"/>
              </a:rPr>
              <a:t>•  Mature &amp; battle-tested — years of development at LANL, hardened on production supercomputers.</a:t>
            </a:r>
          </a:p>
          <a:p>
            <a:pPr>
              <a:spcAft>
                <a:spcPts val="1000"/>
              </a:spcAft>
            </a:pPr>
            <a:r>
              <a:rPr sz="2000" b="0">
                <a:solidFill>
                  <a:srgbClr val="21252B"/>
                </a:solidFill>
                <a:latin typeface="Arial"/>
              </a:rPr>
              <a:t>•  Tests are YAML configs that wrap your test codes — not scripts you maintain by hand.</a:t>
            </a:r>
          </a:p>
          <a:p>
            <a:pPr>
              <a:spcAft>
                <a:spcPts val="1000"/>
              </a:spcAft>
            </a:pPr>
            <a:r>
              <a:rPr sz="2000" b="0">
                <a:solidFill>
                  <a:srgbClr val="21252B"/>
                </a:solidFill>
                <a:latin typeface="Arial"/>
              </a:rPr>
              <a:t>•  Runs the same tests across systems and schedulers (Slurm, Flux, PBS).</a:t>
            </a:r>
          </a:p>
          <a:p>
            <a:pPr>
              <a:spcAft>
                <a:spcPts val="1000"/>
              </a:spcAft>
            </a:pPr>
            <a:r>
              <a:rPr sz="2000" b="0">
                <a:solidFill>
                  <a:srgbClr val="21252B"/>
                </a:solidFill>
                <a:latin typeface="Arial"/>
              </a:rPr>
              <a:t>•  Plugin-driven: schedulers, result parsers, result loggers, commands, system variables.</a:t>
            </a:r>
          </a:p>
          <a:p>
            <a:pPr>
              <a:spcAft>
                <a:spcPts val="1000"/>
              </a:spcAft>
            </a:pPr>
            <a:r>
              <a:rPr sz="2000" b="0">
                <a:solidFill>
                  <a:srgbClr val="21252B"/>
                </a:solidFill>
                <a:latin typeface="Arial"/>
              </a:rPr>
              <a:t>•  Inheritable test definitions — write shared config once; tests inherit and override it (DRY).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WHERE IT FITS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Built for</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Acceptance testing — does a new or returned system meet spec before users get it?</a:t>
            </a:r>
          </a:p>
          <a:p>
            <a:pPr>
              <a:spcAft>
                <a:spcPts val="1000"/>
              </a:spcAft>
            </a:pPr>
            <a:r>
              <a:rPr sz="2000" b="0">
                <a:solidFill>
                  <a:srgbClr val="21252B"/>
                </a:solidFill>
                <a:latin typeface="Arial"/>
              </a:rPr>
              <a:t>•  System validation — confirm the whole stack still behaves after maintenance.</a:t>
            </a:r>
          </a:p>
          <a:p>
            <a:pPr>
              <a:spcAft>
                <a:spcPts val="1000"/>
              </a:spcAft>
            </a:pPr>
            <a:r>
              <a:rPr sz="2000" b="0">
                <a:solidFill>
                  <a:srgbClr val="21252B"/>
                </a:solidFill>
                <a:latin typeface="Arial"/>
              </a:rPr>
              <a:t>•  Baseline testing — capture known-good numbers to measure future runs against.</a:t>
            </a:r>
          </a:p>
          <a:p>
            <a:pPr>
              <a:spcAft>
                <a:spcPts val="1000"/>
              </a:spcAft>
            </a:pPr>
            <a:r>
              <a:rPr sz="2000" b="0">
                <a:solidFill>
                  <a:srgbClr val="21252B"/>
                </a:solidFill>
                <a:latin typeface="Arial"/>
              </a:rPr>
              <a:t>•  Regression testing — catch when a change quietly breaks or slows something.</a:t>
            </a:r>
          </a:p>
          <a:p>
            <a:pPr>
              <a:spcAft>
                <a:spcPts val="1000"/>
              </a:spcAft>
            </a:pPr>
            <a:r>
              <a:rPr sz="2000" b="0">
                <a:solidFill>
                  <a:srgbClr val="21252B"/>
                </a:solidFill>
                <a:latin typeface="Arial"/>
              </a:rPr>
              <a:t>•  Reproducibility — the same test, run the same way, by anyone, every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WHY IT MATTERS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problem it solves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A new cluster, a maintenance window, or a hardware repair — does everything still work and perform?</a:t>
            </a:r>
          </a:p>
          <a:p>
            <a:pPr>
              <a:spcAft>
                <a:spcPts val="1000"/>
              </a:spcAft>
            </a:pPr>
            <a:r>
              <a:rPr sz="2000" b="0">
                <a:solidFill>
                  <a:srgbClr val="21252B"/>
                </a:solidFill>
                <a:latin typeface="Arial"/>
              </a:rPr>
              <a:t>•  Hand-rolled scripts drift, differ per person, and don't record results.</a:t>
            </a:r>
          </a:p>
          <a:p>
            <a:pPr>
              <a:spcAft>
                <a:spcPts val="1000"/>
              </a:spcAft>
            </a:pPr>
            <a:r>
              <a:rPr sz="2000" b="0">
                <a:solidFill>
                  <a:srgbClr val="21252B"/>
                </a:solidFill>
                <a:latin typeface="Arial"/>
              </a:rPr>
              <a:t>•  Pavilion records every run — a searchable history you filter by result, name, or date.</a:t>
            </a:r>
          </a:p>
          <a:p>
            <a:pPr>
              <a:spcAft>
                <a:spcPts val="1000"/>
              </a:spcAft>
            </a:pPr>
            <a:r>
              <a:rPr sz="2000" b="0">
                <a:solidFill>
                  <a:srgbClr val="21252B"/>
                </a:solidFill>
                <a:latin typeface="Arial"/>
              </a:rPr>
              <a:t>•  Pavilion gives one declarative definition + a full run/results pipeline.</a:t>
            </a:r>
          </a:p>
          <a:p>
            <a:pPr>
              <a:spcAft>
                <a:spcPts val="1000"/>
              </a:spcAft>
            </a:pPr>
            <a:r>
              <a:rPr sz="2000" b="0">
                <a:solidFill>
                  <a:srgbClr val="21252B"/>
                </a:solidFill>
                <a:latin typeface="Arial"/>
              </a:rPr>
              <a:t>•  Results are captured, parsed, and shippable to dashboards (OpenSearch → Grafana).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HOW IT FITS TOGETHER</a:t>
            </a:r>
          </a:p>
          <a:p>
            <a:r>
              <a:rPr sz="3600" b="1">
                <a:solidFill>
                  <a:srgbClr val="1F3B63"/>
                </a:solidFill>
                <a:latin typeface="Arial"/>
              </a:rPr>
              <a:t>Core concepts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CONCEPTS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building blocks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Test — one thing to run, defined in YAML (build + run + result parsing).</a:t>
            </a:r>
          </a:p>
          <a:p>
            <a:pPr>
              <a:spcAft>
                <a:spcPts val="1000"/>
              </a:spcAft>
            </a:pPr>
            <a:r>
              <a:rPr sz="2000" b="0">
                <a:solidFill>
                  <a:srgbClr val="21252B"/>
                </a:solidFill>
                <a:latin typeface="Arial"/>
              </a:rPr>
              <a:t>•  Suite — a YAML file holding related tests (e.g. demo_pbs.yaml).</a:t>
            </a:r>
          </a:p>
          <a:p>
            <a:pPr>
              <a:spcAft>
                <a:spcPts val="1000"/>
              </a:spcAft>
            </a:pPr>
            <a:r>
              <a:rPr sz="2000" b="0">
                <a:solidFill>
                  <a:srgbClr val="21252B"/>
                </a:solidFill>
                <a:latin typeface="Arial"/>
              </a:rPr>
              <a:t>•  Config layering — host → mode → test: defaults get overridden in that order.</a:t>
            </a:r>
          </a:p>
          <a:p>
            <a:pPr>
              <a:spcAft>
                <a:spcPts val="1000"/>
              </a:spcAft>
            </a:pPr>
            <a:r>
              <a:rPr sz="2000" b="0">
                <a:solidFill>
                  <a:srgbClr val="21252B"/>
                </a:solidFill>
                <a:latin typeface="Arial"/>
              </a:rPr>
              <a:t>•  Variables &amp; permutations — one definition expands into many test instances.</a:t>
            </a:r>
          </a:p>
          <a:p>
            <a:pPr>
              <a:spcAft>
                <a:spcPts val="1000"/>
              </a:spcAft>
            </a:pPr>
            <a:r>
              <a:rPr sz="2000" b="0">
                <a:solidFill>
                  <a:srgbClr val="21252B"/>
                </a:solidFill>
                <a:latin typeface="Arial"/>
              </a:rPr>
              <a:t>•  config_dirs — where Pavilion looks for suites, modes, series, and plugins.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UNDER THE HOOD</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test lifecycle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1. Resolve — read configs, apply host/mode overrides, expand permutations.</a:t>
            </a:r>
          </a:p>
          <a:p>
            <a:pPr>
              <a:spcAft>
                <a:spcPts val="1000"/>
              </a:spcAft>
            </a:pPr>
            <a:r>
              <a:rPr sz="2000" b="0">
                <a:solidFill>
                  <a:srgbClr val="21252B"/>
                </a:solidFill>
                <a:latin typeface="Arial"/>
              </a:rPr>
              <a:t>•  2. Build — set up the test's source/build once (reused across runs).</a:t>
            </a:r>
          </a:p>
          <a:p>
            <a:pPr>
              <a:spcAft>
                <a:spcPts val="1000"/>
              </a:spcAft>
            </a:pPr>
            <a:r>
              <a:rPr sz="2000" b="0">
                <a:solidFill>
                  <a:srgbClr val="21252B"/>
                </a:solidFill>
                <a:latin typeface="Arial"/>
              </a:rPr>
              <a:t>•  3. Kickoff — hand the test to the scheduler (raw / PBS / Slurm / Flux).</a:t>
            </a:r>
          </a:p>
          <a:p>
            <a:pPr>
              <a:spcAft>
                <a:spcPts val="1000"/>
              </a:spcAft>
            </a:pPr>
            <a:r>
              <a:rPr sz="2000" b="0">
                <a:solidFill>
                  <a:srgbClr val="21252B"/>
                </a:solidFill>
                <a:latin typeface="Arial"/>
              </a:rPr>
              <a:t>•  4. Run — execute run.cmds on the target node(s).</a:t>
            </a:r>
          </a:p>
          <a:p>
            <a:pPr>
              <a:spcAft>
                <a:spcPts val="1000"/>
              </a:spcAft>
            </a:pPr>
            <a:r>
              <a:rPr sz="2000" b="0">
                <a:solidFill>
                  <a:srgbClr val="21252B"/>
                </a:solidFill>
                <a:latin typeface="Arial"/>
              </a:rPr>
              <a:t>•  5. Results — parse output → results.json, then hand off to result loggers.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UNDER THE HOOD</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build phase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Before a test runs, Pavilion builds it — once — then reuses that build across runs.</a:t>
            </a:r>
          </a:p>
          <a:p>
            <a:pPr>
              <a:spcAft>
                <a:spcPts val="1000"/>
              </a:spcAft>
            </a:pPr>
            <a:r>
              <a:rPr sz="2000" b="0">
                <a:solidFill>
                  <a:srgbClr val="21252B"/>
                </a:solidFill>
                <a:latin typeface="Arial"/>
              </a:rPr>
              <a:t>•  Compile from source — hand it a source archive/URL + build commands; it builds for you.</a:t>
            </a:r>
          </a:p>
          <a:p>
            <a:pPr>
              <a:spcAft>
                <a:spcPts val="1000"/>
              </a:spcAft>
            </a:pPr>
            <a:r>
              <a:rPr sz="2000" b="0">
                <a:solidFill>
                  <a:srgbClr val="21252B"/>
                </a:solidFill>
                <a:latin typeface="Arial"/>
              </a:rPr>
              <a:t>•  Build from a source directory — point at a local dir and run your build steps there.</a:t>
            </a:r>
          </a:p>
          <a:p>
            <a:pPr>
              <a:spcAft>
                <a:spcPts val="1000"/>
              </a:spcAft>
            </a:pPr>
            <a:r>
              <a:rPr sz="2000" b="0">
                <a:solidFill>
                  <a:srgbClr val="21252B"/>
                </a:solidFill>
                <a:latin typeface="Arial"/>
              </a:rPr>
              <a:t>•  Or just stage binaries — copy in a directory of pre-built binaries, no compile at all.</a:t>
            </a:r>
          </a:p>
          <a:p>
            <a:pPr>
              <a:spcAft>
                <a:spcPts val="1000"/>
              </a:spcAft>
            </a:pPr>
            <a:r>
              <a:rPr sz="2000" b="0">
                <a:solidFill>
                  <a:srgbClr val="21252B"/>
                </a:solidFill>
                <a:latin typeface="Arial"/>
              </a:rPr>
              <a:t>•  Builds are cached &amp; shared — reruns skip rebuilding (the 'BUILD_REUSED' you'll see live).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CONCEPTS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Anatomy of a test (YAML)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A trivial test: a name, a scheduler + queue, and the commands to run.</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1B2B34"/>
                </a:solidFill>
                <a:latin typeface="Consolas"/>
              </a:rPr>
              <a:t>demo_pass:</a:t>
            </a:r>
          </a:p>
          <a:p>
            <a:pPr algn="l"/>
            <a:r>
              <a:rPr sz="1400" b="0">
                <a:solidFill>
                  <a:srgbClr val="1B2B34"/>
                </a:solidFill>
                <a:latin typeface="Consolas"/>
              </a:rPr>
              <a:t>  summary: 'Trivial PASS via PBS'</a:t>
            </a:r>
          </a:p>
          <a:p>
            <a:pPr algn="l"/>
            <a:r>
              <a:rPr sz="1400" b="0">
                <a:solidFill>
                  <a:srgbClr val="1B2B34"/>
                </a:solidFill>
                <a:latin typeface="Consolas"/>
              </a:rPr>
              <a:t>  scheduler: pbs</a:t>
            </a:r>
          </a:p>
          <a:p>
            <a:pPr algn="l"/>
            <a:r>
              <a:rPr sz="1400" b="0">
                <a:solidFill>
                  <a:srgbClr val="1B2B34"/>
                </a:solidFill>
                <a:latin typeface="Consolas"/>
              </a:rPr>
              <a:t>  schedule:</a:t>
            </a:r>
          </a:p>
          <a:p>
            <a:pPr algn="l"/>
            <a:r>
              <a:rPr sz="1400" b="0">
                <a:solidFill>
                  <a:srgbClr val="1B2B34"/>
                </a:solidFill>
                <a:latin typeface="Consolas"/>
              </a:rPr>
              <a:t>    pbs:</a:t>
            </a:r>
          </a:p>
          <a:p>
            <a:pPr algn="l"/>
            <a:r>
              <a:rPr sz="1400" b="0">
                <a:solidFill>
                  <a:srgbClr val="1B2B34"/>
                </a:solidFill>
                <a:latin typeface="Consolas"/>
              </a:rPr>
              <a:t>      queue: workq          # submit to a PBS queue</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"hello from $(hostname)"'</a:t>
            </a:r>
          </a:p>
          <a:p>
            <a:pPr algn="l"/>
            <a:r>
              <a:rPr sz="1400" b="0">
                <a:solidFill>
                  <a:srgbClr val="1B2B34"/>
                </a:solidFill>
                <a:latin typeface="Consolas"/>
              </a:rPr>
              <a:t> </a:t>
            </a:r>
          </a:p>
          <a:p>
            <a:pPr algn="l"/>
            <a:r>
              <a:rPr sz="1400" b="0">
                <a:solidFill>
                  <a:srgbClr val="5B6674"/>
                </a:solidFill>
                <a:latin typeface="Consolas"/>
              </a:rPr>
              <a:t># PASS/FAIL comes from the exit code of the last command.</a:t>
            </a:r>
          </a:p>
          <a:p>
            <a:pPr algn="l"/>
            <a:r>
              <a:rPr sz="1400" b="0">
                <a:solidFill>
                  <a:srgbClr val="5B6674"/>
                </a:solidFill>
                <a:latin typeface="Consolas"/>
              </a:rPr>
              <a:t># Address it as:  suite.test   -&gt;   demo_pbs.pass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CONCEPTS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fuller test (YAML)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Same shape, more of it — variables, PBS + a queue, and build → run → parse → evaluate.</a:t>
            </a:r>
          </a:p>
        </p:txBody>
      </p:sp>
      <p:sp>
        <p:nvSpPr>
          <p:cNvPr id="6" name="Rectangle 5"/>
          <p:cNvSpPr/>
          <p:nvPr/>
        </p:nvSpPr>
        <p:spPr>
          <a:xfrm>
            <a:off x="640080" y="2148840"/>
            <a:ext cx="10972800" cy="45720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350" b="0">
                <a:solidFill>
                  <a:srgbClr val="1B2B34"/>
                </a:solidFill>
                <a:latin typeface="Consolas"/>
              </a:rPr>
              <a:t>stream:</a:t>
            </a:r>
          </a:p>
          <a:p>
            <a:pPr algn="l"/>
            <a:r>
              <a:rPr sz="1350" b="0">
                <a:solidFill>
                  <a:srgbClr val="1B2B34"/>
                </a:solidFill>
                <a:latin typeface="Consolas"/>
              </a:rPr>
              <a:t>  variables:</a:t>
            </a:r>
          </a:p>
          <a:p>
            <a:pPr algn="l"/>
            <a:r>
              <a:rPr sz="1350" b="0">
                <a:solidFill>
                  <a:srgbClr val="1B2B34"/>
                </a:solidFill>
                <a:latin typeface="Consolas"/>
              </a:rPr>
              <a:t>    array_size: 40000000</a:t>
            </a:r>
          </a:p>
          <a:p>
            <a:pPr algn="l"/>
            <a:r>
              <a:rPr sz="1350" b="0">
                <a:solidFill>
                  <a:srgbClr val="1B2B34"/>
                </a:solidFill>
                <a:latin typeface="Consolas"/>
              </a:rPr>
              <a:t>    threads: 4</a:t>
            </a:r>
          </a:p>
          <a:p>
            <a:pPr algn="l"/>
            <a:r>
              <a:rPr sz="1350" b="0">
                <a:solidFill>
                  <a:srgbClr val="1B2B34"/>
                </a:solidFill>
                <a:latin typeface="Consolas"/>
              </a:rPr>
              <a:t>  scheduler: pbs</a:t>
            </a:r>
          </a:p>
          <a:p>
            <a:pPr algn="l"/>
            <a:r>
              <a:rPr sz="1350" b="0">
                <a:solidFill>
                  <a:srgbClr val="1B2B34"/>
                </a:solidFill>
                <a:latin typeface="Consolas"/>
              </a:rPr>
              <a:t>  schedule:</a:t>
            </a:r>
          </a:p>
          <a:p>
            <a:pPr algn="l"/>
            <a:r>
              <a:rPr sz="1350" b="0">
                <a:solidFill>
                  <a:srgbClr val="1B2B34"/>
                </a:solidFill>
                <a:latin typeface="Consolas"/>
              </a:rPr>
              <a:t>    pbs:</a:t>
            </a:r>
          </a:p>
          <a:p>
            <a:pPr algn="l"/>
            <a:r>
              <a:rPr sz="1350" b="0">
                <a:solidFill>
                  <a:srgbClr val="1B2B34"/>
                </a:solidFill>
                <a:latin typeface="Consolas"/>
              </a:rPr>
              <a:t>      queue: workq          # target a queue</a:t>
            </a:r>
          </a:p>
          <a:p>
            <a:pPr algn="l"/>
            <a:r>
              <a:rPr sz="1350" b="0">
                <a:solidFill>
                  <a:srgbClr val="1B2B34"/>
                </a:solidFill>
                <a:latin typeface="Consolas"/>
              </a:rPr>
              <a:t>      nodes: 1</a:t>
            </a:r>
          </a:p>
          <a:p>
            <a:pPr algn="l"/>
            <a:r>
              <a:rPr sz="1350" b="0">
                <a:solidFill>
                  <a:srgbClr val="1B2B34"/>
                </a:solidFill>
                <a:latin typeface="Consolas"/>
              </a:rPr>
              <a:t>      walltime: '00:05:00'</a:t>
            </a:r>
          </a:p>
          <a:p>
            <a:pPr algn="l"/>
            <a:r>
              <a:rPr sz="1350" b="0">
                <a:solidFill>
                  <a:srgbClr val="1B2B34"/>
                </a:solidFill>
                <a:latin typeface="Consolas"/>
              </a:rPr>
              <a:t>  build:                    # compile from source</a:t>
            </a:r>
          </a:p>
          <a:p>
            <a:pPr algn="l"/>
            <a:r>
              <a:rPr sz="1350" b="0">
                <a:solidFill>
                  <a:srgbClr val="1B2B34"/>
                </a:solidFill>
                <a:latin typeface="Consolas"/>
              </a:rPr>
              <a:t>    source_path: stream.c</a:t>
            </a:r>
          </a:p>
          <a:p>
            <a:pPr algn="l"/>
            <a:r>
              <a:rPr sz="1350" b="0">
                <a:solidFill>
                  <a:srgbClr val="1B2B34"/>
                </a:solidFill>
                <a:latin typeface="Consolas"/>
              </a:rPr>
              <a:t>    cmds: ['gcc -fopenmp -DN={{array_size}} stream.c -o stream']</a:t>
            </a:r>
          </a:p>
          <a:p>
            <a:pPr algn="l"/>
            <a:r>
              <a:rPr sz="1350" b="0">
                <a:solidFill>
                  <a:srgbClr val="1B2B34"/>
                </a:solidFill>
                <a:latin typeface="Consolas"/>
              </a:rPr>
              <a:t>  run:</a:t>
            </a:r>
          </a:p>
          <a:p>
            <a:pPr algn="l"/>
            <a:r>
              <a:rPr sz="1350" b="0">
                <a:solidFill>
                  <a:srgbClr val="1B2B34"/>
                </a:solidFill>
                <a:latin typeface="Consolas"/>
              </a:rPr>
              <a:t>    env: {OMP_NUM_THREADS: '{{threads}}'}</a:t>
            </a:r>
          </a:p>
          <a:p>
            <a:pPr algn="l"/>
            <a:r>
              <a:rPr sz="1350" b="0">
                <a:solidFill>
                  <a:srgbClr val="1B2B34"/>
                </a:solidFill>
                <a:latin typeface="Consolas"/>
              </a:rPr>
              <a:t>    cmds: ['./stream']</a:t>
            </a:r>
          </a:p>
          <a:p>
            <a:pPr algn="l"/>
            <a:r>
              <a:rPr sz="1350" b="0">
                <a:solidFill>
                  <a:srgbClr val="1B2B34"/>
                </a:solidFill>
                <a:latin typeface="Consolas"/>
              </a:rPr>
              <a:t>  result_parse:</a:t>
            </a:r>
          </a:p>
          <a:p>
            <a:pPr algn="l"/>
            <a:r>
              <a:rPr sz="1350" b="0">
                <a:solidFill>
                  <a:srgbClr val="1B2B34"/>
                </a:solidFill>
                <a:latin typeface="Consolas"/>
              </a:rPr>
              <a:t>    regex:</a:t>
            </a:r>
          </a:p>
          <a:p>
            <a:pPr algn="l"/>
            <a:r>
              <a:rPr sz="1350" b="0">
                <a:solidFill>
                  <a:srgbClr val="1B2B34"/>
                </a:solidFill>
                <a:latin typeface="Consolas"/>
              </a:rPr>
              <a:t>      triad_mbs: {regex: 'Triad:\s+(\S+)'}</a:t>
            </a:r>
          </a:p>
          <a:p>
            <a:pPr algn="l"/>
            <a:r>
              <a:rPr sz="1350" b="0">
                <a:solidFill>
                  <a:srgbClr val="1B2B34"/>
                </a:solidFill>
                <a:latin typeface="Consolas"/>
              </a:rPr>
              <a:t>  result_evaluate:</a:t>
            </a:r>
          </a:p>
          <a:p>
            <a:pPr algn="l"/>
            <a:r>
              <a:rPr sz="1350" b="0">
                <a:solidFill>
                  <a:srgbClr val="1B2B34"/>
                </a:solidFill>
                <a:latin typeface="Consolas"/>
              </a:rPr>
              <a:t>    result: 'triad_mbs &gt; 10000'    # PASS only if fast enough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A BIG ONE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Inheritable test definitions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Write shared config once in a base test — scheduler, build, run, parsing.</a:t>
            </a:r>
          </a:p>
          <a:p>
            <a:pPr>
              <a:spcAft>
                <a:spcPts val="1000"/>
              </a:spcAft>
            </a:pPr>
            <a:r>
              <a:rPr sz="2000" b="0">
                <a:solidFill>
                  <a:srgbClr val="21252B"/>
                </a:solidFill>
                <a:latin typeface="Arial"/>
              </a:rPr>
              <a:t>•  Other tests just say  inherits_from: &lt;base&gt;  and get all of it for free.</a:t>
            </a:r>
          </a:p>
          <a:p>
            <a:pPr>
              <a:spcAft>
                <a:spcPts val="1000"/>
              </a:spcAft>
            </a:pPr>
            <a:r>
              <a:rPr sz="2000" b="0">
                <a:solidFill>
                  <a:srgbClr val="21252B"/>
                </a:solidFill>
                <a:latin typeface="Arial"/>
              </a:rPr>
              <a:t>•  Each one overrides only what changes — no copy-paste, no drift.</a:t>
            </a:r>
          </a:p>
          <a:p>
            <a:pPr>
              <a:spcAft>
                <a:spcPts val="1000"/>
              </a:spcAft>
            </a:pPr>
            <a:r>
              <a:rPr sz="2000" b="0">
                <a:solidFill>
                  <a:srgbClr val="21252B"/>
                </a:solidFill>
                <a:latin typeface="Arial"/>
              </a:rPr>
              <a:t>•  Fix the base once → every test that inherits it updates.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A BIG ONE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Inheritance in action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83080"/>
            <a:ext cx="10972800" cy="498348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250" b="0">
                <a:solidFill>
                  <a:srgbClr val="1B2B34"/>
                </a:solidFill>
                <a:latin typeface="Consolas"/>
              </a:rPr>
              <a:t>base:                        # shared config, written once</a:t>
            </a:r>
          </a:p>
          <a:p>
            <a:pPr algn="l"/>
            <a:r>
              <a:rPr sz="1250" b="0">
                <a:solidFill>
                  <a:srgbClr val="1B2B34"/>
                </a:solidFill>
                <a:latin typeface="Consolas"/>
              </a:rPr>
              <a:t>  variables:</a:t>
            </a:r>
          </a:p>
          <a:p>
            <a:pPr algn="l"/>
            <a:r>
              <a:rPr sz="1250" b="0">
                <a:solidFill>
                  <a:srgbClr val="1B2B34"/>
                </a:solidFill>
                <a:latin typeface="Consolas"/>
              </a:rPr>
              <a:t>    threads: 2</a:t>
            </a:r>
          </a:p>
          <a:p>
            <a:pPr algn="l"/>
            <a:r>
              <a:rPr sz="1250" b="0">
                <a:solidFill>
                  <a:srgbClr val="1B2B34"/>
                </a:solidFill>
                <a:latin typeface="Consolas"/>
              </a:rPr>
              <a:t>  build:</a:t>
            </a:r>
          </a:p>
          <a:p>
            <a:pPr algn="l"/>
            <a:r>
              <a:rPr sz="1250" b="0">
                <a:solidFill>
                  <a:srgbClr val="1B2B34"/>
                </a:solidFill>
                <a:latin typeface="Consolas"/>
              </a:rPr>
              <a:t>    cmds: ['gcc -O3 -fopenmp stream.c -o stream']</a:t>
            </a:r>
          </a:p>
          <a:p>
            <a:pPr algn="l"/>
            <a:r>
              <a:rPr sz="1250" b="0">
                <a:solidFill>
                  <a:srgbClr val="1B2B34"/>
                </a:solidFill>
                <a:latin typeface="Consolas"/>
              </a:rPr>
              <a:t>  run:</a:t>
            </a:r>
          </a:p>
          <a:p>
            <a:pPr algn="l"/>
            <a:r>
              <a:rPr sz="1250" b="0">
                <a:solidFill>
                  <a:srgbClr val="1B2B34"/>
                </a:solidFill>
                <a:latin typeface="Consolas"/>
              </a:rPr>
              <a:t>    cmds: ['OMP_NUM_THREADS={{threads}} ./stream']</a:t>
            </a:r>
          </a:p>
          <a:p>
            <a:pPr algn="l"/>
            <a:r>
              <a:rPr sz="1250" b="0">
                <a:solidFill>
                  <a:srgbClr val="1B2B34"/>
                </a:solidFill>
                <a:latin typeface="Consolas"/>
              </a:rPr>
              <a:t> </a:t>
            </a:r>
          </a:p>
          <a:p>
            <a:pPr algn="l"/>
            <a:r>
              <a:rPr sz="1250" b="0">
                <a:solidFill>
                  <a:srgbClr val="1B2B34"/>
                </a:solidFill>
                <a:latin typeface="Consolas"/>
              </a:rPr>
              <a:t>small:</a:t>
            </a:r>
          </a:p>
          <a:p>
            <a:pPr algn="l"/>
            <a:r>
              <a:rPr sz="1250" b="0">
                <a:solidFill>
                  <a:srgbClr val="1B2B34"/>
                </a:solidFill>
                <a:latin typeface="Consolas"/>
              </a:rPr>
              <a:t>  inherits_from: base        # that's it — inherits everything</a:t>
            </a:r>
          </a:p>
          <a:p>
            <a:pPr algn="l"/>
            <a:r>
              <a:rPr sz="1250" b="0">
                <a:solidFill>
                  <a:srgbClr val="1B2B34"/>
                </a:solidFill>
                <a:latin typeface="Consolas"/>
              </a:rPr>
              <a:t> </a:t>
            </a:r>
          </a:p>
          <a:p>
            <a:pPr algn="l"/>
            <a:r>
              <a:rPr sz="1250" b="0">
                <a:solidFill>
                  <a:srgbClr val="1B2B34"/>
                </a:solidFill>
                <a:latin typeface="Consolas"/>
              </a:rPr>
              <a:t>large:</a:t>
            </a:r>
          </a:p>
          <a:p>
            <a:pPr algn="l"/>
            <a:r>
              <a:rPr sz="1250" b="0">
                <a:solidFill>
                  <a:srgbClr val="1B2B34"/>
                </a:solidFill>
                <a:latin typeface="Consolas"/>
              </a:rPr>
              <a:t>  inherits_from: base</a:t>
            </a:r>
          </a:p>
          <a:p>
            <a:pPr algn="l"/>
            <a:r>
              <a:rPr sz="1250" b="0">
                <a:solidFill>
                  <a:srgbClr val="1B2B34"/>
                </a:solidFill>
                <a:latin typeface="Consolas"/>
              </a:rPr>
              <a:t>  variables:</a:t>
            </a:r>
          </a:p>
          <a:p>
            <a:pPr algn="l"/>
            <a:r>
              <a:rPr sz="1250" b="0">
                <a:solidFill>
                  <a:srgbClr val="1B2B34"/>
                </a:solidFill>
                <a:latin typeface="Consolas"/>
              </a:rPr>
              <a:t>    threads: 5               # override just the variable</a:t>
            </a:r>
          </a:p>
          <a:p>
            <a:pPr algn="l"/>
            <a:r>
              <a:rPr sz="1250" b="0">
                <a:solidFill>
                  <a:srgbClr val="1B2B34"/>
                </a:solidFill>
                <a:latin typeface="Consolas"/>
              </a:rPr>
              <a:t> </a:t>
            </a:r>
          </a:p>
          <a:p>
            <a:pPr algn="l"/>
            <a:r>
              <a:rPr sz="1250" b="0">
                <a:solidFill>
                  <a:srgbClr val="1B2B34"/>
                </a:solidFill>
                <a:latin typeface="Consolas"/>
              </a:rPr>
              <a:t>debug:</a:t>
            </a:r>
          </a:p>
          <a:p>
            <a:pPr algn="l"/>
            <a:r>
              <a:rPr sz="1250" b="0">
                <a:solidFill>
                  <a:srgbClr val="1B2B34"/>
                </a:solidFill>
                <a:latin typeface="Consolas"/>
              </a:rPr>
              <a:t>  inherits_from: base</a:t>
            </a:r>
          </a:p>
          <a:p>
            <a:pPr algn="l"/>
            <a:r>
              <a:rPr sz="1250" b="0">
                <a:solidFill>
                  <a:srgbClr val="1B2B34"/>
                </a:solidFill>
                <a:latin typeface="Consolas"/>
              </a:rPr>
              <a:t>  build:                     # override just the build flags</a:t>
            </a:r>
          </a:p>
          <a:p>
            <a:pPr algn="l"/>
            <a:r>
              <a:rPr sz="1250" b="0">
                <a:solidFill>
                  <a:srgbClr val="1B2B34"/>
                </a:solidFill>
                <a:latin typeface="Consolas"/>
              </a:rPr>
              <a:t>    cmds: ['gcc -O3 -fopenmp -fsanitize=address stream.c -o stream']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INHERITANCE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Inheritance: inherited vs overridden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01-inheritance.sh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demo_inherit.small demo_inherit.large demo_inherit.debug</a:t>
            </a:r>
          </a:p>
          <a:p>
            <a:pPr algn="l"/>
            <a:r>
              <a:rPr sz="1250" b="0">
                <a:solidFill>
                  <a:srgbClr val="1B2B34"/>
                </a:solidFill>
                <a:latin typeface="Consolas"/>
              </a:rPr>
              <a:t>created 3 tests, 0 errors.   BUILD_REUSED: 2   # small &amp; large reuse base's build</a:t>
            </a:r>
          </a:p>
          <a:p>
            <a:pPr algn="l"/>
            <a:r>
              <a:rPr sz="1250" b="0">
                <a:solidFill>
                  <a:srgbClr val="1B2B34"/>
                </a:solidFill>
                <a:latin typeface="Consolas"/>
              </a:rPr>
              <a:t>sid: s148</a:t>
            </a:r>
          </a:p>
          <a:p>
            <a:pPr algn="l"/>
            <a:r>
              <a:rPr sz="1250" b="0">
                <a:solidFill>
                  <a:srgbClr val="1B2B34"/>
                </a:solidFill>
                <a:latin typeface="Consolas"/>
              </a:rPr>
              <a:t> </a:t>
            </a:r>
          </a:p>
          <a:p>
            <a:pPr algn="l"/>
            <a:r>
              <a:rPr sz="1400" b="1">
                <a:solidFill>
                  <a:srgbClr val="2E6DA4"/>
                </a:solidFill>
                <a:latin typeface="Consolas"/>
              </a:rPr>
              <a:t>$ qstat -a                                              # each child = its own PBS job</a:t>
            </a:r>
          </a:p>
          <a:p>
            <a:pPr algn="l"/>
            <a:r>
              <a:rPr sz="1250" b="0">
                <a:solidFill>
                  <a:srgbClr val="1B2B34"/>
                </a:solidFill>
                <a:latin typeface="Consolas"/>
              </a:rPr>
              <a:t>9068.pbs-server pavilion workq pav_demo_*  1  1  R</a:t>
            </a:r>
          </a:p>
          <a:p>
            <a:pPr algn="l"/>
            <a:r>
              <a:rPr sz="1250" b="0">
                <a:solidFill>
                  <a:srgbClr val="1B2B34"/>
                </a:solidFill>
                <a:latin typeface="Consolas"/>
              </a:rPr>
              <a:t>9069.pbs-server pavilion workq pav_demo_*  1  1  R</a:t>
            </a:r>
          </a:p>
          <a:p>
            <a:pPr algn="l"/>
            <a:r>
              <a:rPr sz="1250" b="0">
                <a:solidFill>
                  <a:srgbClr val="1B2B34"/>
                </a:solidFill>
                <a:latin typeface="Consolas"/>
              </a:rPr>
              <a:t> </a:t>
            </a:r>
          </a:p>
          <a:p>
            <a:pPr algn="l"/>
            <a:r>
              <a:rPr sz="1400" b="1">
                <a:solidFill>
                  <a:srgbClr val="2E6DA4"/>
                </a:solidFill>
                <a:latin typeface="Consolas"/>
              </a:rPr>
              <a:t>$ pav results --full s148                               # inherited vs overridden, per child</a:t>
            </a:r>
          </a:p>
          <a:p>
            <a:pPr algn="l"/>
            <a:r>
              <a:rPr sz="1250" b="0">
                <a:solidFill>
                  <a:srgbClr val="1B2B34"/>
                </a:solidFill>
                <a:latin typeface="Consolas"/>
              </a:rPr>
              <a:t>small  -&gt; flags=-O3                    threads=2    # inherits everything</a:t>
            </a:r>
          </a:p>
          <a:p>
            <a:pPr algn="l"/>
            <a:r>
              <a:rPr sz="1250" b="0">
                <a:solidFill>
                  <a:srgbClr val="1B2B34"/>
                </a:solidFill>
                <a:latin typeface="Consolas"/>
              </a:rPr>
              <a:t>large  -&gt; flags=-O3                    threads=5    # overrode just the variable</a:t>
            </a:r>
          </a:p>
          <a:p>
            <a:pPr algn="l"/>
            <a:r>
              <a:rPr sz="1250" b="0">
                <a:solidFill>
                  <a:srgbClr val="1B2B34"/>
                </a:solidFill>
                <a:latin typeface="Consolas"/>
              </a:rPr>
              <a:t>debug  -&gt; flags=-O3-fsanitize=address  threads=2    # overrode just the build</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One base, three children: small inherits all; large changes only the variable; debug changes only the build.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CONCEPTS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CLI you'll use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pav run &lt;suite.test&gt;   — build + run a test (or a whole suite).</a:t>
            </a:r>
          </a:p>
          <a:p>
            <a:pPr>
              <a:spcAft>
                <a:spcPts val="1000"/>
              </a:spcAft>
            </a:pPr>
            <a:r>
              <a:rPr sz="2000" b="0">
                <a:solidFill>
                  <a:srgbClr val="21252B"/>
                </a:solidFill>
                <a:latin typeface="Arial"/>
              </a:rPr>
              <a:t>•  pav status &lt;sid&gt;       — where are my tests / did they pass?</a:t>
            </a:r>
          </a:p>
          <a:p>
            <a:pPr>
              <a:spcAft>
                <a:spcPts val="1000"/>
              </a:spcAft>
            </a:pPr>
            <a:r>
              <a:rPr sz="2000" b="0">
                <a:solidFill>
                  <a:srgbClr val="21252B"/>
                </a:solidFill>
                <a:latin typeface="Arial"/>
              </a:rPr>
              <a:t>•  pav results &lt;sid&gt;      — the results table; --full for the full JSON.</a:t>
            </a:r>
          </a:p>
          <a:p>
            <a:pPr>
              <a:spcAft>
                <a:spcPts val="1000"/>
              </a:spcAft>
            </a:pPr>
            <a:r>
              <a:rPr sz="2000" b="0">
                <a:solidFill>
                  <a:srgbClr val="21252B"/>
                </a:solidFill>
                <a:latin typeface="Arial"/>
              </a:rPr>
              <a:t>•  pav wait &lt;sid&gt;         — block until tests finish.</a:t>
            </a:r>
          </a:p>
          <a:p>
            <a:pPr>
              <a:spcAft>
                <a:spcPts val="1000"/>
              </a:spcAft>
            </a:pPr>
            <a:r>
              <a:rPr sz="2000" b="0">
                <a:solidFill>
                  <a:srgbClr val="21252B"/>
                </a:solidFill>
                <a:latin typeface="Arial"/>
              </a:rPr>
              <a:t>•  pav show tests|sched|modes|series   — what's available.</a:t>
            </a:r>
          </a:p>
          <a:p>
            <a:pPr>
              <a:spcAft>
                <a:spcPts val="1000"/>
              </a:spcAft>
            </a:pPr>
            <a:r>
              <a:rPr sz="1700" b="0">
                <a:solidFill>
                  <a:srgbClr val="5B6674"/>
                </a:solidFill>
                <a:latin typeface="Arial"/>
              </a:rPr>
              <a:t>    – pav log, pav cat, pav ls, pav series … — inspect a run in detail.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RECORDS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Your whole run history — searchable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13-history.sh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status all -F failed                    # every failed run, all the way back</a:t>
            </a:r>
          </a:p>
          <a:p>
            <a:pPr algn="l"/>
            <a:r>
              <a:rPr sz="1250" b="0">
                <a:solidFill>
                  <a:srgbClr val="B32A2A"/>
                </a:solidFill>
                <a:latin typeface="Consolas"/>
              </a:rPr>
              <a:t>s70.2   FAIL   demo_pbs.fail              16:40</a:t>
            </a:r>
          </a:p>
          <a:p>
            <a:pPr algn="l"/>
            <a:r>
              <a:rPr sz="1250" b="0">
                <a:solidFill>
                  <a:srgbClr val="B32A2A"/>
                </a:solidFill>
                <a:latin typeface="Consolas"/>
              </a:rPr>
              <a:t>s75.2   FAIL   opensearch_verify.os_fail  16:44</a:t>
            </a:r>
          </a:p>
          <a:p>
            <a:pPr algn="l"/>
            <a:r>
              <a:rPr sz="1250" b="0">
                <a:solidFill>
                  <a:srgbClr val="B32A2A"/>
                </a:solidFill>
                <a:latin typeface="Consolas"/>
              </a:rPr>
              <a:t>s23.71  FAIL   sim_tests.sim_fail_01      Apr 18</a:t>
            </a:r>
          </a:p>
          <a:p>
            <a:pPr algn="l"/>
            <a:r>
              <a:rPr sz="1250" b="0">
                <a:solidFill>
                  <a:srgbClr val="1B2B34"/>
                </a:solidFill>
                <a:latin typeface="Consolas"/>
              </a:rPr>
              <a:t> </a:t>
            </a:r>
          </a:p>
          <a:p>
            <a:pPr algn="l"/>
            <a:r>
              <a:rPr sz="1400" b="1">
                <a:solidFill>
                  <a:srgbClr val="2E6DA4"/>
                </a:solidFill>
                <a:latin typeface="Consolas"/>
              </a:rPr>
              <a:t>$ pav status all -F 'name=demo_pbs.metrics'   # one test, every run</a:t>
            </a:r>
          </a:p>
          <a:p>
            <a:pPr algn="l"/>
            <a:r>
              <a:rPr sz="1250" b="0">
                <a:solidFill>
                  <a:srgbClr val="1E7D3C"/>
                </a:solidFill>
                <a:latin typeface="Consolas"/>
              </a:rPr>
              <a:t>s71.1   PASS   demo_pbs.metrics    16:40</a:t>
            </a:r>
          </a:p>
          <a:p>
            <a:pPr algn="l"/>
            <a:r>
              <a:rPr sz="1250" b="0">
                <a:solidFill>
                  <a:srgbClr val="1E7D3C"/>
                </a:solidFill>
                <a:latin typeface="Consolas"/>
              </a:rPr>
              <a:t>s67.2   PASS   demo_pbs.metrics    16:32</a:t>
            </a:r>
          </a:p>
          <a:p>
            <a:pPr algn="l"/>
            <a:r>
              <a:rPr sz="1250" b="0">
                <a:solidFill>
                  <a:srgbClr val="1E7D3C"/>
                </a:solidFill>
                <a:latin typeface="Consolas"/>
              </a:rPr>
              <a:t>s57.1   PASS   demo_pbs.metrics    16:28</a:t>
            </a:r>
          </a:p>
          <a:p>
            <a:pPr algn="l"/>
            <a:r>
              <a:rPr sz="1250" b="0">
                <a:solidFill>
                  <a:srgbClr val="1B2B34"/>
                </a:solidFill>
                <a:latin typeface="Consolas"/>
              </a:rPr>
              <a:t> </a:t>
            </a:r>
          </a:p>
          <a:p>
            <a:pPr algn="l"/>
            <a:r>
              <a:rPr sz="1400" b="1">
                <a:solidFill>
                  <a:srgbClr val="2E6DA4"/>
                </a:solidFill>
                <a:latin typeface="Consolas"/>
              </a:rPr>
              <a:t>$ pav status all -F 'name=demo_pbs.fail and failed'   # combine filters</a:t>
            </a:r>
          </a:p>
          <a:p>
            <a:pPr algn="l"/>
            <a:r>
              <a:rPr sz="1250" b="0">
                <a:solidFill>
                  <a:srgbClr val="B32A2A"/>
                </a:solidFill>
                <a:latin typeface="Consolas"/>
              </a:rPr>
              <a:t>s70.2   FAIL   demo_pbs.fail    16:40</a:t>
            </a:r>
          </a:p>
          <a:p>
            <a:pPr algn="l"/>
            <a:r>
              <a:rPr sz="1250" b="0">
                <a:solidFill>
                  <a:srgbClr val="B32A2A"/>
                </a:solidFill>
                <a:latin typeface="Consolas"/>
              </a:rPr>
              <a:t>s56.2   FAIL   demo_pbs.fail    16:27</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Every run is kept. 'all' searches the full history; -F filters — and combines — by result, name, date…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L1</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Basics: PASS and FAIL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02-basic.sh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demo_pbs.pass demo_pbs.fail          # two PBS jobs</a:t>
            </a:r>
          </a:p>
          <a:p>
            <a:pPr algn="l"/>
            <a:r>
              <a:rPr sz="1250" b="0">
                <a:solidFill>
                  <a:srgbClr val="1B2B34"/>
                </a:solidFill>
                <a:latin typeface="Consolas"/>
              </a:rPr>
              <a:t>sid: s70</a:t>
            </a:r>
          </a:p>
          <a:p>
            <a:pPr algn="l"/>
            <a:r>
              <a:rPr sz="1250" b="0">
                <a:solidFill>
                  <a:srgbClr val="1B2B34"/>
                </a:solidFill>
                <a:latin typeface="Consolas"/>
              </a:rPr>
              <a:t>tests: 2</a:t>
            </a:r>
          </a:p>
          <a:p>
            <a:pPr algn="l"/>
            <a:r>
              <a:rPr sz="1250" b="0">
                <a:solidFill>
                  <a:srgbClr val="1B2B34"/>
                </a:solidFill>
                <a:latin typeface="Consolas"/>
              </a:rPr>
              <a:t> </a:t>
            </a:r>
          </a:p>
          <a:p>
            <a:pPr algn="l"/>
            <a:r>
              <a:rPr sz="1400" b="1">
                <a:solidFill>
                  <a:srgbClr val="2E6DA4"/>
                </a:solidFill>
                <a:latin typeface="Consolas"/>
              </a:rPr>
              <a:t>$ qstat -a                                     # yes — it went through the scheduler</a:t>
            </a:r>
          </a:p>
          <a:p>
            <a:pPr algn="l"/>
            <a:r>
              <a:rPr sz="1250" b="0">
                <a:solidFill>
                  <a:srgbClr val="1B2B34"/>
                </a:solidFill>
                <a:latin typeface="Consolas"/>
              </a:rPr>
              <a:t>Job ID          Username Queue Jobname    NDS TSK S</a:t>
            </a:r>
          </a:p>
          <a:p>
            <a:pPr algn="l"/>
            <a:r>
              <a:rPr sz="1250" b="0">
                <a:solidFill>
                  <a:srgbClr val="1B2B34"/>
                </a:solidFill>
                <a:latin typeface="Consolas"/>
              </a:rPr>
              <a:t>8383.pbs-server pavilion workq pav_demo_*   1   1 R</a:t>
            </a:r>
          </a:p>
          <a:p>
            <a:pPr algn="l"/>
            <a:r>
              <a:rPr sz="1250" b="0">
                <a:solidFill>
                  <a:srgbClr val="1B2B34"/>
                </a:solidFill>
                <a:latin typeface="Consolas"/>
              </a:rPr>
              <a:t> </a:t>
            </a:r>
          </a:p>
          <a:p>
            <a:pPr algn="l"/>
            <a:r>
              <a:rPr sz="1400" b="1">
                <a:solidFill>
                  <a:srgbClr val="2E6DA4"/>
                </a:solidFill>
                <a:latin typeface="Consolas"/>
              </a:rPr>
              <a:t>$ pav status s70</a:t>
            </a:r>
          </a:p>
          <a:p>
            <a:pPr algn="l"/>
            <a:r>
              <a:rPr sz="1250" b="0">
                <a:solidFill>
                  <a:srgbClr val="1E7D3C"/>
                </a:solidFill>
                <a:latin typeface="Consolas"/>
              </a:rPr>
              <a:t>s70.1 | 8383_pbs-server | demo_pbs.pass | COMPLETE | PASS</a:t>
            </a:r>
          </a:p>
          <a:p>
            <a:pPr algn="l"/>
            <a:r>
              <a:rPr sz="1250" b="0">
                <a:solidFill>
                  <a:srgbClr val="B32A2A"/>
                </a:solidFill>
                <a:latin typeface="Consolas"/>
              </a:rPr>
              <a:t>s70.2 | 8383_pbs-server | demo_pbs.fail | COMPLETE | FAIL</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Submit two PBS jobs, prove dispatch with qstat, read the results. FAIL is intentional (exit 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RESULT PARSING</a:t>
            </a:r>
          </a:p>
          <a:p>
            <a:r>
              <a:rPr sz="3600" b="1">
                <a:solidFill>
                  <a:srgbClr val="1F3B63"/>
                </a:solidFill>
                <a:latin typeface="Arial"/>
              </a:rPr>
              <a:t>Getting data out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RESULTS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Result parsing</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Regex parsers pull values out of the test's output into structured results.</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1B2B34"/>
                </a:solidFill>
                <a:latin typeface="Consolas"/>
              </a:rPr>
              <a:t>metrics:</a:t>
            </a:r>
          </a:p>
          <a:p>
            <a:pPr algn="l"/>
            <a:r>
              <a:rPr sz="1400" b="0">
                <a:solidFill>
                  <a:srgbClr val="1B2B34"/>
                </a:solidFill>
                <a:latin typeface="Consolas"/>
              </a:rPr>
              <a:t>  scheduler: pbs</a:t>
            </a:r>
          </a:p>
          <a:p>
            <a:pPr algn="l"/>
            <a:r>
              <a:rPr sz="1400" b="0">
                <a:solidFill>
                  <a:srgbClr val="1B2B34"/>
                </a:solidFill>
                <a:latin typeface="Consolas"/>
              </a:rPr>
              <a:t>  schedule:</a:t>
            </a:r>
          </a:p>
          <a:p>
            <a:pPr algn="l"/>
            <a:r>
              <a:rPr sz="1400" b="0">
                <a:solidFill>
                  <a:srgbClr val="1B2B34"/>
                </a:solidFill>
                <a:latin typeface="Consolas"/>
              </a:rPr>
              <a:t>    pbs: { queue: workq, nodes: 1, walltime: '00:02:00' }</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"throughput 123.45"'</a:t>
            </a:r>
          </a:p>
          <a:p>
            <a:pPr algn="l"/>
            <a:r>
              <a:rPr sz="1400" b="0">
                <a:solidFill>
                  <a:srgbClr val="1B2B34"/>
                </a:solidFill>
                <a:latin typeface="Consolas"/>
              </a:rPr>
              <a:t>      - 'echo "latency 5.6"'</a:t>
            </a:r>
          </a:p>
          <a:p>
            <a:pPr algn="l"/>
            <a:r>
              <a:rPr sz="1400" b="0">
                <a:solidFill>
                  <a:srgbClr val="1B2B34"/>
                </a:solidFill>
                <a:latin typeface="Consolas"/>
              </a:rPr>
              <a:t>  result_parse:</a:t>
            </a:r>
          </a:p>
          <a:p>
            <a:pPr algn="l"/>
            <a:r>
              <a:rPr sz="1400" b="0">
                <a:solidFill>
                  <a:srgbClr val="1B2B34"/>
                </a:solidFill>
                <a:latin typeface="Consolas"/>
              </a:rPr>
              <a:t>    regex:</a:t>
            </a:r>
          </a:p>
          <a:p>
            <a:pPr algn="l"/>
            <a:r>
              <a:rPr sz="1400" b="0">
                <a:solidFill>
                  <a:srgbClr val="1B2B34"/>
                </a:solidFill>
                <a:latin typeface="Consolas"/>
              </a:rPr>
              <a:t>      throughput_mbs: { regex: 'throughput (\S+)', action: store }</a:t>
            </a:r>
          </a:p>
          <a:p>
            <a:pPr algn="l"/>
            <a:r>
              <a:rPr sz="1400" b="0">
                <a:solidFill>
                  <a:srgbClr val="1B2B34"/>
                </a:solidFill>
                <a:latin typeface="Consolas"/>
              </a:rPr>
              <a:t>      latency_ms:     { regex: 'latency (\S+)',    action: store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L2</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Parsed metrics in results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03-metrics.sh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demo_pbs.metrics</a:t>
            </a:r>
          </a:p>
          <a:p>
            <a:pPr algn="l"/>
            <a:r>
              <a:rPr sz="1250" b="0">
                <a:solidFill>
                  <a:srgbClr val="1B2B34"/>
                </a:solidFill>
                <a:latin typeface="Consolas"/>
              </a:rPr>
              <a:t>sid: s71</a:t>
            </a:r>
          </a:p>
          <a:p>
            <a:pPr algn="l"/>
            <a:r>
              <a:rPr sz="1250" b="0">
                <a:solidFill>
                  <a:srgbClr val="1B2B34"/>
                </a:solidFill>
                <a:latin typeface="Consolas"/>
              </a:rPr>
              <a:t>tests: 1</a:t>
            </a:r>
          </a:p>
          <a:p>
            <a:pPr algn="l"/>
            <a:r>
              <a:rPr sz="1250" b="0">
                <a:solidFill>
                  <a:srgbClr val="1B2B34"/>
                </a:solidFill>
                <a:latin typeface="Consolas"/>
              </a:rPr>
              <a:t> </a:t>
            </a:r>
          </a:p>
          <a:p>
            <a:pPr algn="l"/>
            <a:r>
              <a:rPr sz="1400" b="1">
                <a:solidFill>
                  <a:srgbClr val="2E6DA4"/>
                </a:solidFill>
                <a:latin typeface="Consolas"/>
              </a:rPr>
              <a:t>$ qstat -a                         # dispatched to PBS</a:t>
            </a:r>
          </a:p>
          <a:p>
            <a:pPr algn="l"/>
            <a:r>
              <a:rPr sz="1250" b="0">
                <a:solidFill>
                  <a:srgbClr val="1B2B34"/>
                </a:solidFill>
                <a:latin typeface="Consolas"/>
              </a:rPr>
              <a:t>8384.pbs-server pavilion workq pav_demo_*  1  1  R</a:t>
            </a:r>
          </a:p>
          <a:p>
            <a:pPr algn="l"/>
            <a:r>
              <a:rPr sz="1250" b="0">
                <a:solidFill>
                  <a:srgbClr val="1B2B34"/>
                </a:solidFill>
                <a:latin typeface="Consolas"/>
              </a:rPr>
              <a:t> </a:t>
            </a:r>
          </a:p>
          <a:p>
            <a:pPr algn="l"/>
            <a:r>
              <a:rPr sz="1400" b="1">
                <a:solidFill>
                  <a:srgbClr val="2E6DA4"/>
                </a:solidFill>
                <a:latin typeface="Consolas"/>
              </a:rPr>
              <a:t>$ pav results --full s71</a:t>
            </a:r>
          </a:p>
          <a:p>
            <a:pPr algn="l"/>
            <a:r>
              <a:rPr sz="1250" b="0">
                <a:solidFill>
                  <a:srgbClr val="1B2B34"/>
                </a:solidFill>
                <a:latin typeface="Consolas"/>
              </a:rPr>
              <a:t>  'name': 'demo_pbs.metrics',</a:t>
            </a:r>
          </a:p>
          <a:p>
            <a:pPr algn="l"/>
            <a:r>
              <a:rPr sz="1250" b="0">
                <a:solidFill>
                  <a:srgbClr val="1E7D3C"/>
                </a:solidFill>
                <a:latin typeface="Consolas"/>
              </a:rPr>
              <a:t>  'result': 'PASS',</a:t>
            </a:r>
          </a:p>
          <a:p>
            <a:pPr algn="l"/>
            <a:r>
              <a:rPr sz="1250" b="0">
                <a:solidFill>
                  <a:srgbClr val="1B2B34"/>
                </a:solidFill>
                <a:latin typeface="Consolas"/>
              </a:rPr>
              <a:t>  'throughput_mbs': 123.45,</a:t>
            </a:r>
          </a:p>
          <a:p>
            <a:pPr algn="l"/>
            <a:r>
              <a:rPr sz="1250" b="0">
                <a:solidFill>
                  <a:srgbClr val="1B2B34"/>
                </a:solidFill>
                <a:latin typeface="Consolas"/>
              </a:rPr>
              <a:t>  'latency_ms': 5.6,</a:t>
            </a:r>
          </a:p>
          <a:p>
            <a:pPr algn="l"/>
            <a:r>
              <a:rPr sz="1250" b="0">
                <a:solidFill>
                  <a:srgbClr val="1B2B34"/>
                </a:solidFill>
                <a:latin typeface="Consolas"/>
              </a:rPr>
              <a:t>  'errors': 0,</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Those numbers are now in results.json — ready for logging and dashboards.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RESULT EVALUATION</a:t>
            </a:r>
          </a:p>
          <a:p>
            <a:r>
              <a:rPr sz="3600" b="1">
                <a:solidFill>
                  <a:srgbClr val="1F3B63"/>
                </a:solidFill>
                <a:latin typeface="Arial"/>
              </a:rPr>
              <a:t>Turning numbers into pass/fail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EVALUATE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Result evaluation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Parsing pulls values out; result_evaluate judges them. The 'result' key sets PASS/FAIL.</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1B2B34"/>
                </a:solidFill>
                <a:latin typeface="Consolas"/>
              </a:rPr>
              <a:t>high:</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"score 150"'</a:t>
            </a:r>
          </a:p>
          <a:p>
            <a:pPr algn="l"/>
            <a:r>
              <a:rPr sz="1400" b="0">
                <a:solidFill>
                  <a:srgbClr val="1B2B34"/>
                </a:solidFill>
                <a:latin typeface="Consolas"/>
              </a:rPr>
              <a:t>  result_parse:</a:t>
            </a:r>
          </a:p>
          <a:p>
            <a:pPr algn="l"/>
            <a:r>
              <a:rPr sz="1400" b="0">
                <a:solidFill>
                  <a:srgbClr val="1B2B34"/>
                </a:solidFill>
                <a:latin typeface="Consolas"/>
              </a:rPr>
              <a:t>    regex:</a:t>
            </a:r>
          </a:p>
          <a:p>
            <a:pPr algn="l"/>
            <a:r>
              <a:rPr sz="1400" b="0">
                <a:solidFill>
                  <a:srgbClr val="1B2B34"/>
                </a:solidFill>
                <a:latin typeface="Consolas"/>
              </a:rPr>
              <a:t>      score:</a:t>
            </a:r>
          </a:p>
          <a:p>
            <a:pPr algn="l"/>
            <a:r>
              <a:rPr sz="1400" b="0">
                <a:solidFill>
                  <a:srgbClr val="1B2B34"/>
                </a:solidFill>
                <a:latin typeface="Consolas"/>
              </a:rPr>
              <a:t>        regex: 'score (\S+)'      # parse: pull the number out</a:t>
            </a:r>
          </a:p>
          <a:p>
            <a:pPr algn="l"/>
            <a:r>
              <a:rPr sz="1400" b="0">
                <a:solidFill>
                  <a:srgbClr val="1B2B34"/>
                </a:solidFill>
                <a:latin typeface="Consolas"/>
              </a:rPr>
              <a:t>  result_evaluate:</a:t>
            </a:r>
          </a:p>
          <a:p>
            <a:pPr algn="l"/>
            <a:r>
              <a:rPr sz="1400" b="0">
                <a:solidFill>
                  <a:srgbClr val="1B2B34"/>
                </a:solidFill>
                <a:latin typeface="Consolas"/>
              </a:rPr>
              <a:t>    result: 'score &gt; 100'          # evaluate: turn it into PASS/FAIL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EVAL</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Evaluate decides pass or fail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04-evaluate.sh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demo_eval.high demo_eval.low     # both exit 0</a:t>
            </a:r>
          </a:p>
          <a:p>
            <a:pPr algn="l"/>
            <a:r>
              <a:rPr sz="1250" b="0">
                <a:solidFill>
                  <a:srgbClr val="1B2B34"/>
                </a:solidFill>
                <a:latin typeface="Consolas"/>
              </a:rPr>
              <a:t>created 2 tests, 0 errors.</a:t>
            </a:r>
          </a:p>
          <a:p>
            <a:pPr algn="l"/>
            <a:r>
              <a:rPr sz="1250" b="0">
                <a:solidFill>
                  <a:srgbClr val="1B2B34"/>
                </a:solidFill>
                <a:latin typeface="Consolas"/>
              </a:rPr>
              <a:t>sid: s155</a:t>
            </a:r>
          </a:p>
          <a:p>
            <a:pPr algn="l"/>
            <a:r>
              <a:rPr sz="1250" b="0">
                <a:solidFill>
                  <a:srgbClr val="1B2B34"/>
                </a:solidFill>
                <a:latin typeface="Consolas"/>
              </a:rPr>
              <a:t> </a:t>
            </a:r>
          </a:p>
          <a:p>
            <a:pPr algn="l"/>
            <a:r>
              <a:rPr sz="1400" b="1">
                <a:solidFill>
                  <a:srgbClr val="2E6DA4"/>
                </a:solidFill>
                <a:latin typeface="Consolas"/>
              </a:rPr>
              <a:t>$ qstat -a                                 # two PBS jobs</a:t>
            </a:r>
          </a:p>
          <a:p>
            <a:pPr algn="l"/>
            <a:r>
              <a:rPr sz="1250" b="0">
                <a:solidFill>
                  <a:srgbClr val="1B2B34"/>
                </a:solidFill>
                <a:latin typeface="Consolas"/>
              </a:rPr>
              <a:t>9086.pbs-server pavilion workq pav_demo_*  1  1  R</a:t>
            </a:r>
          </a:p>
          <a:p>
            <a:pPr algn="l"/>
            <a:r>
              <a:rPr sz="1250" b="0">
                <a:solidFill>
                  <a:srgbClr val="1B2B34"/>
                </a:solidFill>
                <a:latin typeface="Consolas"/>
              </a:rPr>
              <a:t>9087.pbs-server pavilion workq pav_demo_*  1  1  R</a:t>
            </a:r>
          </a:p>
          <a:p>
            <a:pPr algn="l"/>
            <a:r>
              <a:rPr sz="1250" b="0">
                <a:solidFill>
                  <a:srgbClr val="1B2B34"/>
                </a:solidFill>
                <a:latin typeface="Consolas"/>
              </a:rPr>
              <a:t> </a:t>
            </a:r>
          </a:p>
          <a:p>
            <a:pPr algn="l"/>
            <a:r>
              <a:rPr sz="1400" b="1">
                <a:solidFill>
                  <a:srgbClr val="2E6DA4"/>
                </a:solidFill>
                <a:latin typeface="Consolas"/>
              </a:rPr>
              <a:t>$ pav results --full s155                  # result = score &gt; 100, NOT the exit code</a:t>
            </a:r>
          </a:p>
          <a:p>
            <a:pPr algn="l"/>
            <a:r>
              <a:rPr sz="1250" b="0">
                <a:solidFill>
                  <a:srgbClr val="1E7D3C"/>
                </a:solidFill>
                <a:latin typeface="Consolas"/>
              </a:rPr>
              <a:t>high  -&gt; score=150   result=PASS     # 150 &gt; 100</a:t>
            </a:r>
          </a:p>
          <a:p>
            <a:pPr algn="l"/>
            <a:r>
              <a:rPr sz="1250" b="0">
                <a:solidFill>
                  <a:srgbClr val="B32A2A"/>
                </a:solidFill>
                <a:latin typeface="Consolas"/>
              </a:rPr>
              <a:t>low   -&gt; score=80    result=FAIL     # 80 &gt; 100 is false</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Same rule (score &gt; 100), different data → different verdict. Evaluation, not the exit code, sets PASS/FAIL.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PERMUTATIONS</a:t>
            </a:r>
          </a:p>
          <a:p>
            <a:r>
              <a:rPr sz="3600" b="1">
                <a:solidFill>
                  <a:srgbClr val="1F3B63"/>
                </a:solidFill>
                <a:latin typeface="Arial"/>
              </a:rPr>
              <a:t>One config → many tests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THE BIG ONE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Permutations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permute_on + variable lists generate one test instance per combination.</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1B2B34"/>
                </a:solidFill>
                <a:latin typeface="Consolas"/>
              </a:rPr>
              <a:t>matrix:</a:t>
            </a:r>
          </a:p>
          <a:p>
            <a:pPr algn="l"/>
            <a:r>
              <a:rPr sz="1400" b="0">
                <a:solidFill>
                  <a:srgbClr val="1B2B34"/>
                </a:solidFill>
                <a:latin typeface="Consolas"/>
              </a:rPr>
              <a:t>  scheduler: pbs</a:t>
            </a:r>
          </a:p>
          <a:p>
            <a:pPr algn="l"/>
            <a:r>
              <a:rPr sz="1400" b="0">
                <a:solidFill>
                  <a:srgbClr val="1B2B34"/>
                </a:solidFill>
                <a:latin typeface="Consolas"/>
              </a:rPr>
              <a:t>  schedule:</a:t>
            </a:r>
          </a:p>
          <a:p>
            <a:pPr algn="l"/>
            <a:r>
              <a:rPr sz="1400" b="0">
                <a:solidFill>
                  <a:srgbClr val="1B2B34"/>
                </a:solidFill>
                <a:latin typeface="Consolas"/>
              </a:rPr>
              <a:t>    share_allocation: false      # one PBS job per instance</a:t>
            </a:r>
          </a:p>
          <a:p>
            <a:pPr algn="l"/>
            <a:r>
              <a:rPr sz="1400" b="0">
                <a:solidFill>
                  <a:srgbClr val="1B2B34"/>
                </a:solidFill>
                <a:latin typeface="Consolas"/>
              </a:rPr>
              <a:t>    pbs: { queue: workq, nodes: 1, walltime: '00:02:00' }</a:t>
            </a:r>
          </a:p>
          <a:p>
            <a:pPr algn="l"/>
            <a:r>
              <a:rPr sz="1400" b="0">
                <a:solidFill>
                  <a:srgbClr val="1B2B34"/>
                </a:solidFill>
                <a:latin typeface="Consolas"/>
              </a:rPr>
              <a:t>  permute_on: [size, mode]</a:t>
            </a:r>
          </a:p>
          <a:p>
            <a:pPr algn="l"/>
            <a:r>
              <a:rPr sz="1400" b="0">
                <a:solidFill>
                  <a:srgbClr val="1B2B34"/>
                </a:solidFill>
                <a:latin typeface="Consolas"/>
              </a:rPr>
              <a:t>  variables:</a:t>
            </a:r>
          </a:p>
          <a:p>
            <a:pPr algn="l"/>
            <a:r>
              <a:rPr sz="1400" b="0">
                <a:solidFill>
                  <a:srgbClr val="1B2B34"/>
                </a:solidFill>
                <a:latin typeface="Consolas"/>
              </a:rPr>
              <a:t>    size: ['small', 'medium', 'large']</a:t>
            </a:r>
          </a:p>
          <a:p>
            <a:pPr algn="l"/>
            <a:r>
              <a:rPr sz="1400" b="0">
                <a:solidFill>
                  <a:srgbClr val="1B2B34"/>
                </a:solidFill>
                <a:latin typeface="Consolas"/>
              </a:rPr>
              <a:t>    mode: ['read', 'write']</a:t>
            </a:r>
          </a:p>
          <a:p>
            <a:pPr algn="l"/>
            <a:r>
              <a:rPr sz="1400" b="0">
                <a:solidFill>
                  <a:srgbClr val="1B2B34"/>
                </a:solidFill>
                <a:latin typeface="Consolas"/>
              </a:rPr>
              <a:t>  subtitle: '{{size}}-{{mode}}'</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"size={{size}} mode={{mode}}"'</a:t>
            </a:r>
          </a:p>
          <a:p>
            <a:pPr algn="l"/>
            <a:r>
              <a:rPr sz="1400" b="0">
                <a:solidFill>
                  <a:srgbClr val="1B2B34"/>
                </a:solidFill>
                <a:latin typeface="Consolas"/>
              </a:rPr>
              <a:t> </a:t>
            </a:r>
          </a:p>
          <a:p>
            <a:pPr algn="l"/>
            <a:r>
              <a:rPr sz="1400" b="0">
                <a:solidFill>
                  <a:srgbClr val="5B6674"/>
                </a:solidFill>
                <a:latin typeface="Consolas"/>
              </a:rPr>
              <a:t># 3 sizes x 2 modes  =&gt;  6 test instances, 6 PBS jobs.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L3</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Permutations expand</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05-permutations.sh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demo_perms.matrix</a:t>
            </a:r>
          </a:p>
          <a:p>
            <a:pPr algn="l"/>
            <a:r>
              <a:rPr sz="1250" b="0">
                <a:solidFill>
                  <a:srgbClr val="1B2B34"/>
                </a:solidFill>
                <a:latin typeface="Consolas"/>
              </a:rPr>
              <a:t>Test set 'demo_perms.matrix' created 6 tests, skipped 0, 0 errors.</a:t>
            </a:r>
          </a:p>
          <a:p>
            <a:pPr algn="l"/>
            <a:r>
              <a:rPr sz="1250" b="0">
                <a:solidFill>
                  <a:srgbClr val="1B2B34"/>
                </a:solidFill>
                <a:latin typeface="Consolas"/>
              </a:rPr>
              <a:t>sid: s93</a:t>
            </a:r>
          </a:p>
          <a:p>
            <a:pPr algn="l"/>
            <a:r>
              <a:rPr sz="1250" b="0">
                <a:solidFill>
                  <a:srgbClr val="1B2B34"/>
                </a:solidFill>
                <a:latin typeface="Consolas"/>
              </a:rPr>
              <a:t> </a:t>
            </a:r>
          </a:p>
          <a:p>
            <a:pPr algn="l"/>
            <a:r>
              <a:rPr sz="1400" b="1">
                <a:solidFill>
                  <a:srgbClr val="2E6DA4"/>
                </a:solidFill>
                <a:latin typeface="Consolas"/>
              </a:rPr>
              <a:t>$ qstat -a                        # SIX PBS jobs — one per permutation</a:t>
            </a:r>
          </a:p>
          <a:p>
            <a:pPr algn="l"/>
            <a:r>
              <a:rPr sz="1250" b="0">
                <a:solidFill>
                  <a:srgbClr val="1B2B34"/>
                </a:solidFill>
                <a:latin typeface="Consolas"/>
              </a:rPr>
              <a:t>8400.pbs-server pavilion workq pav_demo_*  1  1  R</a:t>
            </a:r>
          </a:p>
          <a:p>
            <a:pPr algn="l"/>
            <a:r>
              <a:rPr sz="1250" b="0">
                <a:solidFill>
                  <a:srgbClr val="1B2B34"/>
                </a:solidFill>
                <a:latin typeface="Consolas"/>
              </a:rPr>
              <a:t>8401.pbs-server pavilion workq pav_demo_*  1  1  R</a:t>
            </a:r>
          </a:p>
          <a:p>
            <a:pPr algn="l"/>
            <a:r>
              <a:rPr sz="1250" b="0">
                <a:solidFill>
                  <a:srgbClr val="1B2B34"/>
                </a:solidFill>
                <a:latin typeface="Consolas"/>
              </a:rPr>
              <a:t>8402.pbs-server pavilion workq pav_demo_*  1  1  Q</a:t>
            </a:r>
          </a:p>
          <a:p>
            <a:pPr algn="l"/>
            <a:r>
              <a:rPr sz="1250" b="0">
                <a:solidFill>
                  <a:srgbClr val="1B2B34"/>
                </a:solidFill>
                <a:latin typeface="Consolas"/>
              </a:rPr>
              <a:t>8403.pbs-server pavilion workq pav_demo_*  1  1  Q</a:t>
            </a:r>
          </a:p>
          <a:p>
            <a:pPr algn="l"/>
            <a:r>
              <a:rPr sz="1250" b="0">
                <a:solidFill>
                  <a:srgbClr val="1B2B34"/>
                </a:solidFill>
                <a:latin typeface="Consolas"/>
              </a:rPr>
              <a:t>8404.pbs-server pavilion workq pav_demo_*  1  1  Q</a:t>
            </a:r>
          </a:p>
          <a:p>
            <a:pPr algn="l"/>
            <a:r>
              <a:rPr sz="1250" b="0">
                <a:solidFill>
                  <a:srgbClr val="1B2B34"/>
                </a:solidFill>
                <a:latin typeface="Consolas"/>
              </a:rPr>
              <a:t>8405.pbs-server pavilion workq pav_demo_*  1  1  Q</a:t>
            </a:r>
          </a:p>
          <a:p>
            <a:pPr algn="l"/>
            <a:r>
              <a:rPr sz="1250" b="0">
                <a:solidFill>
                  <a:srgbClr val="1B2B34"/>
                </a:solidFill>
                <a:latin typeface="Consolas"/>
              </a:rPr>
              <a:t> </a:t>
            </a:r>
          </a:p>
          <a:p>
            <a:pPr algn="l"/>
            <a:r>
              <a:rPr sz="1400" b="1">
                <a:solidFill>
                  <a:srgbClr val="2E6DA4"/>
                </a:solidFill>
                <a:latin typeface="Consolas"/>
              </a:rPr>
              <a:t>$ pav status s93                  # each instance = its own job id</a:t>
            </a:r>
          </a:p>
          <a:p>
            <a:pPr algn="l"/>
            <a:r>
              <a:rPr sz="1250" b="0">
                <a:solidFill>
                  <a:srgbClr val="1E7D3C"/>
                </a:solidFill>
                <a:latin typeface="Consolas"/>
              </a:rPr>
              <a:t>s93.1 | 8400_pbs-server | demo_perms.matrix.small-read  | PASS</a:t>
            </a:r>
          </a:p>
          <a:p>
            <a:pPr algn="l"/>
            <a:r>
              <a:rPr sz="1250" b="0">
                <a:solidFill>
                  <a:srgbClr val="1E7D3C"/>
                </a:solidFill>
                <a:latin typeface="Consolas"/>
              </a:rPr>
              <a:t>s93.2 | 8401_pbs-server | demo_perms.matrix.medium-read | PASS</a:t>
            </a:r>
          </a:p>
          <a:p>
            <a:pPr algn="l"/>
            <a:r>
              <a:rPr sz="1250" b="0">
                <a:solidFill>
                  <a:srgbClr val="1E7D3C"/>
                </a:solidFill>
                <a:latin typeface="Consolas"/>
              </a:rPr>
              <a:t>s93.3 | 8402_pbs-server | demo_perms.matrix.large-read  | PASS</a:t>
            </a:r>
          </a:p>
          <a:p>
            <a:pPr algn="l"/>
            <a:r>
              <a:rPr sz="1250" b="0">
                <a:solidFill>
                  <a:srgbClr val="1E7D3C"/>
                </a:solidFill>
                <a:latin typeface="Consolas"/>
              </a:rPr>
              <a:t>s93.4 | 8403_pbs-server | demo_perms.matrix.small-write | PASS</a:t>
            </a:r>
          </a:p>
          <a:p>
            <a:pPr algn="l"/>
            <a:r>
              <a:rPr sz="1250" b="0">
                <a:solidFill>
                  <a:srgbClr val="1E7D3C"/>
                </a:solidFill>
                <a:latin typeface="Consolas"/>
              </a:rPr>
              <a:t>s93.5 | 8404_pbs-server | demo_perms.matrix.medium-write| PASS</a:t>
            </a:r>
          </a:p>
          <a:p>
            <a:pPr algn="l"/>
            <a:r>
              <a:rPr sz="1250" b="0">
                <a:solidFill>
                  <a:srgbClr val="1E7D3C"/>
                </a:solidFill>
                <a:latin typeface="Consolas"/>
              </a:rPr>
              <a:t>s93.6 | 8405_pbs-server | demo_perms.matrix.large-write | PASS</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One YAML block → six PBS jobs (8400–8405), one per permutation — some run, the rest queue.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RUNNING AT SCALE</a:t>
            </a:r>
          </a:p>
          <a:p>
            <a:r>
              <a:rPr sz="3600" b="1">
                <a:solidFill>
                  <a:srgbClr val="1F3B63"/>
                </a:solidFill>
                <a:latin typeface="Arial"/>
              </a:rPr>
              <a:t>Schedulers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SCHEDULERS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Schedulers &amp; the PBS plugin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Built-in scheduler plugins: raw (local), slurm, flux, pbs.</a:t>
            </a:r>
          </a:p>
          <a:p>
            <a:pPr>
              <a:spcAft>
                <a:spcPts val="1000"/>
              </a:spcAft>
            </a:pPr>
            <a:r>
              <a:rPr sz="2000" b="0">
                <a:solidFill>
                  <a:srgbClr val="21252B"/>
                </a:solidFill>
                <a:latin typeface="Arial"/>
              </a:rPr>
              <a:t>•  Switch by setting `scheduler:` — the test body doesn't change.</a:t>
            </a:r>
          </a:p>
          <a:p>
            <a:pPr>
              <a:spcAft>
                <a:spcPts val="1000"/>
              </a:spcAft>
            </a:pPr>
            <a:r>
              <a:rPr sz="2000" b="0">
                <a:solidFill>
                  <a:srgbClr val="21252B"/>
                </a:solidFill>
                <a:latin typeface="Arial"/>
              </a:rPr>
              <a:t>•  The PBS plugin (ours) submits real qsub jobs and maps nodes/tasks/walltime/queue.</a:t>
            </a:r>
          </a:p>
          <a:p>
            <a:pPr>
              <a:spcAft>
                <a:spcPts val="1000"/>
              </a:spcAft>
            </a:pPr>
            <a:r>
              <a:rPr sz="2000" b="0">
                <a:solidFill>
                  <a:srgbClr val="21252B"/>
                </a:solidFill>
                <a:latin typeface="Arial"/>
              </a:rPr>
              <a:t>•  Scheduler variables (sched.*) expose node lists, chunks, task counts to the test.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SCHEDULERS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PBS test</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8308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5B6674"/>
                </a:solidFill>
                <a:latin typeface="Consolas"/>
              </a:rPr>
              <a:t># demo_pbs.yaml  -&gt;  address it as  demo_pbs.pass</a:t>
            </a:r>
          </a:p>
          <a:p>
            <a:pPr algn="l"/>
            <a:r>
              <a:rPr sz="1400" b="0">
                <a:solidFill>
                  <a:srgbClr val="1B2B34"/>
                </a:solidFill>
                <a:latin typeface="Consolas"/>
              </a:rPr>
              <a:t>pass:</a:t>
            </a:r>
          </a:p>
          <a:p>
            <a:pPr algn="l"/>
            <a:r>
              <a:rPr sz="1400" b="0">
                <a:solidFill>
                  <a:srgbClr val="1B2B34"/>
                </a:solidFill>
                <a:latin typeface="Consolas"/>
              </a:rPr>
              <a:t>  scheduler: pbs</a:t>
            </a:r>
          </a:p>
          <a:p>
            <a:pPr algn="l"/>
            <a:r>
              <a:rPr sz="1400" b="0">
                <a:solidFill>
                  <a:srgbClr val="1B2B34"/>
                </a:solidFill>
                <a:latin typeface="Consolas"/>
              </a:rPr>
              <a:t>  schedule:</a:t>
            </a:r>
          </a:p>
          <a:p>
            <a:pPr algn="l"/>
            <a:r>
              <a:rPr sz="1400" b="0">
                <a:solidFill>
                  <a:srgbClr val="1B2B34"/>
                </a:solidFill>
                <a:latin typeface="Consolas"/>
              </a:rPr>
              <a:t>    pbs:</a:t>
            </a:r>
          </a:p>
          <a:p>
            <a:pPr algn="l"/>
            <a:r>
              <a:rPr sz="1400" b="0">
                <a:solidFill>
                  <a:srgbClr val="1B2B34"/>
                </a:solidFill>
                <a:latin typeface="Consolas"/>
              </a:rPr>
              <a:t>      nodes: 1</a:t>
            </a:r>
          </a:p>
          <a:p>
            <a:pPr algn="l"/>
            <a:r>
              <a:rPr sz="1400" b="0">
                <a:solidFill>
                  <a:srgbClr val="1B2B34"/>
                </a:solidFill>
                <a:latin typeface="Consolas"/>
              </a:rPr>
              <a:t>      tasks: 1</a:t>
            </a:r>
          </a:p>
          <a:p>
            <a:pPr algn="l"/>
            <a:r>
              <a:rPr sz="1400" b="0">
                <a:solidFill>
                  <a:srgbClr val="1B2B34"/>
                </a:solidFill>
                <a:latin typeface="Consolas"/>
              </a:rPr>
              <a:t>      walltime: '00:00:30'</a:t>
            </a:r>
          </a:p>
          <a:p>
            <a:pPr algn="l"/>
            <a:r>
              <a:rPr sz="1400" b="0">
                <a:solidFill>
                  <a:srgbClr val="1B2B34"/>
                </a:solidFill>
                <a:latin typeface="Consolas"/>
              </a:rPr>
              <a:t>      queue: workq</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"pbs job on $(hostname)"'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L4</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Submit to PBS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06-pbs.sh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demo_pbs.pass</a:t>
            </a:r>
          </a:p>
          <a:p>
            <a:pPr algn="l"/>
            <a:r>
              <a:rPr sz="1250" b="0">
                <a:solidFill>
                  <a:srgbClr val="1B2B34"/>
                </a:solidFill>
                <a:latin typeface="Consolas"/>
              </a:rPr>
              <a:t>sid: s76</a:t>
            </a:r>
          </a:p>
          <a:p>
            <a:pPr algn="l"/>
            <a:r>
              <a:rPr sz="1250" b="0">
                <a:solidFill>
                  <a:srgbClr val="1B2B34"/>
                </a:solidFill>
                <a:latin typeface="Consolas"/>
              </a:rPr>
              <a:t>tests: 1</a:t>
            </a:r>
          </a:p>
          <a:p>
            <a:pPr algn="l"/>
            <a:r>
              <a:rPr sz="1250" b="0">
                <a:solidFill>
                  <a:srgbClr val="1B2B34"/>
                </a:solidFill>
                <a:latin typeface="Consolas"/>
              </a:rPr>
              <a:t> </a:t>
            </a:r>
          </a:p>
          <a:p>
            <a:pPr algn="l"/>
            <a:r>
              <a:rPr sz="1400" b="1">
                <a:solidFill>
                  <a:srgbClr val="2E6DA4"/>
                </a:solidFill>
                <a:latin typeface="Consolas"/>
              </a:rPr>
              <a:t>$ pav status s76           # Pavilion: it's running</a:t>
            </a:r>
          </a:p>
          <a:p>
            <a:pPr algn="l"/>
            <a:r>
              <a:rPr sz="1250" b="0">
                <a:solidFill>
                  <a:srgbClr val="1B2B34"/>
                </a:solidFill>
                <a:latin typeface="Consolas"/>
              </a:rPr>
              <a:t>s76.1 | 8390_pbs-server | demo_pbs.pass | RUNNING</a:t>
            </a:r>
          </a:p>
          <a:p>
            <a:pPr algn="l"/>
            <a:r>
              <a:rPr sz="1250" b="0">
                <a:solidFill>
                  <a:srgbClr val="1B2B34"/>
                </a:solidFill>
                <a:latin typeface="Consolas"/>
              </a:rPr>
              <a:t> </a:t>
            </a:r>
          </a:p>
          <a:p>
            <a:pPr algn="l"/>
            <a:r>
              <a:rPr sz="1400" b="1">
                <a:solidFill>
                  <a:srgbClr val="2E6DA4"/>
                </a:solidFill>
                <a:latin typeface="Consolas"/>
              </a:rPr>
              <a:t>$ qstat -a                 # PBS: the same job, state R</a:t>
            </a:r>
          </a:p>
          <a:p>
            <a:pPr algn="l"/>
            <a:r>
              <a:rPr sz="1250" b="0">
                <a:solidFill>
                  <a:srgbClr val="1B2B34"/>
                </a:solidFill>
                <a:latin typeface="Consolas"/>
              </a:rPr>
              <a:t>8390.pbs-server  pavilion  workq  pav_demo_*  1  1  R</a:t>
            </a:r>
          </a:p>
          <a:p>
            <a:pPr algn="l"/>
            <a:r>
              <a:rPr sz="1250" b="0">
                <a:solidFill>
                  <a:srgbClr val="1B2B34"/>
                </a:solidFill>
                <a:latin typeface="Consolas"/>
              </a:rPr>
              <a:t> </a:t>
            </a:r>
          </a:p>
          <a:p>
            <a:pPr algn="l"/>
            <a:r>
              <a:rPr sz="1400" b="1">
                <a:solidFill>
                  <a:srgbClr val="2E6DA4"/>
                </a:solidFill>
                <a:latin typeface="Consolas"/>
              </a:rPr>
              <a:t>$ pav results s76          # once it finishes</a:t>
            </a:r>
          </a:p>
          <a:p>
            <a:pPr algn="l"/>
            <a:r>
              <a:rPr sz="1250" b="0">
                <a:solidFill>
                  <a:srgbClr val="1E7D3C"/>
                </a:solidFill>
                <a:latin typeface="Consolas"/>
              </a:rPr>
              <a:t>s76.1 | demo_pbs.pass | COMPLETE | PASS</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Submitted → running (seen in Pavilion AND PBS) → PASS on a compute node.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REUSABLE OVERLAYS</a:t>
            </a:r>
          </a:p>
          <a:p>
            <a:r>
              <a:rPr sz="3600" b="1">
                <a:solidFill>
                  <a:srgbClr val="1F3B63"/>
                </a:solidFill>
                <a:latin typeface="Arial"/>
              </a:rPr>
              <a:t>Modes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MODES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What a mode is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A mode is a small YAML overlay merged on top of a fully-resolved test.</a:t>
            </a:r>
          </a:p>
          <a:p>
            <a:pPr>
              <a:spcAft>
                <a:spcPts val="1000"/>
              </a:spcAft>
            </a:pPr>
            <a:r>
              <a:rPr sz="2000" b="0">
                <a:solidFill>
                  <a:srgbClr val="21252B"/>
                </a:solidFill>
                <a:latin typeface="Arial"/>
              </a:rPr>
              <a:t>•  Apply at run time with -m: `pav run -m prod &lt;test&gt;`.</a:t>
            </a:r>
          </a:p>
          <a:p>
            <a:pPr>
              <a:spcAft>
                <a:spcPts val="1000"/>
              </a:spcAft>
            </a:pPr>
            <a:r>
              <a:rPr sz="2000" b="0">
                <a:solidFill>
                  <a:srgbClr val="21252B"/>
                </a:solidFill>
                <a:latin typeface="Arial"/>
              </a:rPr>
              <a:t>•  Great for: swapping queues, tuning resources, toggling variables — without editing tests.</a:t>
            </a:r>
          </a:p>
          <a:p>
            <a:pPr>
              <a:spcAft>
                <a:spcPts val="1000"/>
              </a:spcAft>
            </a:pPr>
            <a:r>
              <a:rPr sz="2000" b="0">
                <a:solidFill>
                  <a:srgbClr val="21252B"/>
                </a:solidFill>
                <a:latin typeface="Arial"/>
              </a:rPr>
              <a:t>•  Our demo: the test fails at throughput 1200; a `prod` mode raises it to 1400 → it passes.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MODES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test, and a mode that changes its outcome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The test measures throughput and requires &gt; 1300. Base is 1200 (FAIL); the mode raises it.</a:t>
            </a:r>
          </a:p>
        </p:txBody>
      </p:sp>
      <p:sp>
        <p:nvSpPr>
          <p:cNvPr id="6" name="Rectangle 5"/>
          <p:cNvSpPr/>
          <p:nvPr/>
        </p:nvSpPr>
        <p:spPr>
          <a:xfrm>
            <a:off x="640080" y="2148840"/>
            <a:ext cx="10972800" cy="484632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300" b="0">
                <a:solidFill>
                  <a:srgbClr val="5B6674"/>
                </a:solidFill>
                <a:latin typeface="Consolas"/>
              </a:rPr>
              <a:t># config/suites/demo_modes.yaml   (the test)</a:t>
            </a:r>
          </a:p>
          <a:p>
            <a:pPr algn="l"/>
            <a:r>
              <a:rPr sz="1300" b="0">
                <a:solidFill>
                  <a:srgbClr val="1B2B34"/>
                </a:solidFill>
                <a:latin typeface="Consolas"/>
              </a:rPr>
              <a:t>mode_demo:</a:t>
            </a:r>
          </a:p>
          <a:p>
            <a:pPr algn="l"/>
            <a:r>
              <a:rPr sz="1300" b="0">
                <a:solidFill>
                  <a:srgbClr val="1B2B34"/>
                </a:solidFill>
                <a:latin typeface="Consolas"/>
              </a:rPr>
              <a:t>  variables:</a:t>
            </a:r>
          </a:p>
          <a:p>
            <a:pPr algn="l"/>
            <a:r>
              <a:rPr sz="1300" b="0">
                <a:solidFill>
                  <a:srgbClr val="1B2B34"/>
                </a:solidFill>
                <a:latin typeface="Consolas"/>
              </a:rPr>
              <a:t>    throughput: 1200</a:t>
            </a:r>
          </a:p>
          <a:p>
            <a:pPr algn="l"/>
            <a:r>
              <a:rPr sz="1300" b="0">
                <a:solidFill>
                  <a:srgbClr val="1B2B34"/>
                </a:solidFill>
                <a:latin typeface="Consolas"/>
              </a:rPr>
              <a:t>  run:</a:t>
            </a:r>
          </a:p>
          <a:p>
            <a:pPr algn="l"/>
            <a:r>
              <a:rPr sz="1300" b="0">
                <a:solidFill>
                  <a:srgbClr val="1B2B34"/>
                </a:solidFill>
                <a:latin typeface="Consolas"/>
              </a:rPr>
              <a:t>    cmds:</a:t>
            </a:r>
          </a:p>
          <a:p>
            <a:pPr algn="l"/>
            <a:r>
              <a:rPr sz="1300" b="0">
                <a:solidFill>
                  <a:srgbClr val="1B2B34"/>
                </a:solidFill>
                <a:latin typeface="Consolas"/>
              </a:rPr>
              <a:t>      - 'echo "throughput {{throughput}}"'</a:t>
            </a:r>
          </a:p>
          <a:p>
            <a:pPr algn="l"/>
            <a:r>
              <a:rPr sz="1300" b="0">
                <a:solidFill>
                  <a:srgbClr val="1B2B34"/>
                </a:solidFill>
                <a:latin typeface="Consolas"/>
              </a:rPr>
              <a:t>  result_parse:</a:t>
            </a:r>
          </a:p>
          <a:p>
            <a:pPr algn="l"/>
            <a:r>
              <a:rPr sz="1300" b="0">
                <a:solidFill>
                  <a:srgbClr val="1B2B34"/>
                </a:solidFill>
                <a:latin typeface="Consolas"/>
              </a:rPr>
              <a:t>    regex:</a:t>
            </a:r>
          </a:p>
          <a:p>
            <a:pPr algn="l"/>
            <a:r>
              <a:rPr sz="1300" b="0">
                <a:solidFill>
                  <a:srgbClr val="1B2B34"/>
                </a:solidFill>
                <a:latin typeface="Consolas"/>
              </a:rPr>
              <a:t>      throughput_mbs:</a:t>
            </a:r>
          </a:p>
          <a:p>
            <a:pPr algn="l"/>
            <a:r>
              <a:rPr sz="1300" b="0">
                <a:solidFill>
                  <a:srgbClr val="1B2B34"/>
                </a:solidFill>
                <a:latin typeface="Consolas"/>
              </a:rPr>
              <a:t>        regex: 'throughput (\S+)'</a:t>
            </a:r>
          </a:p>
          <a:p>
            <a:pPr algn="l"/>
            <a:r>
              <a:rPr sz="1300" b="0">
                <a:solidFill>
                  <a:srgbClr val="1B2B34"/>
                </a:solidFill>
                <a:latin typeface="Consolas"/>
              </a:rPr>
              <a:t>  result_evaluate:</a:t>
            </a:r>
          </a:p>
          <a:p>
            <a:pPr algn="l"/>
            <a:r>
              <a:rPr sz="1300" b="0">
                <a:solidFill>
                  <a:srgbClr val="1B2B34"/>
                </a:solidFill>
                <a:latin typeface="Consolas"/>
              </a:rPr>
              <a:t>    result: 'throughput_mbs &gt; 1300'      # PASS only if above 1300</a:t>
            </a:r>
          </a:p>
          <a:p>
            <a:pPr algn="l"/>
            <a:r>
              <a:rPr sz="1300" b="0">
                <a:solidFill>
                  <a:srgbClr val="1B2B34"/>
                </a:solidFill>
                <a:latin typeface="Consolas"/>
              </a:rPr>
              <a:t> </a:t>
            </a:r>
          </a:p>
          <a:p>
            <a:pPr algn="l"/>
            <a:r>
              <a:rPr sz="1300" b="0">
                <a:solidFill>
                  <a:srgbClr val="5B6674"/>
                </a:solidFill>
                <a:latin typeface="Consolas"/>
              </a:rPr>
              <a:t># config/modes/prod.yaml   (the mode overlay)</a:t>
            </a:r>
          </a:p>
          <a:p>
            <a:pPr algn="l"/>
            <a:r>
              <a:rPr sz="1300" b="0">
                <a:solidFill>
                  <a:srgbClr val="1B2B34"/>
                </a:solidFill>
                <a:latin typeface="Consolas"/>
              </a:rPr>
              <a:t>variables:</a:t>
            </a:r>
          </a:p>
          <a:p>
            <a:pPr algn="l"/>
            <a:r>
              <a:rPr sz="1300" b="0">
                <a:solidFill>
                  <a:srgbClr val="1B2B34"/>
                </a:solidFill>
                <a:latin typeface="Consolas"/>
              </a:rPr>
              <a:t>  throughput: 1400                        # override 1200 -&gt; 1400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L5</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mode flips FAIL → PASS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07-modes.sh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demo_modes.mode_demo           # base: throughput = 1200</a:t>
            </a:r>
          </a:p>
          <a:p>
            <a:pPr algn="l"/>
            <a:r>
              <a:rPr sz="1250" b="0">
                <a:solidFill>
                  <a:srgbClr val="1B2B34"/>
                </a:solidFill>
                <a:latin typeface="Consolas"/>
              </a:rPr>
              <a:t>  'throughput_mbs': 1200,</a:t>
            </a:r>
          </a:p>
          <a:p>
            <a:pPr algn="l"/>
            <a:r>
              <a:rPr sz="1250" b="0">
                <a:solidFill>
                  <a:srgbClr val="B32A2A"/>
                </a:solidFill>
                <a:latin typeface="Consolas"/>
              </a:rPr>
              <a:t>  'result': 'FAIL'          # 1200 &gt; 1300 is false</a:t>
            </a:r>
          </a:p>
          <a:p>
            <a:pPr algn="l"/>
            <a:r>
              <a:rPr sz="1250" b="0">
                <a:solidFill>
                  <a:srgbClr val="1B2B34"/>
                </a:solidFill>
                <a:latin typeface="Consolas"/>
              </a:rPr>
              <a:t> </a:t>
            </a:r>
          </a:p>
          <a:p>
            <a:pPr algn="l"/>
            <a:r>
              <a:rPr sz="1400" b="1">
                <a:solidFill>
                  <a:srgbClr val="2E6DA4"/>
                </a:solidFill>
                <a:latin typeface="Consolas"/>
              </a:rPr>
              <a:t>$ qstat -a                                # a real PBS job</a:t>
            </a:r>
          </a:p>
          <a:p>
            <a:pPr algn="l"/>
            <a:r>
              <a:rPr sz="1250" b="0">
                <a:solidFill>
                  <a:srgbClr val="1B2B34"/>
                </a:solidFill>
                <a:latin typeface="Consolas"/>
              </a:rPr>
              <a:t>8407.pbs-server pavilion workq pav_demo_*  1  1  R</a:t>
            </a:r>
          </a:p>
          <a:p>
            <a:pPr algn="l"/>
            <a:r>
              <a:rPr sz="1250" b="0">
                <a:solidFill>
                  <a:srgbClr val="1B2B34"/>
                </a:solidFill>
                <a:latin typeface="Consolas"/>
              </a:rPr>
              <a:t> </a:t>
            </a:r>
          </a:p>
          <a:p>
            <a:pPr algn="l"/>
            <a:r>
              <a:rPr sz="1400" b="1">
                <a:solidFill>
                  <a:srgbClr val="2E6DA4"/>
                </a:solidFill>
                <a:latin typeface="Consolas"/>
              </a:rPr>
              <a:t>$ pav run -m prod demo_modes.mode_demo    # prod overrides -&gt; throughput = 1400</a:t>
            </a:r>
          </a:p>
          <a:p>
            <a:pPr algn="l"/>
            <a:r>
              <a:rPr sz="1250" b="0">
                <a:solidFill>
                  <a:srgbClr val="1B2B34"/>
                </a:solidFill>
                <a:latin typeface="Consolas"/>
              </a:rPr>
              <a:t>  'throughput_mbs': 1400,</a:t>
            </a:r>
          </a:p>
          <a:p>
            <a:pPr algn="l"/>
            <a:r>
              <a:rPr sz="1250" b="0">
                <a:solidFill>
                  <a:srgbClr val="1E7D3C"/>
                </a:solidFill>
                <a:latin typeface="Consolas"/>
              </a:rPr>
              <a:t>  'result': 'PASS'          # 1400 &gt; 1300 is true</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Same test, no edits — the prod mode raised throughput past the 1300 threshold, flipping FAIL → PASS.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GROUPING RUNS</a:t>
            </a:r>
          </a:p>
          <a:p>
            <a:r>
              <a:rPr sz="3600" b="1">
                <a:solidFill>
                  <a:srgbClr val="1F3B63"/>
                </a:solidFill>
                <a:latin typeface="Arial"/>
              </a:rPr>
              <a:t>Series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SERIES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series file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demo_series.yaml — name a test set, list the tests it runs.</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5B6674"/>
                </a:solidFill>
                <a:latin typeface="Consolas"/>
              </a:rPr>
              <a:t># config/series/demo_series.yaml</a:t>
            </a:r>
          </a:p>
          <a:p>
            <a:pPr algn="l"/>
            <a:r>
              <a:rPr sz="1400" b="0">
                <a:solidFill>
                  <a:srgbClr val="1B2B34"/>
                </a:solidFill>
                <a:latin typeface="Consolas"/>
              </a:rPr>
              <a:t>ordered: False</a:t>
            </a:r>
          </a:p>
          <a:p>
            <a:pPr algn="l"/>
            <a:r>
              <a:rPr sz="1400" b="0">
                <a:solidFill>
                  <a:srgbClr val="1B2B34"/>
                </a:solidFill>
                <a:latin typeface="Consolas"/>
              </a:rPr>
              <a:t>test_sets:</a:t>
            </a:r>
          </a:p>
          <a:p>
            <a:pPr algn="l"/>
            <a:r>
              <a:rPr sz="1400" b="0">
                <a:solidFill>
                  <a:srgbClr val="1B2B34"/>
                </a:solidFill>
                <a:latin typeface="Consolas"/>
              </a:rPr>
              <a:t>  smoke:</a:t>
            </a:r>
          </a:p>
          <a:p>
            <a:pPr algn="l"/>
            <a:r>
              <a:rPr sz="1400" b="0">
                <a:solidFill>
                  <a:srgbClr val="1B2B34"/>
                </a:solidFill>
                <a:latin typeface="Consolas"/>
              </a:rPr>
              <a:t>    tests:</a:t>
            </a:r>
          </a:p>
          <a:p>
            <a:pPr algn="l"/>
            <a:r>
              <a:rPr sz="1400" b="0">
                <a:solidFill>
                  <a:srgbClr val="1B2B34"/>
                </a:solidFill>
                <a:latin typeface="Consolas"/>
              </a:rPr>
              <a:t>      - demo_pbs.pass</a:t>
            </a:r>
          </a:p>
          <a:p>
            <a:pPr algn="l"/>
            <a:r>
              <a:rPr sz="1400" b="0">
                <a:solidFill>
                  <a:srgbClr val="1B2B34"/>
                </a:solidFill>
                <a:latin typeface="Consolas"/>
              </a:rPr>
              <a:t>      - demo_pbs.fail</a:t>
            </a:r>
          </a:p>
          <a:p>
            <a:pPr algn="l"/>
            <a:r>
              <a:rPr sz="1400" b="0">
                <a:solidFill>
                  <a:srgbClr val="1B2B34"/>
                </a:solidFill>
                <a:latin typeface="Consolas"/>
              </a:rPr>
              <a:t>      - demo_pbs.metrics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L6</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Run a whole group</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08-series.sh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series run demo_series</a:t>
            </a:r>
          </a:p>
          <a:p>
            <a:pPr algn="l"/>
            <a:r>
              <a:rPr sz="1250" b="0">
                <a:solidFill>
                  <a:srgbClr val="1B2B34"/>
                </a:solidFill>
                <a:latin typeface="Consolas"/>
              </a:rPr>
              <a:t>Created Test Series demo_series.</a:t>
            </a:r>
          </a:p>
          <a:p>
            <a:pPr algn="l"/>
            <a:r>
              <a:rPr sz="1250" b="0">
                <a:solidFill>
                  <a:srgbClr val="1B2B34"/>
                </a:solidFill>
                <a:latin typeface="Consolas"/>
              </a:rPr>
              <a:t>Started series s152.</a:t>
            </a:r>
          </a:p>
          <a:p>
            <a:pPr algn="l"/>
            <a:r>
              <a:rPr sz="1250" b="0">
                <a:solidFill>
                  <a:srgbClr val="1B2B34"/>
                </a:solidFill>
                <a:latin typeface="Consolas"/>
              </a:rPr>
              <a:t> </a:t>
            </a:r>
          </a:p>
          <a:p>
            <a:pPr algn="l"/>
            <a:r>
              <a:rPr sz="1400" b="1">
                <a:solidFill>
                  <a:srgbClr val="2E6DA4"/>
                </a:solidFill>
                <a:latin typeface="Consolas"/>
              </a:rPr>
              <a:t>$ qstat -a                        # the set's tests dispatched to PBS</a:t>
            </a:r>
          </a:p>
          <a:p>
            <a:pPr algn="l"/>
            <a:r>
              <a:rPr sz="1250" b="0">
                <a:solidFill>
                  <a:srgbClr val="1B2B34"/>
                </a:solidFill>
                <a:latin typeface="Consolas"/>
              </a:rPr>
              <a:t>9076.pbs-server pavilion workq pav_demo_*  1  1  R</a:t>
            </a:r>
          </a:p>
          <a:p>
            <a:pPr algn="l"/>
            <a:r>
              <a:rPr sz="1250" b="0">
                <a:solidFill>
                  <a:srgbClr val="1B2B34"/>
                </a:solidFill>
                <a:latin typeface="Consolas"/>
              </a:rPr>
              <a:t>9077.pbs-server pavilion workq pav_demo_*  1  1  R</a:t>
            </a:r>
          </a:p>
          <a:p>
            <a:pPr algn="l"/>
            <a:r>
              <a:rPr sz="1250" b="0">
                <a:solidFill>
                  <a:srgbClr val="1B2B34"/>
                </a:solidFill>
                <a:latin typeface="Consolas"/>
              </a:rPr>
              <a:t> </a:t>
            </a:r>
          </a:p>
          <a:p>
            <a:pPr algn="l"/>
            <a:r>
              <a:rPr sz="1400" b="1">
                <a:solidFill>
                  <a:srgbClr val="2E6DA4"/>
                </a:solidFill>
                <a:latin typeface="Consolas"/>
              </a:rPr>
              <a:t>$ pav series status s152</a:t>
            </a:r>
          </a:p>
          <a:p>
            <a:pPr algn="l"/>
            <a:r>
              <a:rPr sz="1250" b="0">
                <a:solidFill>
                  <a:srgbClr val="1B2B34"/>
                </a:solidFill>
                <a:latin typeface="Consolas"/>
              </a:rPr>
              <a:t>Id   | Name        | Status   | Tests | Pass | Fail</a:t>
            </a:r>
          </a:p>
          <a:p>
            <a:pPr algn="l"/>
            <a:r>
              <a:rPr sz="1250" b="0">
                <a:solidFill>
                  <a:srgbClr val="1B2B34"/>
                </a:solidFill>
                <a:latin typeface="Consolas"/>
              </a:rPr>
              <a:t>s152 | demo_series | COMPLETE |   3   |   2  |   1</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One command runs all three tests in the 'smoke' set — 2 PASS, 1 (intentional) FAIL.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READING &amp; SCRIPTING</a:t>
            </a:r>
          </a:p>
          <a:p>
            <a:r>
              <a:rPr sz="3600" b="1">
                <a:solidFill>
                  <a:srgbClr val="1F3B63"/>
                </a:solidFill>
                <a:latin typeface="Arial"/>
              </a:rPr>
              <a:t>Results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RESULTS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Results: human and machine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results s71                     # a clean table for humans</a:t>
            </a:r>
          </a:p>
          <a:p>
            <a:pPr algn="l"/>
            <a:r>
              <a:rPr sz="1100" b="0">
                <a:solidFill>
                  <a:srgbClr val="1B2B34"/>
                </a:solidFill>
                <a:latin typeface="Consolas"/>
              </a:rPr>
              <a:t> Test Results: s71.</a:t>
            </a:r>
          </a:p>
          <a:p>
            <a:pPr algn="l"/>
            <a:r>
              <a:rPr sz="1100" b="0">
                <a:solidFill>
                  <a:srgbClr val="1B2B34"/>
                </a:solidFill>
                <a:latin typeface="Consolas"/>
              </a:rPr>
              <a:t> Id    | Name             | Started  | Result</a:t>
            </a:r>
          </a:p>
          <a:p>
            <a:pPr algn="l"/>
            <a:r>
              <a:rPr sz="1100" b="0">
                <a:solidFill>
                  <a:srgbClr val="1E7D3C"/>
                </a:solidFill>
                <a:latin typeface="Consolas"/>
              </a:rPr>
              <a:t> s71.1 | demo_pbs.metrics | 16:40:44 | PASS</a:t>
            </a:r>
          </a:p>
          <a:p>
            <a:pPr algn="l"/>
            <a:r>
              <a:rPr sz="1100" b="0">
                <a:solidFill>
                  <a:srgbClr val="1B2B34"/>
                </a:solidFill>
                <a:latin typeface="Consolas"/>
              </a:rPr>
              <a:t> </a:t>
            </a:r>
          </a:p>
          <a:p>
            <a:pPr algn="l"/>
            <a:r>
              <a:rPr sz="1400" b="1">
                <a:solidFill>
                  <a:srgbClr val="2E6DA4"/>
                </a:solidFill>
                <a:latin typeface="Consolas"/>
              </a:rPr>
              <a:t>$ pav results --json s71              # the same run, for scripting</a:t>
            </a:r>
          </a:p>
          <a:p>
            <a:pPr algn="l"/>
            <a:r>
              <a:rPr sz="1100" b="0">
                <a:solidFill>
                  <a:srgbClr val="1B2B34"/>
                </a:solidFill>
                <a:latin typeface="Consolas"/>
              </a:rPr>
              <a:t>{</a:t>
            </a:r>
          </a:p>
          <a:p>
            <a:pPr algn="l"/>
            <a:r>
              <a:rPr sz="1100" b="0">
                <a:solidFill>
                  <a:srgbClr val="1B2B34"/>
                </a:solidFill>
                <a:latin typeface="Consolas"/>
              </a:rPr>
              <a:t>  "name": "demo_pbs.metrics",</a:t>
            </a:r>
          </a:p>
          <a:p>
            <a:pPr algn="l"/>
            <a:r>
              <a:rPr sz="1100" b="0">
                <a:solidFill>
                  <a:srgbClr val="1E7D3C"/>
                </a:solidFill>
                <a:latin typeface="Consolas"/>
              </a:rPr>
              <a:t>  "result": "PASS",</a:t>
            </a:r>
          </a:p>
          <a:p>
            <a:pPr algn="l"/>
            <a:r>
              <a:rPr sz="1100" b="0">
                <a:solidFill>
                  <a:srgbClr val="1B2B34"/>
                </a:solidFill>
                <a:latin typeface="Consolas"/>
              </a:rPr>
              <a:t>  "throughput_mbs": 123.45,</a:t>
            </a:r>
          </a:p>
          <a:p>
            <a:pPr algn="l"/>
            <a:r>
              <a:rPr sz="1100" b="0">
                <a:solidFill>
                  <a:srgbClr val="1B2B34"/>
                </a:solidFill>
                <a:latin typeface="Consolas"/>
              </a:rPr>
              <a:t>  "latency_ms": 5.6,</a:t>
            </a:r>
          </a:p>
          <a:p>
            <a:pPr algn="l"/>
            <a:r>
              <a:rPr sz="1100" b="0">
                <a:solidFill>
                  <a:srgbClr val="1B2B34"/>
                </a:solidFill>
                <a:latin typeface="Consolas"/>
              </a:rPr>
              <a:t>  "errors": 0,</a:t>
            </a:r>
          </a:p>
          <a:p>
            <a:pPr algn="l"/>
            <a:r>
              <a:rPr sz="1100" b="0">
                <a:solidFill>
                  <a:srgbClr val="1B2B34"/>
                </a:solidFill>
                <a:latin typeface="Consolas"/>
              </a:rPr>
              <a:t>  "duration": 0.041</a:t>
            </a:r>
          </a:p>
          <a:p>
            <a:pPr algn="l"/>
            <a:r>
              <a:rPr sz="1100" b="0">
                <a:solidFill>
                  <a:srgbClr val="1B2B34"/>
                </a:solidFill>
                <a:latin typeface="Consolas"/>
              </a:rPr>
              <a:t>}</a:t>
            </a:r>
          </a:p>
        </p:txBody>
      </p:sp>
      <p:sp>
        <p:nvSpPr>
          <p:cNvPr id="6" name="TextBox 5"/>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Same results, two shapes: a table to read, JSON to pipe into jq / a script / a logger.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EXTENDING PAVILION</a:t>
            </a:r>
          </a:p>
          <a:p>
            <a:r>
              <a:rPr sz="3600" b="1">
                <a:solidFill>
                  <a:srgbClr val="1F3B63"/>
                </a:solidFill>
                <a:latin typeface="Arial"/>
              </a:rPr>
              <a:t>Plugins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PLUGINS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Pavilion is plugins all the way down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Scheduler plugins — raw, slurm, flux, pbs (PBS is ours).</a:t>
            </a:r>
          </a:p>
          <a:p>
            <a:pPr>
              <a:spcAft>
                <a:spcPts val="1000"/>
              </a:spcAft>
            </a:pPr>
            <a:r>
              <a:rPr sz="2000" b="0">
                <a:solidFill>
                  <a:srgbClr val="21252B"/>
                </a:solidFill>
                <a:latin typeface="Arial"/>
              </a:rPr>
              <a:t>•  Result parsers — regex, constant, table, …</a:t>
            </a:r>
          </a:p>
          <a:p>
            <a:pPr>
              <a:spcAft>
                <a:spcPts val="1000"/>
              </a:spcAft>
            </a:pPr>
            <a:r>
              <a:rPr sz="2000" b="0">
                <a:solidFill>
                  <a:srgbClr val="21252B"/>
                </a:solidFill>
                <a:latin typeface="Arial"/>
              </a:rPr>
              <a:t>•  System variables — expose machine facts to tests (e.g. sys_name).</a:t>
            </a:r>
          </a:p>
          <a:p>
            <a:pPr>
              <a:spcAft>
                <a:spcPts val="1000"/>
              </a:spcAft>
            </a:pPr>
            <a:r>
              <a:rPr sz="2000" b="0">
                <a:solidFill>
                  <a:srgbClr val="21252B"/>
                </a:solidFill>
                <a:latin typeface="Arial"/>
              </a:rPr>
              <a:t>•  Command plugins — add whole new `pav &lt;command&gt;` subcommands.</a:t>
            </a:r>
          </a:p>
          <a:p>
            <a:pPr>
              <a:spcAft>
                <a:spcPts val="1000"/>
              </a:spcAft>
            </a:pPr>
            <a:r>
              <a:rPr sz="2000" b="0">
                <a:solidFill>
                  <a:srgbClr val="21252B"/>
                </a:solidFill>
                <a:latin typeface="Arial"/>
              </a:rPr>
              <a:t>•  Result loggers — ship results anywhere (CSV, OpenSearch, custom).</a:t>
            </a:r>
          </a:p>
          <a:p>
            <a:pPr>
              <a:spcAft>
                <a:spcPts val="1000"/>
              </a:spcAft>
            </a:pPr>
            <a:r>
              <a:rPr sz="1700" b="0">
                <a:solidFill>
                  <a:srgbClr val="5B6674"/>
                </a:solidFill>
                <a:latin typeface="Arial"/>
              </a:rPr>
              <a:t>    – Drop a .py + a .yapsy-plugin into config/plugins/ — Pavilion discovers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CUSTOM COMMANDS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Command plugins (ours)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hello — a friendly sanity check + Pavilion info.</a:t>
            </a:r>
          </a:p>
          <a:p>
            <a:pPr>
              <a:spcAft>
                <a:spcPts val="1000"/>
              </a:spcAft>
            </a:pPr>
            <a:r>
              <a:rPr sz="2000" b="0">
                <a:solidFill>
                  <a:srgbClr val="21252B"/>
                </a:solidFill>
                <a:latin typeface="Arial"/>
              </a:rPr>
              <a:t>•  recent — the most recent test runs, colored by result.</a:t>
            </a:r>
          </a:p>
          <a:p>
            <a:pPr>
              <a:spcAft>
                <a:spcPts val="1000"/>
              </a:spcAft>
            </a:pPr>
            <a:r>
              <a:rPr sz="2000" b="0">
                <a:solidFill>
                  <a:srgbClr val="21252B"/>
                </a:solidFill>
                <a:latin typeface="Arial"/>
              </a:rPr>
              <a:t>•  test-summary — a PASS/FAIL tally across recent runs.</a:t>
            </a:r>
          </a:p>
          <a:p>
            <a:pPr>
              <a:spcAft>
                <a:spcPts val="1000"/>
              </a:spcAft>
            </a:pPr>
            <a:r>
              <a:rPr sz="2000" b="0">
                <a:solidFill>
                  <a:srgbClr val="21252B"/>
                </a:solidFill>
                <a:latin typeface="Arial"/>
              </a:rPr>
              <a:t>•  disk-usage — how much space test runs / builds / series consume.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L7</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Custom commands in action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09-command-plugins.sh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hello --name Team</a:t>
            </a:r>
          </a:p>
          <a:p>
            <a:pPr algn="l"/>
            <a:r>
              <a:rPr sz="1150" b="0">
                <a:solidFill>
                  <a:srgbClr val="1B2B34"/>
                </a:solidFill>
                <a:latin typeface="Consolas"/>
              </a:rPr>
              <a:t>Hello, Team!  Welcome to Pavilion 2!</a:t>
            </a:r>
          </a:p>
          <a:p>
            <a:pPr algn="l"/>
            <a:r>
              <a:rPr sz="1150" b="0">
                <a:solidFill>
                  <a:srgbClr val="1B2B34"/>
                </a:solidFill>
                <a:latin typeface="Consolas"/>
              </a:rPr>
              <a:t> </a:t>
            </a:r>
          </a:p>
          <a:p>
            <a:pPr algn="l"/>
            <a:r>
              <a:rPr sz="1400" b="1">
                <a:solidFill>
                  <a:srgbClr val="2E6DA4"/>
                </a:solidFill>
                <a:latin typeface="Consolas"/>
              </a:rPr>
              <a:t>$ pav recent -n 3</a:t>
            </a:r>
          </a:p>
          <a:p>
            <a:pPr algn="l"/>
            <a:r>
              <a:rPr sz="1150" b="0">
                <a:solidFill>
                  <a:srgbClr val="1E7D3C"/>
                </a:solidFill>
                <a:latin typeface="Consolas"/>
              </a:rPr>
              <a:t>[s75.4] opensearch_verify.os_version_tag.v1.0-verify   PASS</a:t>
            </a:r>
          </a:p>
          <a:p>
            <a:pPr algn="l"/>
            <a:r>
              <a:rPr sz="1150" b="0">
                <a:solidFill>
                  <a:srgbClr val="1E7D3C"/>
                </a:solidFill>
                <a:latin typeface="Consolas"/>
              </a:rPr>
              <a:t>[s75.3] opensearch_verify.os_with_metrics             PASS</a:t>
            </a:r>
          </a:p>
          <a:p>
            <a:pPr algn="l"/>
            <a:r>
              <a:rPr sz="1150" b="0">
                <a:solidFill>
                  <a:srgbClr val="B32A2A"/>
                </a:solidFill>
                <a:latin typeface="Consolas"/>
              </a:rPr>
              <a:t>[s75.2] opensearch_verify.os_fail                     FAIL</a:t>
            </a:r>
          </a:p>
          <a:p>
            <a:pPr algn="l"/>
            <a:r>
              <a:rPr sz="1150" b="0">
                <a:solidFill>
                  <a:srgbClr val="1B2B34"/>
                </a:solidFill>
                <a:latin typeface="Consolas"/>
              </a:rPr>
              <a:t> </a:t>
            </a:r>
          </a:p>
          <a:p>
            <a:pPr algn="l"/>
            <a:r>
              <a:rPr sz="1400" b="1">
                <a:solidFill>
                  <a:srgbClr val="2E6DA4"/>
                </a:solidFill>
                <a:latin typeface="Consolas"/>
              </a:rPr>
              <a:t>$ pav test-summary</a:t>
            </a:r>
          </a:p>
          <a:p>
            <a:pPr algn="l"/>
            <a:r>
              <a:rPr sz="1150" b="0">
                <a:solidFill>
                  <a:srgbClr val="1E7D3C"/>
                </a:solidFill>
                <a:latin typeface="Consolas"/>
              </a:rPr>
              <a:t>PASS: 74    FAIL: 8    TOTAL: 83</a:t>
            </a:r>
          </a:p>
          <a:p>
            <a:pPr algn="l"/>
            <a:r>
              <a:rPr sz="1150" b="0">
                <a:solidFill>
                  <a:srgbClr val="1B2B34"/>
                </a:solidFill>
                <a:latin typeface="Consolas"/>
              </a:rPr>
              <a:t> </a:t>
            </a:r>
          </a:p>
          <a:p>
            <a:pPr algn="l"/>
            <a:r>
              <a:rPr sz="1400" b="1">
                <a:solidFill>
                  <a:srgbClr val="2E6DA4"/>
                </a:solidFill>
                <a:latin typeface="Consolas"/>
              </a:rPr>
              <a:t>$ pav disk-usage        # where the space goes</a:t>
            </a:r>
          </a:p>
          <a:p>
            <a:pPr algn="l"/>
            <a:r>
              <a:rPr sz="1150" b="0">
                <a:solidFill>
                  <a:srgbClr val="1B2B34"/>
                </a:solidFill>
                <a:latin typeface="Consolas"/>
              </a:rPr>
              <a:t>Config Area: main</a:t>
            </a:r>
          </a:p>
          <a:p>
            <a:pPr algn="l"/>
            <a:r>
              <a:rPr sz="1150" b="0">
                <a:solidFill>
                  <a:srgbClr val="1B2B34"/>
                </a:solidFill>
                <a:latin typeface="Consolas"/>
              </a:rPr>
              <a:t>  Test Runs:     4.42 MB</a:t>
            </a:r>
          </a:p>
          <a:p>
            <a:pPr algn="l"/>
            <a:r>
              <a:rPr sz="1150" b="0">
                <a:solidFill>
                  <a:srgbClr val="1B2B34"/>
                </a:solidFill>
                <a:latin typeface="Consolas"/>
              </a:rPr>
              <a:t>  Builds:       59.77 MB</a:t>
            </a:r>
          </a:p>
          <a:p>
            <a:pPr algn="l"/>
            <a:r>
              <a:rPr sz="1150" b="0">
                <a:solidFill>
                  <a:srgbClr val="1B2B34"/>
                </a:solidFill>
                <a:latin typeface="Consolas"/>
              </a:rPr>
              <a:t>Series:          16.84 MB</a:t>
            </a:r>
          </a:p>
          <a:p>
            <a:pPr algn="l"/>
            <a:r>
              <a:rPr sz="1150" b="0">
                <a:solidFill>
                  <a:srgbClr val="1B2B34"/>
                </a:solidFill>
                <a:latin typeface="Consolas"/>
              </a:rPr>
              <a:t>------------------------------------------------</a:t>
            </a:r>
          </a:p>
          <a:p>
            <a:pPr algn="l"/>
            <a:r>
              <a:rPr sz="1150" b="0">
                <a:solidFill>
                  <a:srgbClr val="1B2B34"/>
                </a:solidFill>
                <a:latin typeface="Consolas"/>
              </a:rPr>
              <a:t>TOTAL USAGE:    145.22 MB</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Four new pav subcommands — our own tooling built on Pavilion's plugin API.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CUSTOM OUTPUT</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Result loggers (ours)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csv_file — appends one CSV row per test (result, duration, metrics, permute vars).</a:t>
            </a:r>
          </a:p>
          <a:p>
            <a:pPr>
              <a:spcAft>
                <a:spcPts val="1000"/>
              </a:spcAft>
            </a:pPr>
            <a:r>
              <a:rPr sz="2000" b="0">
                <a:solidFill>
                  <a:srgbClr val="21252B"/>
                </a:solidFill>
                <a:latin typeface="Arial"/>
              </a:rPr>
              <a:t>•  saLog — a custom NASA/NOAA logger; writes a CSV row on result 'released'.</a:t>
            </a:r>
          </a:p>
          <a:p>
            <a:pPr>
              <a:spcAft>
                <a:spcPts val="1000"/>
              </a:spcAft>
            </a:pPr>
            <a:r>
              <a:rPr sz="2000" b="0">
                <a:solidFill>
                  <a:srgbClr val="21252B"/>
                </a:solidFill>
                <a:latin typeface="Arial"/>
              </a:rPr>
              <a:t>•  opensearch — ships each result document into the `pavilion-results` index.</a:t>
            </a:r>
          </a:p>
          <a:p>
            <a:pPr>
              <a:spcAft>
                <a:spcPts val="1000"/>
              </a:spcAft>
            </a:pPr>
            <a:r>
              <a:rPr sz="2000" b="0">
                <a:solidFill>
                  <a:srgbClr val="21252B"/>
                </a:solidFill>
                <a:latin typeface="Arial"/>
              </a:rPr>
              <a:t>•  Configured once in pavilion.yaml → every test result flows through them.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L8</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Output plugin: CSV</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10-output-csv.sh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demo_pbs.pass demo_pbs.metrics      # real PBS jobs</a:t>
            </a:r>
          </a:p>
          <a:p>
            <a:pPr algn="l"/>
            <a:r>
              <a:rPr sz="1150" b="0">
                <a:solidFill>
                  <a:srgbClr val="1B2B34"/>
                </a:solidFill>
                <a:latin typeface="Consolas"/>
              </a:rPr>
              <a:t>sid: s74</a:t>
            </a:r>
          </a:p>
          <a:p>
            <a:pPr algn="l"/>
            <a:r>
              <a:rPr sz="1150" b="0">
                <a:solidFill>
                  <a:srgbClr val="1B2B34"/>
                </a:solidFill>
                <a:latin typeface="Consolas"/>
              </a:rPr>
              <a:t>tests: 2</a:t>
            </a:r>
          </a:p>
          <a:p>
            <a:pPr algn="l"/>
            <a:r>
              <a:rPr sz="1150" b="0">
                <a:solidFill>
                  <a:srgbClr val="1B2B34"/>
                </a:solidFill>
                <a:latin typeface="Consolas"/>
              </a:rPr>
              <a:t> </a:t>
            </a:r>
          </a:p>
          <a:p>
            <a:pPr algn="l"/>
            <a:r>
              <a:rPr sz="1400" b="1">
                <a:solidFill>
                  <a:srgbClr val="2E6DA4"/>
                </a:solidFill>
                <a:latin typeface="Consolas"/>
              </a:rPr>
              <a:t>$ qstat -a                                    # yes — it went through the scheduler</a:t>
            </a:r>
          </a:p>
          <a:p>
            <a:pPr algn="l"/>
            <a:r>
              <a:rPr sz="1150" b="0">
                <a:solidFill>
                  <a:srgbClr val="1B2B34"/>
                </a:solidFill>
                <a:latin typeface="Consolas"/>
              </a:rPr>
              <a:t>8387.pbs-server  pavilion  workq  pav_demo_*  1  1  R</a:t>
            </a:r>
          </a:p>
          <a:p>
            <a:pPr algn="l"/>
            <a:r>
              <a:rPr sz="1150" b="0">
                <a:solidFill>
                  <a:srgbClr val="1B2B34"/>
                </a:solidFill>
                <a:latin typeface="Consolas"/>
              </a:rPr>
              <a:t> </a:t>
            </a:r>
          </a:p>
          <a:p>
            <a:pPr algn="l"/>
            <a:r>
              <a:rPr sz="1400" b="1">
                <a:solidFill>
                  <a:srgbClr val="2E6DA4"/>
                </a:solidFill>
                <a:latin typeface="Consolas"/>
              </a:rPr>
              <a:t>$ tail ~/pav_logs/results.csv                 # csv_file logger: one row per test</a:t>
            </a:r>
          </a:p>
          <a:p>
            <a:pPr algn="l"/>
            <a:r>
              <a:rPr sz="1150" b="0">
                <a:solidFill>
                  <a:srgbClr val="1B2B34"/>
                </a:solidFill>
                <a:latin typeface="Consolas"/>
              </a:rPr>
              <a:t>name,id,result,sys_name,user, ... ,duration</a:t>
            </a:r>
          </a:p>
          <a:p>
            <a:pPr algn="l"/>
            <a:r>
              <a:rPr sz="1150" b="0">
                <a:solidFill>
                  <a:srgbClr val="1E7D3C"/>
                </a:solidFill>
                <a:latin typeface="Consolas"/>
              </a:rPr>
              <a:t>demo_pbs.pass,s74.1,PASS,pbs-server,pavilion, ... ,0.043</a:t>
            </a:r>
          </a:p>
          <a:p>
            <a:pPr algn="l"/>
            <a:r>
              <a:rPr sz="1150" b="0">
                <a:solidFill>
                  <a:srgbClr val="1E7D3C"/>
                </a:solidFill>
                <a:latin typeface="Consolas"/>
              </a:rPr>
              <a:t>demo_pbs.metrics,s74.2,PASS,pbs-server,pavilion, ... ,0.040</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A real PBS job (qstat proves dispatch), then the csv_file logger writes one row per test.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SALOG</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Output plugin: saLog</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14-salog.sh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demo_pbs.salog                 # 1. run in Pavilion (per_file: name)</a:t>
            </a:r>
          </a:p>
          <a:p>
            <a:pPr algn="l"/>
            <a:r>
              <a:rPr sz="1250" b="0">
                <a:solidFill>
                  <a:srgbClr val="1B2B34"/>
                </a:solidFill>
                <a:latin typeface="Consolas"/>
              </a:rPr>
              <a:t>sid: s141</a:t>
            </a:r>
          </a:p>
          <a:p>
            <a:pPr algn="l"/>
            <a:r>
              <a:rPr sz="1250" b="0">
                <a:solidFill>
                  <a:srgbClr val="1B2B34"/>
                </a:solidFill>
                <a:latin typeface="Consolas"/>
              </a:rPr>
              <a:t>tests: 1</a:t>
            </a:r>
          </a:p>
          <a:p>
            <a:pPr algn="l"/>
            <a:r>
              <a:rPr sz="1250" b="0">
                <a:solidFill>
                  <a:srgbClr val="1B2B34"/>
                </a:solidFill>
                <a:latin typeface="Consolas"/>
              </a:rPr>
              <a:t> </a:t>
            </a:r>
          </a:p>
          <a:p>
            <a:pPr algn="l"/>
            <a:r>
              <a:rPr sz="1400" b="1">
                <a:solidFill>
                  <a:srgbClr val="2E6DA4"/>
                </a:solidFill>
                <a:latin typeface="Consolas"/>
              </a:rPr>
              <a:t>$ qstat -a                               # 2. the job, running in PBS</a:t>
            </a:r>
          </a:p>
          <a:p>
            <a:pPr algn="l"/>
            <a:r>
              <a:rPr sz="1250" b="0">
                <a:solidFill>
                  <a:srgbClr val="1B2B34"/>
                </a:solidFill>
                <a:latin typeface="Consolas"/>
              </a:rPr>
              <a:t>8410.pbs-server pavilion workq pav_demo_*  1  1  R</a:t>
            </a:r>
          </a:p>
          <a:p>
            <a:pPr algn="l"/>
            <a:r>
              <a:rPr sz="1250" b="0">
                <a:solidFill>
                  <a:srgbClr val="1B2B34"/>
                </a:solidFill>
                <a:latin typeface="Consolas"/>
              </a:rPr>
              <a:t> </a:t>
            </a:r>
          </a:p>
          <a:p>
            <a:pPr algn="l"/>
            <a:r>
              <a:rPr sz="1400" b="1">
                <a:solidFill>
                  <a:srgbClr val="2E6DA4"/>
                </a:solidFill>
                <a:latin typeface="Consolas"/>
              </a:rPr>
              <a:t>$ tail salog_output.txt                  # 3. the CSV the sa_log plugin wrote on release</a:t>
            </a:r>
          </a:p>
          <a:p>
            <a:pPr algn="l"/>
            <a:r>
              <a:rPr sz="1250" b="0">
                <a:solidFill>
                  <a:srgbClr val="1E7D3C"/>
                </a:solidFill>
                <a:latin typeface="Consolas"/>
              </a:rPr>
              <a:t>x1002c6s2b0n1,"demo_pbs.salog result=PASS",pavilion,released</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Run in Pavilion → job in PBS → the sa_log plugin calls saLog per node as it's released.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L9</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Output plugin: OpenSearch → Grafana</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11-opensearch.sh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-m pbs opensearch_verify        # 4 tests via PBS; each result → OpenSearch</a:t>
            </a:r>
          </a:p>
          <a:p>
            <a:pPr algn="l"/>
            <a:r>
              <a:rPr sz="1250" b="0">
                <a:solidFill>
                  <a:srgbClr val="1B2B34"/>
                </a:solidFill>
                <a:latin typeface="Consolas"/>
              </a:rPr>
              <a:t>created 4 tests, skipped 0, 0 errors.</a:t>
            </a:r>
          </a:p>
          <a:p>
            <a:pPr algn="l"/>
            <a:r>
              <a:rPr sz="1250" b="0">
                <a:solidFill>
                  <a:srgbClr val="1B2B34"/>
                </a:solidFill>
                <a:latin typeface="Consolas"/>
              </a:rPr>
              <a:t>sid: s75</a:t>
            </a:r>
          </a:p>
          <a:p>
            <a:pPr algn="l"/>
            <a:r>
              <a:rPr sz="1250" b="0">
                <a:solidFill>
                  <a:srgbClr val="1B2B34"/>
                </a:solidFill>
                <a:latin typeface="Consolas"/>
              </a:rPr>
              <a:t> </a:t>
            </a:r>
          </a:p>
          <a:p>
            <a:pPr algn="l"/>
            <a:r>
              <a:rPr sz="1400" b="1">
                <a:solidFill>
                  <a:srgbClr val="2E6DA4"/>
                </a:solidFill>
                <a:latin typeface="Consolas"/>
              </a:rPr>
              <a:t>$ qstat -a                                # through the scheduler</a:t>
            </a:r>
          </a:p>
          <a:p>
            <a:pPr algn="l"/>
            <a:r>
              <a:rPr sz="1250" b="0">
                <a:solidFill>
                  <a:srgbClr val="1B2B34"/>
                </a:solidFill>
                <a:latin typeface="Consolas"/>
              </a:rPr>
              <a:t>8389.pbs-server pavilion workq pav_opens*  1  1  R</a:t>
            </a:r>
          </a:p>
          <a:p>
            <a:pPr algn="l"/>
            <a:r>
              <a:rPr sz="1250" b="0">
                <a:solidFill>
                  <a:srgbClr val="1B2B34"/>
                </a:solidFill>
                <a:latin typeface="Consolas"/>
              </a:rPr>
              <a:t> </a:t>
            </a:r>
          </a:p>
          <a:p>
            <a:pPr algn="l"/>
            <a:r>
              <a:rPr sz="1400" b="1">
                <a:solidFill>
                  <a:srgbClr val="2E6DA4"/>
                </a:solidFill>
                <a:latin typeface="Consolas"/>
              </a:rPr>
              <a:t>$ python3 ~/opensearch_results.py --name opensearch_verify</a:t>
            </a:r>
          </a:p>
          <a:p>
            <a:pPr algn="l"/>
            <a:r>
              <a:rPr sz="1250" b="0">
                <a:solidFill>
                  <a:srgbClr val="1B2B34"/>
                </a:solidFill>
                <a:latin typeface="Consolas"/>
              </a:rPr>
              <a:t>pav_id   name                                          result</a:t>
            </a:r>
          </a:p>
          <a:p>
            <a:pPr algn="l"/>
            <a:r>
              <a:rPr sz="1250" b="0">
                <a:solidFill>
                  <a:srgbClr val="1E7D3C"/>
                </a:solidFill>
                <a:latin typeface="Consolas"/>
              </a:rPr>
              <a:t>s75.1    opensearch_verify.os_pass                     PASS</a:t>
            </a:r>
          </a:p>
          <a:p>
            <a:pPr algn="l"/>
            <a:r>
              <a:rPr sz="1250" b="0">
                <a:solidFill>
                  <a:srgbClr val="B32A2A"/>
                </a:solidFill>
                <a:latin typeface="Consolas"/>
              </a:rPr>
              <a:t>s75.2    opensearch_verify.os_fail                     FAIL</a:t>
            </a:r>
          </a:p>
          <a:p>
            <a:pPr algn="l"/>
            <a:r>
              <a:rPr sz="1250" b="0">
                <a:solidFill>
                  <a:srgbClr val="1E7D3C"/>
                </a:solidFill>
                <a:latin typeface="Consolas"/>
              </a:rPr>
              <a:t>s75.3    opensearch_verify.os_with_metrics             PASS</a:t>
            </a:r>
          </a:p>
          <a:p>
            <a:pPr algn="l"/>
            <a:r>
              <a:rPr sz="1250" b="0">
                <a:solidFill>
                  <a:srgbClr val="1E7D3C"/>
                </a:solidFill>
                <a:latin typeface="Consolas"/>
              </a:rPr>
              <a:t>s75.4    opensearch_verify.os_version_tag.v1.0-verify  PASS</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Shipped to OpenSearch, read back from the index — then on to Grafana dashboards.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L10</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Output plugin: MySQL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12-mysql.sh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demo_pbs.metrics          # every logger fires, incl. mysql</a:t>
            </a:r>
          </a:p>
          <a:p>
            <a:pPr algn="l"/>
            <a:r>
              <a:rPr sz="1250" b="0">
                <a:solidFill>
                  <a:srgbClr val="1B2B34"/>
                </a:solidFill>
                <a:latin typeface="Consolas"/>
              </a:rPr>
              <a:t>sid: s71</a:t>
            </a:r>
          </a:p>
          <a:p>
            <a:pPr algn="l"/>
            <a:r>
              <a:rPr sz="1250" b="0">
                <a:solidFill>
                  <a:srgbClr val="1B2B34"/>
                </a:solidFill>
                <a:latin typeface="Consolas"/>
              </a:rPr>
              <a:t>tests: 1</a:t>
            </a:r>
          </a:p>
          <a:p>
            <a:pPr algn="l"/>
            <a:r>
              <a:rPr sz="1250" b="0">
                <a:solidFill>
                  <a:srgbClr val="1B2B34"/>
                </a:solidFill>
                <a:latin typeface="Consolas"/>
              </a:rPr>
              <a:t> </a:t>
            </a:r>
          </a:p>
          <a:p>
            <a:pPr algn="l"/>
            <a:r>
              <a:rPr sz="1400" b="1">
                <a:solidFill>
                  <a:srgbClr val="2E6DA4"/>
                </a:solidFill>
                <a:latin typeface="Consolas"/>
              </a:rPr>
              <a:t>$ qstat -a                          # a real PBS job</a:t>
            </a:r>
          </a:p>
          <a:p>
            <a:pPr algn="l"/>
            <a:r>
              <a:rPr sz="1250" b="0">
                <a:solidFill>
                  <a:srgbClr val="1B2B34"/>
                </a:solidFill>
                <a:latin typeface="Consolas"/>
              </a:rPr>
              <a:t>8384.pbs-server pavilion workq pav_demo_*  1  1  R</a:t>
            </a:r>
          </a:p>
          <a:p>
            <a:pPr algn="l"/>
            <a:r>
              <a:rPr sz="1250" b="0">
                <a:solidFill>
                  <a:srgbClr val="1B2B34"/>
                </a:solidFill>
                <a:latin typeface="Consolas"/>
              </a:rPr>
              <a:t> </a:t>
            </a:r>
          </a:p>
          <a:p>
            <a:pPr algn="l"/>
            <a:r>
              <a:rPr sz="1400" b="1">
                <a:solidFill>
                  <a:srgbClr val="2E6DA4"/>
                </a:solidFill>
                <a:latin typeface="Consolas"/>
              </a:rPr>
              <a:t>$ mysql pavilion -e 'SELECT pav_id,name,result,sys_name,ROUND(duration,3) dur
                    FROM results ORDER BY logged_at DESC LIMIT 4'</a:t>
            </a:r>
          </a:p>
          <a:p>
            <a:pPr algn="l"/>
            <a:r>
              <a:rPr sz="1250" b="0">
                <a:solidFill>
                  <a:srgbClr val="1B2B34"/>
                </a:solidFill>
                <a:latin typeface="Consolas"/>
              </a:rPr>
              <a:t>pav_id  name                  result  sys_name    dur</a:t>
            </a:r>
          </a:p>
          <a:p>
            <a:pPr algn="l"/>
            <a:r>
              <a:rPr sz="1250" b="0">
                <a:solidFill>
                  <a:srgbClr val="1E7D3C"/>
                </a:solidFill>
                <a:latin typeface="Consolas"/>
              </a:rPr>
              <a:t>s74.2   demo_pbs.metrics      PASS    pbs-server  0.040</a:t>
            </a:r>
          </a:p>
          <a:p>
            <a:pPr algn="l"/>
            <a:r>
              <a:rPr sz="1250" b="0">
                <a:solidFill>
                  <a:srgbClr val="1E7D3C"/>
                </a:solidFill>
                <a:latin typeface="Consolas"/>
              </a:rPr>
              <a:t>s74.1   demo_pbs.pass         PASS    pbs-server  0.043</a:t>
            </a:r>
          </a:p>
          <a:p>
            <a:pPr algn="l"/>
            <a:r>
              <a:rPr sz="1250" b="0">
                <a:solidFill>
                  <a:srgbClr val="1E7D3C"/>
                </a:solidFill>
                <a:latin typeface="Consolas"/>
              </a:rPr>
              <a:t>s73.1   demo_modes.mode_demo  PASS    pbs-server  0.040</a:t>
            </a:r>
          </a:p>
          <a:p>
            <a:pPr algn="l"/>
            <a:r>
              <a:rPr sz="1250" b="0">
                <a:solidFill>
                  <a:srgbClr val="1E7D3C"/>
                </a:solidFill>
                <a:latin typeface="Consolas"/>
              </a:rPr>
              <a:t>s72.3   demo_perms.matrix...  PASS    pbs-server  0.040</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A result logger we wrote — every result lands in a MySQL table (passwordless local auth).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RESULT LOGGERS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Export results anywhere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Grafana — live dashboards &amp; trends  (shown today).</a:t>
            </a:r>
          </a:p>
          <a:p>
            <a:pPr>
              <a:spcAft>
                <a:spcPts val="1000"/>
              </a:spcAft>
            </a:pPr>
            <a:r>
              <a:rPr sz="2000" b="0">
                <a:solidFill>
                  <a:srgbClr val="21252B"/>
                </a:solidFill>
                <a:latin typeface="Arial"/>
              </a:rPr>
              <a:t>•  OpenSearch — index every result document  (shown today).</a:t>
            </a:r>
          </a:p>
          <a:p>
            <a:pPr>
              <a:spcAft>
                <a:spcPts val="1000"/>
              </a:spcAft>
            </a:pPr>
            <a:r>
              <a:rPr sz="2000" b="0">
                <a:solidFill>
                  <a:srgbClr val="21252B"/>
                </a:solidFill>
                <a:latin typeface="Arial"/>
              </a:rPr>
              <a:t>•  MySQL — a row per result in a relational table  (shown today).</a:t>
            </a:r>
          </a:p>
          <a:p>
            <a:pPr>
              <a:spcAft>
                <a:spcPts val="1000"/>
              </a:spcAft>
            </a:pPr>
            <a:r>
              <a:rPr sz="2000" b="0">
                <a:solidFill>
                  <a:srgbClr val="21252B"/>
                </a:solidFill>
                <a:latin typeface="Arial"/>
              </a:rPr>
              <a:t>•  PostgreSQL — same idea, for a Postgres shop.</a:t>
            </a:r>
          </a:p>
          <a:p>
            <a:pPr>
              <a:spcAft>
                <a:spcPts val="1000"/>
              </a:spcAft>
            </a:pPr>
            <a:r>
              <a:rPr sz="2000" b="0">
                <a:solidFill>
                  <a:srgbClr val="21252B"/>
                </a:solidFill>
                <a:latin typeface="Arial"/>
              </a:rPr>
              <a:t>•  [add your own] — a result logger is just a plugin: target any destination.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REAL-WORLD</a:t>
            </a:r>
          </a:p>
          <a:p>
            <a:r>
              <a:rPr sz="3600" b="1">
                <a:solidFill>
                  <a:srgbClr val="1F3B63"/>
                </a:solidFill>
                <a:latin typeface="Arial"/>
              </a:rPr>
              <a:t>Putting it together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IN PRACTICE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How we use it here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Define acceptance/regression tests once (incl. real benchmarks: HPL, HPCG).</a:t>
            </a:r>
          </a:p>
          <a:p>
            <a:pPr>
              <a:spcAft>
                <a:spcPts val="1000"/>
              </a:spcAft>
            </a:pPr>
            <a:r>
              <a:rPr sz="2000" b="0">
                <a:solidFill>
                  <a:srgbClr val="21252B"/>
                </a:solidFill>
                <a:latin typeface="Arial"/>
              </a:rPr>
              <a:t>•  Run through PBS across the cluster; permute across configurations.</a:t>
            </a:r>
          </a:p>
          <a:p>
            <a:pPr>
              <a:spcAft>
                <a:spcPts val="1000"/>
              </a:spcAft>
            </a:pPr>
            <a:r>
              <a:rPr sz="2000" b="0">
                <a:solidFill>
                  <a:srgbClr val="21252B"/>
                </a:solidFill>
                <a:latin typeface="Arial"/>
              </a:rPr>
              <a:t>•  Parse metrics; every result flows to CSV + OpenSearch automatically.</a:t>
            </a:r>
          </a:p>
          <a:p>
            <a:pPr>
              <a:spcAft>
                <a:spcPts val="1000"/>
              </a:spcAft>
            </a:pPr>
            <a:r>
              <a:rPr sz="2000" b="0">
                <a:solidFill>
                  <a:srgbClr val="21252B"/>
                </a:solidFill>
                <a:latin typeface="Arial"/>
              </a:rPr>
              <a:t>•  Grafana dashboards make trends and regressions visible over time.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WRAP-UP</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Recap</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YAML tests → build → run → parse → log. One model, everywhere.</a:t>
            </a:r>
          </a:p>
          <a:p>
            <a:pPr>
              <a:spcAft>
                <a:spcPts val="1000"/>
              </a:spcAft>
            </a:pPr>
            <a:r>
              <a:rPr sz="2000" b="0">
                <a:solidFill>
                  <a:srgbClr val="21252B"/>
                </a:solidFill>
                <a:latin typeface="Arial"/>
              </a:rPr>
              <a:t>•  Permutations turn one config into a whole test matrix.</a:t>
            </a:r>
          </a:p>
          <a:p>
            <a:pPr>
              <a:spcAft>
                <a:spcPts val="1000"/>
              </a:spcAft>
            </a:pPr>
            <a:r>
              <a:rPr sz="2000" b="0">
                <a:solidFill>
                  <a:srgbClr val="21252B"/>
                </a:solidFill>
                <a:latin typeface="Arial"/>
              </a:rPr>
              <a:t>•  Schedulers (incl. our PBS plugin) run it at cluster scale.</a:t>
            </a:r>
          </a:p>
          <a:p>
            <a:pPr>
              <a:spcAft>
                <a:spcPts val="1000"/>
              </a:spcAft>
            </a:pPr>
            <a:r>
              <a:rPr sz="2000" b="0">
                <a:solidFill>
                  <a:srgbClr val="21252B"/>
                </a:solidFill>
                <a:latin typeface="Arial"/>
              </a:rPr>
              <a:t>•  Plugins extend everything — our commands and result loggers included.</a:t>
            </a:r>
          </a:p>
          <a:p>
            <a:pPr>
              <a:spcAft>
                <a:spcPts val="1000"/>
              </a:spcAft>
            </a:pPr>
            <a:r>
              <a:rPr sz="2000" b="0">
                <a:solidFill>
                  <a:srgbClr val="21252B"/>
                </a:solidFill>
                <a:latin typeface="Arial"/>
              </a:rPr>
              <a:t>•  Results become dashboards. Questions?</a:t>
            </a:r>
          </a:p>
          <a:p>
            <a:pPr>
              <a:spcAft>
                <a:spcPts val="1000"/>
              </a:spcAft>
            </a:pPr>
            <a:r>
              <a:rPr sz="2000" b="0">
                <a:solidFill>
                  <a:srgbClr val="21252B"/>
                </a:solidFill>
                <a:latin typeface="Arial"/>
              </a:rPr>
              <a:t>•  Learn more →  github.com/hpc/pavilion2   ·   pavilion2.readthedocs.io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