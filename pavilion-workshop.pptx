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expectations: ~60 min, concept + lots of live demos. We'll go from a one-line 'hello' test all the way to custom plugins shipping results to OpenSearch.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pitch for a mixed audience: stop hand-writing brittle test scripts. Describe a test once in YAML; Pavilion handles building, scheduling, running, parsing, and recording results — consistently, everywhere.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'why should I care' slide. Baseline testing pairs with regression: you can't spot a regression without a known-good baseline to compare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Name each concept plainly. 'suite.test' is how you address a test, e.g. demo_echo.demo_pass_raw.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mental model for the demos: run -&gt; build (reused) -&gt; kickoff -&gt; run -&gt; parse -&gt; 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build step is distinct from the run. Three flavors: compile from source, build from a source directory, or copy pre-built binaries. Built once (on the login node — compute nodes often have no internet) and reused, which is why demos show BUILD_REUSED.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Emphasize: the exit code decides PASS/FAIL.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fuller shape: a couple of variables up top (used below), the PBS scheduler targeting a queue, then the four stages — build (compile from source), run, result_parse (regex → triad_mbs), and result_evaluate (a pass/fail expression). Still just YAML.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Tip: 'pav --quiet' silences a harmless config-label warning for clean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Pavilion records every test run persistently. 'pav status all' searches the whole history (not just the last day); -F takes keywords (PASSED/FAILED) or field filters (name=…), joined with 'and'/'or'. Note the Apr-26 failure — the record goes back as far as your runs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tests from one 'pav run'; PASS vs FAIL is purely the exit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Many parsers exist (regex, constant, table, split…) plus result_evaluate for computed pass/fail. Raw stdout becomes queryable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parsed fields are exactly what ships to OpenSearch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feature people remember. One definition, six tests, each with its own subtitle.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out the auto-generated subtitles (size-mode).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test, different scheduler = portability. Our PBS plugin is the custom 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schedule.pbs maps to #PBS resource requests via our plugin.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running step shows the same job in both Pavilion (RUNNING) and PBS (state R). Live tip: 'pav run' then immediately 'pav status' / 'qstat -a' to catch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Modes = reuse. One test, many contexts.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label result is the proof. Modes merge on top of the resolved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Series group test sets. (I use unordered for a robust live run.)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kinds of custom plugins next: command plugins and result loggers.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add new verbs to pav itself — just Python classes Pavilion auto-discovers.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recent/test-summary read Pavilion's own run database via cmd_utils.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 loggers run at the end of the results stage. One config, applies to all runs. (Redact the OpenSearch password if you ever show pavilion.yaml.)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CSV page also shows scheduler dispatch — demo_pass_pbs is a real PBS job (qstat) — then the csv_file logger records it. Parsed metrics land in 'extra', permute vars in 'permute_on'.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saLog is a logger specific to us (NASA/NOAA); it just writes CSV, so its output looks like the csv_file logger's. This is our emulation script on pbs-server — flags -n/-c/-u/-a. Pavilion's sa_log result plugin invokes it with action='released'.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the suite, query the index to prove indexing, then open Grafana (http://&lt;your-grafana-host&gt;:3000). Export OS_PASS before the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Built with pymysql; connects via unix_socket so there's NO password in pavilion.yaml. The row-per-test appears the moment the run finishes.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point: loggers are plugins, so results can go wherever you need. csv_file / saLog / opensearch / mysql all exist and are shown today; PostgreSQL is an example you'd write a logger for — '[add your own]' says exactly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Pavilion isn't just running tests — it's a data pipeline from 'did it pass' to 'how is the system trending'.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up for Q&amp;A. Offer to walk through any demo again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FFFFFF"/>
                </a:solidFill>
                <a:latin typeface="Arial"/>
              </a:rPr>
              <a:t>Pavilion</a:t>
            </a:r>
          </a:p>
          <a:p>
            <a:r>
              <a:rPr sz="2200" b="0">
                <a:solidFill>
                  <a:srgbClr val="BFD3EA"/>
                </a:solidFill>
                <a:latin typeface="Arial"/>
              </a:rPr>
              <a:t>A YAML-driven test framework for HPC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429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9FD0FF"/>
                </a:solidFill>
                <a:latin typeface="Arial"/>
              </a:rPr>
              <a:t>github.com/hpc/pavilion2</a:t>
            </a:r>
            <a:r>
              <a:rPr sz="1600" b="0">
                <a:solidFill>
                  <a:srgbClr val="6F86A6"/>
                </a:solidFill>
                <a:latin typeface="Arial"/>
              </a:rPr>
              <a:t>    ·    </a:t>
            </a:r>
            <a:r>
              <a:rPr sz="1600" b="0">
                <a:solidFill>
                  <a:srgbClr val="9FD0FF"/>
                </a:solidFill>
                <a:latin typeface="Arial"/>
              </a:rPr>
              <a:t>pavilion2.readthedocs.io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760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9FB6D2"/>
                </a:solidFill>
                <a:latin typeface="Arial"/>
              </a:rPr>
              <a:t>Workshop · live demos on the PBS cluster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651760"/>
            <a:ext cx="12191695" cy="155448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834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A4"/>
                </a:solidFill>
                <a:latin typeface="Arial"/>
              </a:rPr>
              <a:t>THE PROBLEM</a:t>
            </a:r>
          </a:p>
          <a:p>
            <a:r>
              <a:rPr sz="3600" b="1">
                <a:solidFill>
                  <a:srgbClr val="1F3B63"/>
                </a:solidFill>
                <a:latin typeface="Arial"/>
              </a:rPr>
              <a:t>Why Pavilion?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What Pavilion 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An open-source (LANL) framework for testing HPC systems.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Mature &amp; battle-tested — years of development at LANL, hardened on production supercomputers.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Tests are YAML configs that wrap your test codes — not scripts you maintain by hand.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Runs the same tests across systems and schedulers (raw, Slurm, Flux, PBS).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Plugin-driven: schedulers, result parsers, result loggers, commands, system variables.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WHERE IT FITS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Built for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Acceptance testing — does a new or returned system meet spec before users get it?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System validation — confirm the whole stack still behaves after maintenance.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Baseline testing — capture known-good numbers to measure future runs against.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Regression testing — catch when a change quietly breaks or slows something.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Reproducibility — the same test, run the same way, by anyone, every time.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WHY IT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The problem it solves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A new cluster, a maintenance window, or a hardware repair — does everything still work and perform?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Hand-rolled scripts drift, differ per person, and don't record results.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Pavilion records every run — a searchable history you filter by result, name, or date.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Pavilion gives one declarative definition + a full run/results pipeline.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Results are captured, parsed, and shippable to dashboards (OpenSearch → Grafana).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651760"/>
            <a:ext cx="12191695" cy="155448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834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A4"/>
                </a:solidFill>
                <a:latin typeface="Arial"/>
              </a:rPr>
              <a:t>HOW IT FITS TOGETHER</a:t>
            </a:r>
          </a:p>
          <a:p>
            <a:r>
              <a:rPr sz="3600" b="1">
                <a:solidFill>
                  <a:srgbClr val="1F3B63"/>
                </a:solidFill>
                <a:latin typeface="Arial"/>
              </a:rPr>
              <a:t>Core concepts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CONCEPTS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The building blocks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Test — one thing to run, defined in YAML (build + run + result parsing).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Suite — a YAML file holding related tests (e.g. demo_echo.yaml).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Config layering — host → mode → test: defaults get overridden in that order.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Variables &amp; permutations — one definition expands into many test instances.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config_dirs — where Pavilion looks for suites, modes, series, and plugins.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UNDER THE HOOD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The test lifecycle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1. Resolve — read configs, apply host/mode overrides, expand permutations.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2. Build — set up the test's source/build once (reused across runs).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3. Kickoff — hand the test to the scheduler (raw / PBS / Slurm / Flux).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4. Run — execute run.cmds on the target node(s).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5. Results — parse output → results.json, then hand off to result loggers.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UNDER THE HOOD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The build phase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Before a test runs, Pavilion builds it — once — then reuses that build across runs.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Compile from source — hand it a source archive/URL + build commands; it builds for you.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Build from a source directory — point at a local dir and run your build steps there.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Or just stage binaries — copy in a directory of pre-built binaries, no compile at all.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Builds are cached &amp; shared — reruns skip rebuilding (the 'BUILD_REUSED' you'll see live).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CONCEPTS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Anatomy of a test (YAML)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674"/>
                </a:solidFill>
                <a:latin typeface="Arial"/>
              </a:rPr>
              <a:t>A trivial test: a name, a scheduler, and the commands to run.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48840"/>
            <a:ext cx="10972800" cy="4206240"/>
          </a:xfrm>
          <a:prstGeom prst="rect">
            <a:avLst/>
          </a:prstGeom>
          <a:solidFill>
            <a:srgbClr val="F3F4F6"/>
          </a:solidFill>
          <a:ln w="12700">
            <a:solidFill>
              <a:srgbClr val="D5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tIns="164592"/>
          <a:lstStyle/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demo_pass_raw: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summary: 'Trivial PASS via raw scheduler'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scheduler: raw            # run locally, no batch system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run: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  cmds: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    - 'echo "hello from $(hostname)" &gt; demo.txt'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    - 'cat demo.txt'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</a:t>
            </a:r>
          </a:p>
          <a:p>
            <a:pPr algn="l"/>
            <a:r>
              <a:rPr sz="1400" b="0">
                <a:solidFill>
                  <a:srgbClr val="5B6674"/>
                </a:solidFill>
                <a:latin typeface="Consolas"/>
              </a:rPr>
              <a:t># PASS/FAIL comes from the exit code of the last command.</a:t>
            </a:r>
          </a:p>
          <a:p>
            <a:pPr algn="l"/>
            <a:r>
              <a:rPr sz="1400" b="0">
                <a:solidFill>
                  <a:srgbClr val="5B6674"/>
                </a:solidFill>
                <a:latin typeface="Consolas"/>
              </a:rPr>
              <a:t># Address it as:  suite.test   -&gt;   demo_echo.demo_pass_raw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CONCEPTS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A fuller test (YAML)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674"/>
                </a:solidFill>
                <a:latin typeface="Arial"/>
              </a:rPr>
              <a:t>Same shape, more of it — variables, PBS + a queue, and build → run → parse → evaluate.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48840"/>
            <a:ext cx="10972800" cy="4572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5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tIns="164592"/>
          <a:lstStyle/>
          <a:p>
            <a:pPr algn="l"/>
            <a:r>
              <a:rPr sz="1350" b="0">
                <a:solidFill>
                  <a:srgbClr val="1B2B34"/>
                </a:solidFill>
                <a:latin typeface="Consolas"/>
              </a:rPr>
              <a:t>stream:</a:t>
            </a:r>
          </a:p>
          <a:p>
            <a:pPr algn="l"/>
            <a:r>
              <a:rPr sz="1350" b="0">
                <a:solidFill>
                  <a:srgbClr val="1B2B34"/>
                </a:solidFill>
                <a:latin typeface="Consolas"/>
              </a:rPr>
              <a:t>  variables:</a:t>
            </a:r>
          </a:p>
          <a:p>
            <a:pPr algn="l"/>
            <a:r>
              <a:rPr sz="1350" b="0">
                <a:solidFill>
                  <a:srgbClr val="1B2B34"/>
                </a:solidFill>
                <a:latin typeface="Consolas"/>
              </a:rPr>
              <a:t>    array_size: 40000000</a:t>
            </a:r>
          </a:p>
          <a:p>
            <a:pPr algn="l"/>
            <a:r>
              <a:rPr sz="1350" b="0">
                <a:solidFill>
                  <a:srgbClr val="1B2B34"/>
                </a:solidFill>
                <a:latin typeface="Consolas"/>
              </a:rPr>
              <a:t>    threads: 4</a:t>
            </a:r>
          </a:p>
          <a:p>
            <a:pPr algn="l"/>
            <a:r>
              <a:rPr sz="1350" b="0">
                <a:solidFill>
                  <a:srgbClr val="1B2B34"/>
                </a:solidFill>
                <a:latin typeface="Consolas"/>
              </a:rPr>
              <a:t>  scheduler: pbs</a:t>
            </a:r>
          </a:p>
          <a:p>
            <a:pPr algn="l"/>
            <a:r>
              <a:rPr sz="1350" b="0">
                <a:solidFill>
                  <a:srgbClr val="1B2B34"/>
                </a:solidFill>
                <a:latin typeface="Consolas"/>
              </a:rPr>
              <a:t>  schedule:</a:t>
            </a:r>
          </a:p>
          <a:p>
            <a:pPr algn="l"/>
            <a:r>
              <a:rPr sz="1350" b="0">
                <a:solidFill>
                  <a:srgbClr val="1B2B34"/>
                </a:solidFill>
                <a:latin typeface="Consolas"/>
              </a:rPr>
              <a:t>    pbs:</a:t>
            </a:r>
          </a:p>
          <a:p>
            <a:pPr algn="l"/>
            <a:r>
              <a:rPr sz="1350" b="0">
                <a:solidFill>
                  <a:srgbClr val="1B2B34"/>
                </a:solidFill>
                <a:latin typeface="Consolas"/>
              </a:rPr>
              <a:t>      queue: workq          # target a queue</a:t>
            </a:r>
          </a:p>
          <a:p>
            <a:pPr algn="l"/>
            <a:r>
              <a:rPr sz="1350" b="0">
                <a:solidFill>
                  <a:srgbClr val="1B2B34"/>
                </a:solidFill>
                <a:latin typeface="Consolas"/>
              </a:rPr>
              <a:t>      nodes: 1</a:t>
            </a:r>
          </a:p>
          <a:p>
            <a:pPr algn="l"/>
            <a:r>
              <a:rPr sz="1350" b="0">
                <a:solidFill>
                  <a:srgbClr val="1B2B34"/>
                </a:solidFill>
                <a:latin typeface="Consolas"/>
              </a:rPr>
              <a:t>      walltime: '00:05:00'</a:t>
            </a:r>
          </a:p>
          <a:p>
            <a:pPr algn="l"/>
            <a:r>
              <a:rPr sz="1350" b="0">
                <a:solidFill>
                  <a:srgbClr val="1B2B34"/>
                </a:solidFill>
                <a:latin typeface="Consolas"/>
              </a:rPr>
              <a:t>  build:                    # compile from source</a:t>
            </a:r>
          </a:p>
          <a:p>
            <a:pPr algn="l"/>
            <a:r>
              <a:rPr sz="1350" b="0">
                <a:solidFill>
                  <a:srgbClr val="1B2B34"/>
                </a:solidFill>
                <a:latin typeface="Consolas"/>
              </a:rPr>
              <a:t>    source_path: stream.c</a:t>
            </a:r>
          </a:p>
          <a:p>
            <a:pPr algn="l"/>
            <a:r>
              <a:rPr sz="1350" b="0">
                <a:solidFill>
                  <a:srgbClr val="1B2B34"/>
                </a:solidFill>
                <a:latin typeface="Consolas"/>
              </a:rPr>
              <a:t>    cmds: ['gcc -fopenmp -DN={{array_size}} stream.c -o stream']</a:t>
            </a:r>
          </a:p>
          <a:p>
            <a:pPr algn="l"/>
            <a:r>
              <a:rPr sz="1350" b="0">
                <a:solidFill>
                  <a:srgbClr val="1B2B34"/>
                </a:solidFill>
                <a:latin typeface="Consolas"/>
              </a:rPr>
              <a:t>  run:</a:t>
            </a:r>
          </a:p>
          <a:p>
            <a:pPr algn="l"/>
            <a:r>
              <a:rPr sz="1350" b="0">
                <a:solidFill>
                  <a:srgbClr val="1B2B34"/>
                </a:solidFill>
                <a:latin typeface="Consolas"/>
              </a:rPr>
              <a:t>    env: {OMP_NUM_THREADS: '{{threads}}'}</a:t>
            </a:r>
          </a:p>
          <a:p>
            <a:pPr algn="l"/>
            <a:r>
              <a:rPr sz="1350" b="0">
                <a:solidFill>
                  <a:srgbClr val="1B2B34"/>
                </a:solidFill>
                <a:latin typeface="Consolas"/>
              </a:rPr>
              <a:t>    cmds: ['./stream']</a:t>
            </a:r>
          </a:p>
          <a:p>
            <a:pPr algn="l"/>
            <a:r>
              <a:rPr sz="1350" b="0">
                <a:solidFill>
                  <a:srgbClr val="1B2B34"/>
                </a:solidFill>
                <a:latin typeface="Consolas"/>
              </a:rPr>
              <a:t>  result_parse:</a:t>
            </a:r>
          </a:p>
          <a:p>
            <a:pPr algn="l"/>
            <a:r>
              <a:rPr sz="1350" b="0">
                <a:solidFill>
                  <a:srgbClr val="1B2B34"/>
                </a:solidFill>
                <a:latin typeface="Consolas"/>
              </a:rPr>
              <a:t>    regex:</a:t>
            </a:r>
          </a:p>
          <a:p>
            <a:pPr algn="l"/>
            <a:r>
              <a:rPr sz="1350" b="0">
                <a:solidFill>
                  <a:srgbClr val="1B2B34"/>
                </a:solidFill>
                <a:latin typeface="Consolas"/>
              </a:rPr>
              <a:t>      triad_mbs: {regex: 'Triad:\s+(\S+)'}</a:t>
            </a:r>
          </a:p>
          <a:p>
            <a:pPr algn="l"/>
            <a:r>
              <a:rPr sz="1350" b="0">
                <a:solidFill>
                  <a:srgbClr val="1B2B34"/>
                </a:solidFill>
                <a:latin typeface="Consolas"/>
              </a:rPr>
              <a:t>  result_evaluate:</a:t>
            </a:r>
          </a:p>
          <a:p>
            <a:pPr algn="l"/>
            <a:r>
              <a:rPr sz="1350" b="0">
                <a:solidFill>
                  <a:srgbClr val="1B2B34"/>
                </a:solidFill>
                <a:latin typeface="Consolas"/>
              </a:rPr>
              <a:t>    result: 'triad_mbs &gt; 10000'    # PASS only if fast enough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CONCEPTS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The CLI you'll use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pav run &lt;suite.test&gt;   — build + run a test (or a whole suite).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pav status &lt;sid&gt;       — where are my tests / did they pass?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pav results &lt;sid&gt;      — the results table; --full for the full JSON.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pav wait &lt;sid&gt;         — block until tests finish.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pav show tests|sched|modes|series   — what's available.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5B6674"/>
                </a:solidFill>
                <a:latin typeface="Arial"/>
              </a:rPr>
              <a:t>    – pav log, pav cat, pav ls, pav series … — inspect a run in detail.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LIVE DEMO · RECORDS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Your whole run history — searchable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03920" y="457200"/>
            <a:ext cx="3108960" cy="50292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▶  11-history.sh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10972800" cy="4343400"/>
          </a:xfrm>
          <a:prstGeom prst="rect">
            <a:avLst/>
          </a:prstGeom>
          <a:solidFill>
            <a:srgbClr val="F3F4F6"/>
          </a:solidFill>
          <a:ln w="12700">
            <a:solidFill>
              <a:srgbClr val="D5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tIns="146304"/>
          <a:lstStyle/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pav status all -F failed              # every failed run, all the way back</a:t>
            </a:r>
          </a:p>
          <a:p>
            <a:pPr algn="l"/>
            <a:r>
              <a:rPr sz="1250" b="0">
                <a:solidFill>
                  <a:srgbClr val="B32A2A"/>
                </a:solidFill>
                <a:latin typeface="Consolas"/>
              </a:rPr>
              <a:t>s49.1   FAIL   demo_echo.demo_fail_raw       14:57</a:t>
            </a:r>
          </a:p>
          <a:p>
            <a:pPr algn="l"/>
            <a:r>
              <a:rPr sz="1250" b="0">
                <a:solidFill>
                  <a:srgbClr val="B32A2A"/>
                </a:solidFill>
                <a:latin typeface="Consolas"/>
              </a:rPr>
              <a:t>s44.2   FAIL   opensearch_verify.os_fail     13:57</a:t>
            </a:r>
          </a:p>
          <a:p>
            <a:pPr algn="l"/>
            <a:r>
              <a:rPr sz="1250" b="0">
                <a:solidFill>
                  <a:srgbClr val="B32A2A"/>
                </a:solidFill>
                <a:latin typeface="Consolas"/>
              </a:rPr>
              <a:t>s33.2   FAIL   demo_echo.demo_fail_raw       Apr 26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 </a:t>
            </a:r>
          </a:p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pav status all -F 'name=demo_echo.demo_metrics'    # one test, every run</a:t>
            </a:r>
          </a:p>
          <a:p>
            <a:pPr algn="l"/>
            <a:r>
              <a:rPr sz="1250" b="0">
                <a:solidFill>
                  <a:srgbClr val="1E7D3C"/>
                </a:solidFill>
                <a:latin typeface="Consolas"/>
              </a:rPr>
              <a:t>s52.1   PASS   demo_echo.demo_metrics    15:00</a:t>
            </a:r>
          </a:p>
          <a:p>
            <a:pPr algn="l"/>
            <a:r>
              <a:rPr sz="1250" b="0">
                <a:solidFill>
                  <a:srgbClr val="1E7D3C"/>
                </a:solidFill>
                <a:latin typeface="Consolas"/>
              </a:rPr>
              <a:t>s47.1   PASS   demo_echo.demo_metrics    14:56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 </a:t>
            </a:r>
          </a:p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pav status all -F 'name=demo_echo.demo_fail_raw and failed'   # combine filters</a:t>
            </a:r>
          </a:p>
          <a:p>
            <a:pPr algn="l"/>
            <a:r>
              <a:rPr sz="1250" b="0">
                <a:solidFill>
                  <a:srgbClr val="B32A2A"/>
                </a:solidFill>
                <a:latin typeface="Consolas"/>
              </a:rPr>
              <a:t>s49.1   FAIL   demo_echo.demo_fail_raw    14:57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447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674"/>
                </a:solidFill>
                <a:latin typeface="Arial"/>
              </a:rPr>
              <a:t>Every run is kept. 'all' searches the full history; -F filters — and combines — by result, name, date…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LIVE DEMO · L1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Basics: PASS and FAIL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03920" y="457200"/>
            <a:ext cx="3108960" cy="50292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▶  01-basic.sh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10972800" cy="4343400"/>
          </a:xfrm>
          <a:prstGeom prst="rect">
            <a:avLst/>
          </a:prstGeom>
          <a:solidFill>
            <a:srgbClr val="F3F4F6"/>
          </a:solidFill>
          <a:ln w="12700">
            <a:solidFill>
              <a:srgbClr val="D5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tIns="146304"/>
          <a:lstStyle/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pav run demo_echo.demo_pass_raw demo_echo.demo_fail_raw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created 2 tests, 0 errors.  Kicked off series s36.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 </a:t>
            </a:r>
          </a:p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pav status s36</a:t>
            </a:r>
          </a:p>
          <a:p>
            <a:pPr algn="l"/>
            <a:r>
              <a:rPr sz="1250" b="0">
                <a:solidFill>
                  <a:srgbClr val="1E7D3C"/>
                </a:solidFill>
                <a:latin typeface="Consolas"/>
              </a:rPr>
              <a:t>s36.1  COMPLETE  PASS  demo_echo.demo_pass_raw</a:t>
            </a:r>
          </a:p>
          <a:p>
            <a:pPr algn="l"/>
            <a:r>
              <a:rPr sz="1250" b="0">
                <a:solidFill>
                  <a:srgbClr val="B32A2A"/>
                </a:solidFill>
                <a:latin typeface="Consolas"/>
              </a:rPr>
              <a:t>s36.2  COMPLETE  FAIL  demo_echo.demo_fail_raw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 </a:t>
            </a:r>
          </a:p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pav results s36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Test Results: s36</a:t>
            </a:r>
          </a:p>
          <a:p>
            <a:pPr algn="l"/>
            <a:r>
              <a:rPr sz="1250" b="0">
                <a:solidFill>
                  <a:srgbClr val="1E7D3C"/>
                </a:solidFill>
                <a:latin typeface="Consolas"/>
              </a:rPr>
              <a:t> s36.1 | demo_echo.demo_pass_raw | PASS</a:t>
            </a:r>
          </a:p>
          <a:p>
            <a:pPr algn="l"/>
            <a:r>
              <a:rPr sz="1250" b="0">
                <a:solidFill>
                  <a:srgbClr val="B32A2A"/>
                </a:solidFill>
                <a:latin typeface="Consolas"/>
              </a:rPr>
              <a:t> s36.2 | demo_echo.demo_fail_raw | FAIL   (exit 7, on purpose)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447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674"/>
                </a:solidFill>
                <a:latin typeface="Arial"/>
              </a:rPr>
              <a:t>Run a suite, check status, read results. FAIL is intentional (exit 7).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651760"/>
            <a:ext cx="12191695" cy="155448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834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A4"/>
                </a:solidFill>
                <a:latin typeface="Arial"/>
              </a:rPr>
              <a:t>RESULT PARSING</a:t>
            </a:r>
          </a:p>
          <a:p>
            <a:r>
              <a:rPr sz="3600" b="1">
                <a:solidFill>
                  <a:srgbClr val="1F3B63"/>
                </a:solidFill>
                <a:latin typeface="Arial"/>
              </a:rPr>
              <a:t>Getting data out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Result parsing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674"/>
                </a:solidFill>
                <a:latin typeface="Arial"/>
              </a:rPr>
              <a:t>Regex parsers pull values out of the test's output into structured results.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48840"/>
            <a:ext cx="10972800" cy="4206240"/>
          </a:xfrm>
          <a:prstGeom prst="rect">
            <a:avLst/>
          </a:prstGeom>
          <a:solidFill>
            <a:srgbClr val="F3F4F6"/>
          </a:solidFill>
          <a:ln w="12700">
            <a:solidFill>
              <a:srgbClr val="D5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tIns="164592"/>
          <a:lstStyle/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demo_metrics: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scheduler: raw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run: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  cmds: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    - 'echo "throughput 123.45"'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    - 'echo "latency 5.6"'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result_parse: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  regex: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    throughput_mbs: { regex: 'throughput (\S+)', action: store }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    latency_ms:     { regex: 'latency (\S+)',    action: store }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LIVE DEMO · L2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Parsed metrics in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03920" y="457200"/>
            <a:ext cx="3108960" cy="50292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▶  02-metrics.sh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10972800" cy="4343400"/>
          </a:xfrm>
          <a:prstGeom prst="rect">
            <a:avLst/>
          </a:prstGeom>
          <a:solidFill>
            <a:srgbClr val="F3F4F6"/>
          </a:solidFill>
          <a:ln w="12700">
            <a:solidFill>
              <a:srgbClr val="D5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tIns="146304"/>
          <a:lstStyle/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pav run demo_echo.demo_metrics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Kicked off series s37.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 </a:t>
            </a:r>
          </a:p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pav status s37</a:t>
            </a:r>
          </a:p>
          <a:p>
            <a:pPr algn="l"/>
            <a:r>
              <a:rPr sz="1250" b="0">
                <a:solidFill>
                  <a:srgbClr val="1E7D3C"/>
                </a:solidFill>
                <a:latin typeface="Consolas"/>
              </a:rPr>
              <a:t>s37.1  COMPLETE  PASS  demo_echo.demo_metrics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 </a:t>
            </a:r>
          </a:p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pav results --full s37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  'throughput_mbs': 123.45,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  'latency_ms': 5.6,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  'errors': 0,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447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674"/>
                </a:solidFill>
                <a:latin typeface="Arial"/>
              </a:rPr>
              <a:t>Those numbers are now in results.json — ready for logging and dashboards.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651760"/>
            <a:ext cx="12191695" cy="155448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834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A4"/>
                </a:solidFill>
                <a:latin typeface="Arial"/>
              </a:rPr>
              <a:t>PERMUTATIONS</a:t>
            </a:r>
          </a:p>
          <a:p>
            <a:r>
              <a:rPr sz="3600" b="1">
                <a:solidFill>
                  <a:srgbClr val="1F3B63"/>
                </a:solidFill>
                <a:latin typeface="Arial"/>
              </a:rPr>
              <a:t>One config → many tests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THE BIG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Permutations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674"/>
                </a:solidFill>
                <a:latin typeface="Arial"/>
              </a:rPr>
              <a:t>permute_on + variable lists generate one test instance per combination.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48840"/>
            <a:ext cx="10972800" cy="4206240"/>
          </a:xfrm>
          <a:prstGeom prst="rect">
            <a:avLst/>
          </a:prstGeom>
          <a:solidFill>
            <a:srgbClr val="F3F4F6"/>
          </a:solidFill>
          <a:ln w="12700">
            <a:solidFill>
              <a:srgbClr val="D5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tIns="164592"/>
          <a:lstStyle/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matrix: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scheduler: raw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permute_on: [size, mode]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variables: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  size: ['small', 'medium', 'large']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  mode: ['read', 'write']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subtitle: '{{size}}-{{mode}}'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run: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  cmds: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    - 'echo "size={{size}} mode={{mode}}"'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</a:t>
            </a:r>
          </a:p>
          <a:p>
            <a:pPr algn="l"/>
            <a:r>
              <a:rPr sz="1400" b="0">
                <a:solidFill>
                  <a:srgbClr val="5B6674"/>
                </a:solidFill>
                <a:latin typeface="Consolas"/>
              </a:rPr>
              <a:t># 3 sizes x 2 modes  =&gt;  6 test instances, one config.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LIVE DEMO · L3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Permutations expand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03920" y="457200"/>
            <a:ext cx="3108960" cy="50292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▶  03-permutations.sh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10972800" cy="4343400"/>
          </a:xfrm>
          <a:prstGeom prst="rect">
            <a:avLst/>
          </a:prstGeom>
          <a:solidFill>
            <a:srgbClr val="F3F4F6"/>
          </a:solidFill>
          <a:ln w="12700">
            <a:solidFill>
              <a:srgbClr val="D5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tIns="146304"/>
          <a:lstStyle/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pav run demo_perms.matrix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Test set 'demo_perms.matrix' created 6 tests, 0 errors.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 </a:t>
            </a:r>
          </a:p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pav status s46</a:t>
            </a:r>
          </a:p>
          <a:p>
            <a:pPr algn="l"/>
            <a:r>
              <a:rPr sz="1250" b="0">
                <a:solidFill>
                  <a:srgbClr val="1E7D3C"/>
                </a:solidFill>
                <a:latin typeface="Consolas"/>
              </a:rPr>
              <a:t>s46.1  PASS  demo_perms.matrix.small-read</a:t>
            </a:r>
          </a:p>
          <a:p>
            <a:pPr algn="l"/>
            <a:r>
              <a:rPr sz="1250" b="0">
                <a:solidFill>
                  <a:srgbClr val="1E7D3C"/>
                </a:solidFill>
                <a:latin typeface="Consolas"/>
              </a:rPr>
              <a:t>s46.2  PASS  demo_perms.matrix.medium-read</a:t>
            </a:r>
          </a:p>
          <a:p>
            <a:pPr algn="l"/>
            <a:r>
              <a:rPr sz="1250" b="0">
                <a:solidFill>
                  <a:srgbClr val="1E7D3C"/>
                </a:solidFill>
                <a:latin typeface="Consolas"/>
              </a:rPr>
              <a:t>s46.3  PASS  demo_perms.matrix.large-read</a:t>
            </a:r>
          </a:p>
          <a:p>
            <a:pPr algn="l"/>
            <a:r>
              <a:rPr sz="1250" b="0">
                <a:solidFill>
                  <a:srgbClr val="1E7D3C"/>
                </a:solidFill>
                <a:latin typeface="Consolas"/>
              </a:rPr>
              <a:t>s46.4  PASS  demo_perms.matrix.small-write</a:t>
            </a:r>
          </a:p>
          <a:p>
            <a:pPr algn="l"/>
            <a:r>
              <a:rPr sz="1250" b="0">
                <a:solidFill>
                  <a:srgbClr val="1E7D3C"/>
                </a:solidFill>
                <a:latin typeface="Consolas"/>
              </a:rPr>
              <a:t>s46.5  PASS  demo_perms.matrix.medium-write</a:t>
            </a:r>
          </a:p>
          <a:p>
            <a:pPr algn="l"/>
            <a:r>
              <a:rPr sz="1250" b="0">
                <a:solidFill>
                  <a:srgbClr val="1E7D3C"/>
                </a:solidFill>
                <a:latin typeface="Consolas"/>
              </a:rPr>
              <a:t>s46.6  PASS  demo_perms.matrix.large-write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447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674"/>
                </a:solidFill>
                <a:latin typeface="Arial"/>
              </a:rPr>
              <a:t>One YAML block → six named test instances, all PASS.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651760"/>
            <a:ext cx="12191695" cy="155448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834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A4"/>
                </a:solidFill>
                <a:latin typeface="Arial"/>
              </a:rPr>
              <a:t>RUNNING AT SCALE</a:t>
            </a:r>
          </a:p>
          <a:p>
            <a:r>
              <a:rPr sz="3600" b="1">
                <a:solidFill>
                  <a:srgbClr val="1F3B63"/>
                </a:solidFill>
                <a:latin typeface="Arial"/>
              </a:rPr>
              <a:t>Schedulers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SCHEDULERS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Schedulers &amp; the PBS plugin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Built-in scheduler plugins: raw (local), slurm, flux, pbs.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Switch by setting `scheduler:` — the test body doesn't change.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The PBS plugin (ours) submits real qsub jobs and maps nodes/tasks/walltime/queue.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Scheduler variables (sched.*) expose node lists, chunks, task counts to the test.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SCHEDULERS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A PBS test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10972800" cy="4206240"/>
          </a:xfrm>
          <a:prstGeom prst="rect">
            <a:avLst/>
          </a:prstGeom>
          <a:solidFill>
            <a:srgbClr val="F3F4F6"/>
          </a:solidFill>
          <a:ln w="12700">
            <a:solidFill>
              <a:srgbClr val="D5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tIns="164592"/>
          <a:lstStyle/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demo_pass_pbs: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scheduler: pbs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schedule: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  pbs: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    nodes: 1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    tasks: 1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    walltime: '00:00:30'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    queue: workq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run: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  cmds: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    - 'echo "pbs job on $(hostname)"'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LIVE DEMO · L4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Submit to PBS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03920" y="457200"/>
            <a:ext cx="3108960" cy="50292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▶  04-pbs.sh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10972800" cy="4343400"/>
          </a:xfrm>
          <a:prstGeom prst="rect">
            <a:avLst/>
          </a:prstGeom>
          <a:solidFill>
            <a:srgbClr val="F3F4F6"/>
          </a:solidFill>
          <a:ln w="12700">
            <a:solidFill>
              <a:srgbClr val="D5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tIns="146304"/>
          <a:lstStyle/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pav run demo_echo.demo_pass_pbs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Kicked off series s39.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 </a:t>
            </a:r>
          </a:p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pav status s39           # Pavilion: it's running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s39.1 | 8372_pbs-server | demo_echo.demo_pass_pbs | RUNNING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 </a:t>
            </a:r>
          </a:p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qstat -a                 # PBS: the same job, state R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8372.pbs-server  pavilion  workq  pav_demo_*  1  1  R  00:00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 </a:t>
            </a:r>
          </a:p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pav results s39          # once it finishes</a:t>
            </a:r>
          </a:p>
          <a:p>
            <a:pPr algn="l"/>
            <a:r>
              <a:rPr sz="1250" b="0">
                <a:solidFill>
                  <a:srgbClr val="1E7D3C"/>
                </a:solidFill>
                <a:latin typeface="Consolas"/>
              </a:rPr>
              <a:t>s39.1 | demo_echo.demo_pass_pbs | COMPLETE | 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447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674"/>
                </a:solidFill>
                <a:latin typeface="Arial"/>
              </a:rPr>
              <a:t>Submitted → running (seen in Pavilion AND PBS) → PASS on a compute node.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651760"/>
            <a:ext cx="12191695" cy="155448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834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A4"/>
                </a:solidFill>
                <a:latin typeface="Arial"/>
              </a:rPr>
              <a:t>REUSABLE OVERLAYS</a:t>
            </a:r>
          </a:p>
          <a:p>
            <a:r>
              <a:rPr sz="3600" b="1">
                <a:solidFill>
                  <a:srgbClr val="1F3B63"/>
                </a:solidFill>
                <a:latin typeface="Arial"/>
              </a:rPr>
              <a:t>Modes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MODES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What a mode 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A mode is a small YAML overlay merged on top of a fully-resolved test.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Apply at run time with -m: `pav run -m prod &lt;test&gt;`.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Great for: swapping queues, tuning resources, toggling variables — without editing tests.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Our demo: a `prod` mode overrides a variable (env_label: default → production).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LIVE DEMO · L5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A mode overrides config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03920" y="457200"/>
            <a:ext cx="3108960" cy="50292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▶  05-modes.sh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10972800" cy="4343400"/>
          </a:xfrm>
          <a:prstGeom prst="rect">
            <a:avLst/>
          </a:prstGeom>
          <a:solidFill>
            <a:srgbClr val="F3F4F6"/>
          </a:solidFill>
          <a:ln w="12700">
            <a:solidFill>
              <a:srgbClr val="D5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tIns="146304"/>
          <a:lstStyle/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pav show modes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prod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 </a:t>
            </a:r>
          </a:p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pav run demo_modes.mode_demo        # plain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'label': 'default'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 </a:t>
            </a:r>
          </a:p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pav run -m prod demo_modes.mode_demo # with mode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'label': 'production'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447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674"/>
                </a:solidFill>
                <a:latin typeface="Arial"/>
              </a:rPr>
              <a:t>Same test — the `prod` mode overlay changed the parsed result.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651760"/>
            <a:ext cx="12191695" cy="155448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834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A4"/>
                </a:solidFill>
                <a:latin typeface="Arial"/>
              </a:rPr>
              <a:t>GROUPING RUNS</a:t>
            </a:r>
          </a:p>
          <a:p>
            <a:r>
              <a:rPr sz="3600" b="1">
                <a:solidFill>
                  <a:srgbClr val="1F3B63"/>
                </a:solidFill>
                <a:latin typeface="Arial"/>
              </a:rPr>
              <a:t>Series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LIVE DEMO · L6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Run a whole group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03920" y="457200"/>
            <a:ext cx="3108960" cy="50292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▶  06-series.sh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10972800" cy="4343400"/>
          </a:xfrm>
          <a:prstGeom prst="rect">
            <a:avLst/>
          </a:prstGeom>
          <a:solidFill>
            <a:srgbClr val="F3F4F6"/>
          </a:solidFill>
          <a:ln w="12700">
            <a:solidFill>
              <a:srgbClr val="D5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tIns="146304"/>
          <a:lstStyle/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pav series run demo_series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Started series s43   (sets: smoke + metrics + matrix)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 </a:t>
            </a:r>
          </a:p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pav series list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Sid | Name        | State    | Tests | Pass | Fail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s43 | demo_series | COMPLETE |   8   |   8  |  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447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674"/>
                </a:solidFill>
                <a:latin typeface="Arial"/>
              </a:rPr>
              <a:t>One command runs several test sets as a named series — 8 tests, all PASS.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651760"/>
            <a:ext cx="12191695" cy="155448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834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A4"/>
                </a:solidFill>
                <a:latin typeface="Arial"/>
              </a:rPr>
              <a:t>EXTENDING PAVILION</a:t>
            </a:r>
          </a:p>
          <a:p>
            <a:r>
              <a:rPr sz="3600" b="1">
                <a:solidFill>
                  <a:srgbClr val="1F3B63"/>
                </a:solidFill>
                <a:latin typeface="Arial"/>
              </a:rPr>
              <a:t>Plugins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PLUGINS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Pavilion is plugins all the way down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Scheduler plugins — raw, slurm, flux, pbs (PBS is ours).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Result parsers — regex, constant, table, …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System variables — expose machine facts to tests (e.g. sys_name).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Command plugins — add whole new `pav &lt;command&gt;` subcommands.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Result loggers — ship results anywhere (CSV, OpenSearch, custom).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5B6674"/>
                </a:solidFill>
                <a:latin typeface="Arial"/>
              </a:rPr>
              <a:t>    – Drop a .py + a .yapsy-plugin into config/plugins/ — Pavilion discovers it.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CUSTOM COMMANDS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Command plugins (ours)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hello — a friendly sanity check + Pavilion info.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recent — the most recent test runs, colored by result.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test-summary — a PASS/FAIL tally across recent runs.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disk-usage — how much space test runs / builds / series consume.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LIVE DEMO · L7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Custom commands in action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03920" y="457200"/>
            <a:ext cx="3108960" cy="50292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▶  07-command-plugins.sh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10972800" cy="4343400"/>
          </a:xfrm>
          <a:prstGeom prst="rect">
            <a:avLst/>
          </a:prstGeom>
          <a:solidFill>
            <a:srgbClr val="F3F4F6"/>
          </a:solidFill>
          <a:ln w="12700">
            <a:solidFill>
              <a:srgbClr val="D5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tIns="146304"/>
          <a:lstStyle/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pav hello --name Team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Hello, Team!  Welcome to Pavilion 2!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 </a:t>
            </a:r>
          </a:p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pav recent -n 3</a:t>
            </a:r>
          </a:p>
          <a:p>
            <a:pPr algn="l"/>
            <a:r>
              <a:rPr sz="1250" b="0">
                <a:solidFill>
                  <a:srgbClr val="1E7D3C"/>
                </a:solidFill>
                <a:latin typeface="Consolas"/>
              </a:rPr>
              <a:t>[s46.6] demo_perms.matrix.large-write   PASS</a:t>
            </a:r>
          </a:p>
          <a:p>
            <a:pPr algn="l"/>
            <a:r>
              <a:rPr sz="1250" b="0">
                <a:solidFill>
                  <a:srgbClr val="1E7D3C"/>
                </a:solidFill>
                <a:latin typeface="Consolas"/>
              </a:rPr>
              <a:t>[s46.4] demo_perms.matrix.small-write   PASS</a:t>
            </a:r>
          </a:p>
          <a:p>
            <a:pPr algn="l"/>
            <a:r>
              <a:rPr sz="1250" b="0">
                <a:solidFill>
                  <a:srgbClr val="1E7D3C"/>
                </a:solidFill>
                <a:latin typeface="Consolas"/>
              </a:rPr>
              <a:t>[s46.1] demo_perms.matrix.small-read    PASS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 </a:t>
            </a:r>
          </a:p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pav test-summary</a:t>
            </a:r>
          </a:p>
          <a:p>
            <a:pPr algn="l"/>
            <a:r>
              <a:rPr sz="1250" b="0">
                <a:solidFill>
                  <a:srgbClr val="1E7D3C"/>
                </a:solidFill>
                <a:latin typeface="Consolas"/>
              </a:rPr>
              <a:t>PASS: 30    FAIL: 3    TOTAL: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447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674"/>
                </a:solidFill>
                <a:latin typeface="Arial"/>
              </a:rPr>
              <a:t>New pav subcommands — our own tooling built on Pavilion's plugin API.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CUSTOM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Result loggers (ours)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csv_file — appends one CSV row per test (result, duration, metrics, permute vars).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saLog — a custom NASA/NOAA logger; writes a CSV row on result 'released'.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opensearch — ships each result document into the `pavilion-results` index.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Configured once in pavilion.yaml → every test result flows through them.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LIVE DEMO · L8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Output plugin: CSV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03920" y="457200"/>
            <a:ext cx="3108960" cy="50292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▶  08-output-csv.sh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10972800" cy="4343400"/>
          </a:xfrm>
          <a:prstGeom prst="rect">
            <a:avLst/>
          </a:prstGeom>
          <a:solidFill>
            <a:srgbClr val="F3F4F6"/>
          </a:solidFill>
          <a:ln w="12700">
            <a:solidFill>
              <a:srgbClr val="D5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tIns="146304"/>
          <a:lstStyle/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pav run demo_echo.demo_pass_pbs      # a real PBS job</a:t>
            </a:r>
          </a:p>
          <a:p>
            <a:pPr algn="l"/>
            <a:r>
              <a:rPr sz="1150" b="0">
                <a:solidFill>
                  <a:srgbClr val="1B2B34"/>
                </a:solidFill>
                <a:latin typeface="Consolas"/>
              </a:rPr>
              <a:t>Kicked off series s55.</a:t>
            </a:r>
          </a:p>
          <a:p>
            <a:pPr algn="l"/>
            <a:r>
              <a:rPr sz="1150" b="0">
                <a:solidFill>
                  <a:srgbClr val="1B2B34"/>
                </a:solidFill>
                <a:latin typeface="Consolas"/>
              </a:rPr>
              <a:t> </a:t>
            </a:r>
          </a:p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qstat -a                             # yes — it went through the scheduler</a:t>
            </a:r>
          </a:p>
          <a:p>
            <a:pPr algn="l"/>
            <a:r>
              <a:rPr sz="1150" b="0">
                <a:solidFill>
                  <a:srgbClr val="1B2B34"/>
                </a:solidFill>
                <a:latin typeface="Consolas"/>
              </a:rPr>
              <a:t>8373.pbs-server  pavilion  workq  pav_demo_*  1  1  R  00:00</a:t>
            </a:r>
          </a:p>
          <a:p>
            <a:pPr algn="l"/>
            <a:r>
              <a:rPr sz="1150" b="0">
                <a:solidFill>
                  <a:srgbClr val="1B2B34"/>
                </a:solidFill>
                <a:latin typeface="Consolas"/>
              </a:rPr>
              <a:t> </a:t>
            </a:r>
          </a:p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tail /home/pavilion/pav_logs/results.csv   # csv_file logger: one row per test</a:t>
            </a:r>
          </a:p>
          <a:p>
            <a:pPr algn="l"/>
            <a:r>
              <a:rPr sz="1150" b="0">
                <a:solidFill>
                  <a:srgbClr val="1B2B34"/>
                </a:solidFill>
                <a:latin typeface="Consolas"/>
              </a:rPr>
              <a:t>name,id,result,duration, ... ,permute_on,extra</a:t>
            </a:r>
          </a:p>
          <a:p>
            <a:pPr algn="l"/>
            <a:r>
              <a:rPr sz="1150" b="0">
                <a:solidFill>
                  <a:srgbClr val="1E7D3C"/>
                </a:solidFill>
                <a:latin typeface="Consolas"/>
              </a:rPr>
              <a:t>demo_echo.demo_pass_pbs,s55.1,PASS,1.4, ... ,{},{}</a:t>
            </a:r>
          </a:p>
          <a:p>
            <a:pPr algn="l"/>
            <a:r>
              <a:rPr sz="1150" b="0">
                <a:solidFill>
                  <a:srgbClr val="1E7D3C"/>
                </a:solidFill>
                <a:latin typeface="Consolas"/>
              </a:rPr>
              <a:t>demo_metrics,s43.2,PASS,0.138, ... ,{},{"throughput_mbs":123.45}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447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674"/>
                </a:solidFill>
                <a:latin typeface="Arial"/>
              </a:rPr>
              <a:t>A real PBS job (qstat proves dispatch), then the csv_file logger writes one row per test.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LIVE DEMO · SALOG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Output plugin: saLog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03920" y="457200"/>
            <a:ext cx="3108960" cy="50292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▶  12-salog.sh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10972800" cy="4343400"/>
          </a:xfrm>
          <a:prstGeom prst="rect">
            <a:avLst/>
          </a:prstGeom>
          <a:solidFill>
            <a:srgbClr val="F3F4F6"/>
          </a:solidFill>
          <a:ln w="12700">
            <a:solidFill>
              <a:srgbClr val="D5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tIns="146304"/>
          <a:lstStyle/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cat saLog        # our emulator — flags:  -n node  -c content  -u user  -a action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while getopts "n:c:u:a:" opt; do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  case $opt in n) n=$OPTARG;; c) c=$OPTARG;; u) u=$OPTARG;; a) a=$OPTARG;; esac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done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echo "$n,\"$c\",$u,$a" &gt;&gt; salog_output.txt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 </a:t>
            </a:r>
          </a:p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tail salog_output.txt        # writes CSV, just like the csv_file logger</a:t>
            </a:r>
          </a:p>
          <a:p>
            <a:pPr algn="l"/>
            <a:r>
              <a:rPr sz="1250" b="0">
                <a:solidFill>
                  <a:srgbClr val="1E7D3C"/>
                </a:solidFill>
                <a:latin typeface="Consolas"/>
              </a:rPr>
              <a:t>x1003c7s7b0n3,"pav_test result=PASS",pavilion,released</a:t>
            </a:r>
          </a:p>
          <a:p>
            <a:pPr algn="l"/>
            <a:r>
              <a:rPr sz="1250" b="0">
                <a:solidFill>
                  <a:srgbClr val="B32A2A"/>
                </a:solidFill>
                <a:latin typeface="Consolas"/>
              </a:rPr>
              <a:t>x1003c7s7b0n1,...,x1003c7s7b0n3,"pav_test result=FAIL",pavilion,released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447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674"/>
                </a:solidFill>
                <a:latin typeface="Arial"/>
              </a:rPr>
              <a:t>saLog — a NASA/NOAA-internal logger. Pavilion's plugin calls it on 'released'; it appends CSV.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LIVE DEMO · L9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Output plugin: OpenSearch → Grafana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03920" y="457200"/>
            <a:ext cx="3108960" cy="50292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▶  09-opensearch.sh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10972800" cy="4343400"/>
          </a:xfrm>
          <a:prstGeom prst="rect">
            <a:avLst/>
          </a:prstGeom>
          <a:solidFill>
            <a:srgbClr val="F3F4F6"/>
          </a:solidFill>
          <a:ln w="12700">
            <a:solidFill>
              <a:srgbClr val="D5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tIns="146304"/>
          <a:lstStyle/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pav run opensearch_verify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Kicked off series s44   (ships each result to OpenSearch)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 </a:t>
            </a:r>
          </a:p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python3 ~/opensearch_results.py --name opensearch_verify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pav_id   name                                          result</a:t>
            </a:r>
          </a:p>
          <a:p>
            <a:pPr algn="l"/>
            <a:r>
              <a:rPr sz="1250" b="0">
                <a:solidFill>
                  <a:srgbClr val="1E7D3C"/>
                </a:solidFill>
                <a:latin typeface="Consolas"/>
              </a:rPr>
              <a:t>s44.1    opensearch_verify.os_pass                     PASS</a:t>
            </a:r>
          </a:p>
          <a:p>
            <a:pPr algn="l"/>
            <a:r>
              <a:rPr sz="1250" b="0">
                <a:solidFill>
                  <a:srgbClr val="B32A2A"/>
                </a:solidFill>
                <a:latin typeface="Consolas"/>
              </a:rPr>
              <a:t>s44.2    opensearch_verify.os_fail                     FAIL</a:t>
            </a:r>
          </a:p>
          <a:p>
            <a:pPr algn="l"/>
            <a:r>
              <a:rPr sz="1250" b="0">
                <a:solidFill>
                  <a:srgbClr val="1E7D3C"/>
                </a:solidFill>
                <a:latin typeface="Consolas"/>
              </a:rPr>
              <a:t>s44.3    opensearch_verify.os_with_metrics             PASS</a:t>
            </a:r>
          </a:p>
          <a:p>
            <a:pPr algn="l"/>
            <a:r>
              <a:rPr sz="1250" b="0">
                <a:solidFill>
                  <a:srgbClr val="1E7D3C"/>
                </a:solidFill>
                <a:latin typeface="Consolas"/>
              </a:rPr>
              <a:t>s44.4    opensearch_verify.os_version_tag.v1.0-verify  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447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674"/>
                </a:solidFill>
                <a:latin typeface="Arial"/>
              </a:rPr>
              <a:t>Shipped to OpenSearch, read back from the index — then on to Grafana dashboards.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LIVE DEMO · L10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Output plugin: MySQL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03920" y="457200"/>
            <a:ext cx="3108960" cy="50292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▶  10-mysql.sh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10972800" cy="4343400"/>
          </a:xfrm>
          <a:prstGeom prst="rect">
            <a:avLst/>
          </a:prstGeom>
          <a:solidFill>
            <a:srgbClr val="F3F4F6"/>
          </a:solidFill>
          <a:ln w="12700">
            <a:solidFill>
              <a:srgbClr val="D5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tIns="146304"/>
          <a:lstStyle/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pav run demo_echo.demo_metrics     # every logger fires, incl. mysql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Kicked off series s47.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 </a:t>
            </a:r>
          </a:p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mysql pavilion -e 'SELECT pav_id,name,result,dur FROM results ...'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pav_id   name                      result   dur</a:t>
            </a:r>
          </a:p>
          <a:p>
            <a:pPr algn="l"/>
            <a:r>
              <a:rPr sz="1250" b="0">
                <a:solidFill>
                  <a:srgbClr val="1E7D3C"/>
                </a:solidFill>
                <a:latin typeface="Consolas"/>
              </a:rPr>
              <a:t>s48.1    demo_echo.demo_pass_raw    PASS     0.076</a:t>
            </a:r>
          </a:p>
          <a:p>
            <a:pPr algn="l"/>
            <a:r>
              <a:rPr sz="1250" b="0">
                <a:solidFill>
                  <a:srgbClr val="B32A2A"/>
                </a:solidFill>
                <a:latin typeface="Consolas"/>
              </a:rPr>
              <a:t>s49.1    demo_echo.demo_fail_raw    FAIL     0.045</a:t>
            </a:r>
          </a:p>
          <a:p>
            <a:pPr algn="l"/>
            <a:r>
              <a:rPr sz="1250" b="0">
                <a:solidFill>
                  <a:srgbClr val="1E7D3C"/>
                </a:solidFill>
                <a:latin typeface="Consolas"/>
              </a:rPr>
              <a:t>s47.1    demo_echo.demo_metrics     PASS     0.077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447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674"/>
                </a:solidFill>
                <a:latin typeface="Arial"/>
              </a:rPr>
              <a:t>A result logger we wrote — every result lands in a MySQL table (passwordless local auth).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RESULT LOGGERS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Export results anywhere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Grafana — live dashboards &amp; trends  (shown today).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OpenSearch — index every result document  (shown today).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MySQL — a row per result in a relational table  (shown today).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PostgreSQL — same idea, for a Postgres shop.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[add your own] — a result logger is just a plugin: target any destination.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651760"/>
            <a:ext cx="12191695" cy="155448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834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A4"/>
                </a:solidFill>
                <a:latin typeface="Arial"/>
              </a:rPr>
              <a:t>REAL-WORLD</a:t>
            </a:r>
          </a:p>
          <a:p>
            <a:r>
              <a:rPr sz="3600" b="1">
                <a:solidFill>
                  <a:srgbClr val="1F3B63"/>
                </a:solidFill>
                <a:latin typeface="Arial"/>
              </a:rPr>
              <a:t>Putting it together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IN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How we use it here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Define acceptance/regression tests once (incl. real benchmarks: HPL, HPCG).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Run through PBS across the cluster; permute across configurations.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Parse metrics; every result flows to CSV + OpenSearch automatically.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Grafana dashboards make trends and regressions visible over time.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WRAP-UP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Recap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YAML tests → build → run → parse → log. One model, everywhere.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Permutations turn one config into a whole test matrix.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Schedulers (incl. our PBS plugin) run it at cluster scale.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Plugins extend everything — our commands and result loggers included.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Results become dashboards. Questions?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Learn more →  github.com/hpc/pavilion2   ·   pavilion2.readthedocs.io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