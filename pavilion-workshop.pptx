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expectations: ~60 min, concept + lots of live demos. We'll go from a one-line 'hello' test all the way to custom plugins shipping results to OpenSearch.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pitch for a mixed audience: stop hand-writing brittle test scripts. Describe a test once in YAML; Pavilion handles building, scheduling, running, parsing, and recording results — consistently, everywhere.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'why should I care' slide. Baseline testing pairs with regression: you can't spot a regression without a known-good baseline to compare to.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Name each concept plainly. 'suite.test' is how you address a test, e.g. demo_pbs.pass.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mental model for the demos: run -&gt; build (reused) -&gt; kickoff -&gt; run -&gt; parse -&gt; log.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build step is distinct from the run. Three flavors: compile from source, build from a source directory, or copy pre-built binaries. Built once (on the login node — compute nodes often have no internet) and reused, which is why demos show BUILD_REUSED.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Emphasize: the exit code decides PASS/FAIL. It's dispatched to PBS (queue workq).</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Huge selling point. Real suites share tons of config (same build, same scheduler settings). Inheritance = write it once, variants override just the delta. Less code, less drift, one place to fix things.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base owns the shared config and a variable (threads: 2). 'small' is literally just inherits_from: base — it takes everything. 'large' inherits and overrides only the variable (threads: 5). 'debug' inherits and overrides only the build, adding -fsanitize=address. Each child writes just its delta — that's the DRY win.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fuller shape: a couple of variables up top (used below), the PBS scheduler targeting a queue, then the four stages — build (compile from source), run, result_parse (regex → triad_mbs), and result_evaluate (a pass/fail expression). Still just YAML.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Tip: 'pav --quiet' silences a harmless config-label warning for clean output.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Pavilion records every test run persistently. 'pav status all' searches the whole history (not just the last day); -F takes keywords (PASSED/FAILED) or field filters (name=…), joined with 'and'/'or'. Note the Apr-26 failure — the record goes back as far as your runs do.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tests from one 'pav run', both submitted to PBS (qstat proves it). PASS vs FAIL is purely the exit code. Running the PBS test also proves the scheduler itself works.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Many parsers exist (regex, constant, table, split…) plus result_evaluate for computed pass/fail. Raw stdout becomes queryable numbers.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parsed fields are exactly what ships to OpenSearch later.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feature people remember. One definition, six tests, each with its own subtitle.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out the auto-generated subtitles (size-mode). All six went through PBS (qstat).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test, different scheduler = portability. Our PBS plugin is the custom bit.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schedule.pbs maps to #PBS resource requests via our plugin. Addressed as demo_pbs.pass.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running step shows the same job in both Pavilion (RUNNING) and PBS (state R). Live tip: 'pav run' then immediately 'pav status' / 'qstat -a' to catch it.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Modes = reuse. One test, many contexts.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mode is tiny — here it overrides one variable. Modes can also swap queues, bump resources, toggle features. No test edits required.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label result is the proof — a plain run parses 'default', the prod mode merges env_label: production on top. Modes merge onto the fully-resolved test.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Sets can be ordered or not; unordered runs them concurrently (robust for a live demo). Each set becomes its own PBS job.</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Series group test sets; each set here dispatches its own PBS job (qstat shows two). I use unordered for a robust live run.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out that every parsed field (throughput_mbs, latency_ms…) is in the JSON — that's what feeds the result loggers next. --json (or -j) is how you script against Pavilion.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kinds of custom plugins next: command plugins and result loggers.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add new verbs to pav itself — just Python classes Pavilion auto-discovers.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recent/test-summary read Pavilion's own run database via cmd_utils.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disk-usage walks Pavilion's working dir and totals runs / builds / series. Handy for spotting when old builds need a 'pav clean'. Same plugin API as hello/recent/test-summary.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Result loggers run at the end of the results stage. One config, applies to all runs. (Redact the OpenSearch password if you ever show pavilion.yaml.)</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CSV page also shows scheduler dispatch — these are real PBS jobs (qstat) — then the csv_file logger records one row per test. Parsed metrics land in 'extra', permute vars in 'permute_on'.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saLog is a logger specific to us (NASA/NOAA). Pavilion's sa_log result plugin invokes it as nodes are released from the PBS job — one CSV row per node, with the test result. It writes node(s), content (result), user, and the 'released' action.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the suite, query the index to prove indexing, then open Grafana (http://&lt;your-grafana-host&gt;:3000). Export OS_PASS before the demo.</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Built with pymysql; connects via unix_socket so there's NO password in pavilion.yaml. The row-per-test appears the moment the run finishes.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point: loggers are plugins, so results can go wherever you need. csv_file / saLog / opensearch / mysql all exist and are shown today; PostgreSQL is an example you'd write a logger for — '[add your own]' says exactly that.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Pavilion isn't just running tests — it's a data pipeline from 'did it pass' to 'how is the system trending'.</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 up for Q&amp;A. Offer to walk through any demo again live.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194560"/>
            <a:ext cx="10515600" cy="1828800"/>
          </a:xfrm>
          <a:prstGeom prst="rect">
            <a:avLst/>
          </a:prstGeom>
          <a:noFill/>
        </p:spPr>
        <p:txBody>
          <a:bodyPr wrap="square">
            <a:spAutoFit/>
          </a:bodyPr>
          <a:lstStyle/>
          <a:p>
            <a:r>
              <a:rPr sz="4600" b="1">
                <a:solidFill>
                  <a:srgbClr val="FFFFFF"/>
                </a:solidFill>
                <a:latin typeface="Arial"/>
              </a:rPr>
              <a:t>Pavilion</a:t>
            </a:r>
          </a:p>
          <a:p>
            <a:r>
              <a:rPr sz="2200" b="0">
                <a:solidFill>
                  <a:srgbClr val="BFD3EA"/>
                </a:solidFill>
                <a:latin typeface="Arial"/>
              </a:rPr>
              <a:t>A YAML-driven test framework for HPC systems</a:t>
            </a:r>
          </a:p>
        </p:txBody>
      </p:sp>
      <p:sp>
        <p:nvSpPr>
          <p:cNvPr id="4" name="TextBox 3"/>
          <p:cNvSpPr txBox="1"/>
          <p:nvPr/>
        </p:nvSpPr>
        <p:spPr>
          <a:xfrm>
            <a:off x="868680" y="3429000"/>
            <a:ext cx="10515600" cy="457200"/>
          </a:xfrm>
          <a:prstGeom prst="rect">
            <a:avLst/>
          </a:prstGeom>
          <a:noFill/>
        </p:spPr>
        <p:txBody>
          <a:bodyPr wrap="square">
            <a:spAutoFit/>
          </a:bodyPr>
          <a:lstStyle/>
          <a:p>
            <a:r>
              <a:rPr sz="1600" b="0">
                <a:solidFill>
                  <a:srgbClr val="9FD0FF"/>
                </a:solidFill>
                <a:latin typeface="Arial"/>
              </a:rPr>
              <a:t>github.com/hpc/pavilion2</a:t>
            </a:r>
            <a:r>
              <a:rPr sz="1600" b="0">
                <a:solidFill>
                  <a:srgbClr val="6F86A6"/>
                </a:solidFill>
                <a:latin typeface="Arial"/>
              </a:rPr>
              <a:t>    ·    </a:t>
            </a:r>
            <a:r>
              <a:rPr sz="1600" b="0">
                <a:solidFill>
                  <a:srgbClr val="9FD0FF"/>
                </a:solidFill>
                <a:latin typeface="Arial"/>
              </a:rPr>
              <a:t>pavilion2.readthedocs.io</a:t>
            </a:r>
          </a:p>
        </p:txBody>
      </p:sp>
      <p:sp>
        <p:nvSpPr>
          <p:cNvPr id="5" name="TextBox 4"/>
          <p:cNvSpPr txBox="1"/>
          <p:nvPr/>
        </p:nvSpPr>
        <p:spPr>
          <a:xfrm>
            <a:off x="868680" y="5760720"/>
            <a:ext cx="10058400" cy="548640"/>
          </a:xfrm>
          <a:prstGeom prst="rect">
            <a:avLst/>
          </a:prstGeom>
          <a:noFill/>
        </p:spPr>
        <p:txBody>
          <a:bodyPr wrap="square">
            <a:spAutoFit/>
          </a:bodyPr>
          <a:lstStyle/>
          <a:p>
            <a:r>
              <a:rPr sz="1400" b="0">
                <a:solidFill>
                  <a:srgbClr val="9FB6D2"/>
                </a:solidFill>
                <a:latin typeface="Arial"/>
              </a:rPr>
              <a:t>Workshop · live demos on the PBS cluster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651760"/>
            <a:ext cx="12191695" cy="1554480"/>
          </a:xfrm>
          <a:prstGeom prst="rect">
            <a:avLst/>
          </a:prstGeom>
          <a:solidFill>
            <a:srgbClr val="EE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834640"/>
            <a:ext cx="10698480" cy="1188720"/>
          </a:xfrm>
          <a:prstGeom prst="rect">
            <a:avLst/>
          </a:prstGeom>
          <a:noFill/>
        </p:spPr>
        <p:txBody>
          <a:bodyPr wrap="square">
            <a:spAutoFit/>
          </a:bodyPr>
          <a:lstStyle/>
          <a:p>
            <a:r>
              <a:rPr sz="1300" b="1">
                <a:solidFill>
                  <a:srgbClr val="2E6DA4"/>
                </a:solidFill>
                <a:latin typeface="Arial"/>
              </a:rPr>
              <a:t>THE PROBLEM</a:t>
            </a:r>
          </a:p>
          <a:p>
            <a:r>
              <a:rPr sz="3600" b="1">
                <a:solidFill>
                  <a:srgbClr val="1F3B63"/>
                </a:solidFill>
                <a:latin typeface="Arial"/>
              </a:rPr>
              <a:t>Why Pavilion?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7680960" cy="365760"/>
          </a:xfrm>
          <a:prstGeom prst="rect">
            <a:avLst/>
          </a:prstGeom>
          <a:noFill/>
        </p:spPr>
        <p:txBody>
          <a:bodyPr wrap="square">
            <a:spAutoFit/>
          </a:bodyPr>
          <a:lstStyle/>
          <a:p>
            <a:r>
              <a:rPr sz="1200" b="1">
                <a:solidFill>
                  <a:srgbClr val="2E6DA4"/>
                </a:solidFill>
                <a:latin typeface="Arial"/>
              </a:rPr>
              <a:t>OVERVIEW</a:t>
            </a:r>
          </a:p>
        </p:txBody>
      </p:sp>
      <p:sp>
        <p:nvSpPr>
          <p:cNvPr id="3" name="TextBox 2"/>
          <p:cNvSpPr txBox="1"/>
          <p:nvPr/>
        </p:nvSpPr>
        <p:spPr>
          <a:xfrm>
            <a:off x="548640" y="640080"/>
            <a:ext cx="11064240" cy="822960"/>
          </a:xfrm>
          <a:prstGeom prst="rect">
            <a:avLst/>
          </a:prstGeom>
          <a:noFill/>
        </p:spPr>
        <p:txBody>
          <a:bodyPr wrap="square">
            <a:spAutoFit/>
          </a:bodyPr>
          <a:lstStyle/>
          <a:p>
            <a:r>
              <a:rPr sz="3000" b="1">
                <a:solidFill>
                  <a:srgbClr val="1F3B63"/>
                </a:solidFill>
                <a:latin typeface="Arial"/>
              </a:rPr>
              <a:t>What Pavilion is</a:t>
            </a:r>
          </a:p>
        </p:txBody>
      </p:sp>
      <p:sp>
        <p:nvSpPr>
          <p:cNvPr id="4" name="Rectangle 3"/>
          <p:cNvSpPr/>
          <p:nvPr/>
        </p:nvSpPr>
        <p:spPr>
          <a:xfrm>
            <a:off x="566928" y="1417320"/>
            <a:ext cx="2011680"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91640"/>
            <a:ext cx="10972800" cy="4754880"/>
          </a:xfrm>
          <a:prstGeom prst="rect">
            <a:avLst/>
          </a:prstGeom>
          <a:noFill/>
        </p:spPr>
        <p:txBody>
          <a:bodyPr wrap="square">
            <a:spAutoFit/>
          </a:bodyPr>
          <a:lstStyle/>
          <a:p>
            <a:pPr>
              <a:spcAft>
                <a:spcPts val="1000"/>
              </a:spcAft>
            </a:pPr>
            <a:r>
              <a:rPr sz="2000" b="0">
                <a:solidFill>
                  <a:srgbClr val="21252B"/>
                </a:solidFill>
                <a:latin typeface="Arial"/>
              </a:rPr>
              <a:t>•  An open-source (LANL) framework for testing HPC systems.</a:t>
            </a:r>
          </a:p>
          <a:p>
            <a:pPr>
              <a:spcAft>
                <a:spcPts val="1000"/>
              </a:spcAft>
            </a:pPr>
            <a:r>
              <a:rPr sz="2000" b="0">
                <a:solidFill>
                  <a:srgbClr val="21252B"/>
                </a:solidFill>
                <a:latin typeface="Arial"/>
              </a:rPr>
              <a:t>•  Mature &amp; battle-tested — years of development at LANL, hardened on production supercomputers.</a:t>
            </a:r>
          </a:p>
          <a:p>
            <a:pPr>
              <a:spcAft>
                <a:spcPts val="1000"/>
              </a:spcAft>
            </a:pPr>
            <a:r>
              <a:rPr sz="2000" b="0">
                <a:solidFill>
                  <a:srgbClr val="21252B"/>
                </a:solidFill>
                <a:latin typeface="Arial"/>
              </a:rPr>
              <a:t>•  Tests are YAML configs that wrap your test codes — not scripts you maintain by hand.</a:t>
            </a:r>
          </a:p>
          <a:p>
            <a:pPr>
              <a:spcAft>
                <a:spcPts val="1000"/>
              </a:spcAft>
            </a:pPr>
            <a:r>
              <a:rPr sz="2000" b="0">
                <a:solidFill>
                  <a:srgbClr val="21252B"/>
                </a:solidFill>
                <a:latin typeface="Arial"/>
              </a:rPr>
              <a:t>•  Runs the same tests across systems and schedulers (Slurm, Flux, PBS).</a:t>
            </a:r>
          </a:p>
          <a:p>
            <a:pPr>
              <a:spcAft>
                <a:spcPts val="1000"/>
              </a:spcAft>
            </a:pPr>
            <a:r>
              <a:rPr sz="2000" b="0">
                <a:solidFill>
                  <a:srgbClr val="21252B"/>
                </a:solidFill>
                <a:latin typeface="Arial"/>
              </a:rPr>
              <a:t>•  Plugin-driven: schedulers, result parsers, result loggers, commands, system variables.</a:t>
            </a:r>
          </a:p>
          <a:p>
            <a:pPr>
              <a:spcAft>
                <a:spcPts val="1000"/>
              </a:spcAft>
            </a:pPr>
            <a:r>
              <a:rPr sz="2000" b="0">
                <a:solidFill>
                  <a:srgbClr val="21252B"/>
                </a:solidFill>
                <a:latin typeface="Arial"/>
              </a:rPr>
              <a:t>•  Inheritable test definitions — write shared config once; tests inherit and override it (DRY).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7680960" cy="365760"/>
          </a:xfrm>
          <a:prstGeom prst="rect">
            <a:avLst/>
          </a:prstGeom>
          <a:noFill/>
        </p:spPr>
        <p:txBody>
          <a:bodyPr wrap="square">
            <a:spAutoFit/>
          </a:bodyPr>
          <a:lstStyle/>
          <a:p>
            <a:r>
              <a:rPr sz="1200" b="1">
                <a:solidFill>
                  <a:srgbClr val="2E6DA4"/>
                </a:solidFill>
                <a:latin typeface="Arial"/>
              </a:rPr>
              <a:t>WHERE IT FITS</a:t>
            </a:r>
          </a:p>
        </p:txBody>
      </p:sp>
      <p:sp>
        <p:nvSpPr>
          <p:cNvPr id="3" name="TextBox 2"/>
          <p:cNvSpPr txBox="1"/>
          <p:nvPr/>
        </p:nvSpPr>
        <p:spPr>
          <a:xfrm>
            <a:off x="548640" y="640080"/>
            <a:ext cx="11064240" cy="822960"/>
          </a:xfrm>
          <a:prstGeom prst="rect">
            <a:avLst/>
          </a:prstGeom>
          <a:noFill/>
        </p:spPr>
        <p:txBody>
          <a:bodyPr wrap="square">
            <a:spAutoFit/>
          </a:bodyPr>
          <a:lstStyle/>
          <a:p>
            <a:r>
              <a:rPr sz="3000" b="1">
                <a:solidFill>
                  <a:srgbClr val="1F3B63"/>
                </a:solidFill>
                <a:latin typeface="Arial"/>
              </a:rPr>
              <a:t>Built for</a:t>
            </a:r>
          </a:p>
        </p:txBody>
      </p:sp>
      <p:sp>
        <p:nvSpPr>
          <p:cNvPr id="4" name="Rectangle 3"/>
          <p:cNvSpPr/>
          <p:nvPr/>
        </p:nvSpPr>
        <p:spPr>
          <a:xfrm>
            <a:off x="566928" y="1417320"/>
            <a:ext cx="2011680"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91640"/>
            <a:ext cx="10972800" cy="4754880"/>
          </a:xfrm>
          <a:prstGeom prst="rect">
            <a:avLst/>
          </a:prstGeom>
          <a:noFill/>
        </p:spPr>
        <p:txBody>
          <a:bodyPr wrap="square">
            <a:spAutoFit/>
          </a:bodyPr>
          <a:lstStyle/>
          <a:p>
            <a:pPr>
              <a:spcAft>
                <a:spcPts val="1000"/>
              </a:spcAft>
            </a:pPr>
            <a:r>
              <a:rPr sz="2000" b="0">
                <a:solidFill>
                  <a:srgbClr val="21252B"/>
                </a:solidFill>
                <a:latin typeface="Arial"/>
              </a:rPr>
              <a:t>•  Acceptance testing — does a new or returned system meet spec before users get it?</a:t>
            </a:r>
          </a:p>
          <a:p>
            <a:pPr>
              <a:spcAft>
                <a:spcPts val="1000"/>
              </a:spcAft>
            </a:pPr>
            <a:r>
              <a:rPr sz="2000" b="0">
                <a:solidFill>
                  <a:srgbClr val="21252B"/>
                </a:solidFill>
                <a:latin typeface="Arial"/>
              </a:rPr>
              <a:t>•  System validation — confirm the whole stack still behaves after maintenance.</a:t>
            </a:r>
          </a:p>
          <a:p>
            <a:pPr>
              <a:spcAft>
                <a:spcPts val="1000"/>
              </a:spcAft>
            </a:pPr>
            <a:r>
              <a:rPr sz="2000" b="0">
                <a:solidFill>
                  <a:srgbClr val="21252B"/>
                </a:solidFill>
                <a:latin typeface="Arial"/>
              </a:rPr>
              <a:t>•  Baseline testing — capture known-good numbers to measure future runs against.</a:t>
            </a:r>
          </a:p>
          <a:p>
            <a:pPr>
              <a:spcAft>
                <a:spcPts val="1000"/>
              </a:spcAft>
            </a:pPr>
            <a:r>
              <a:rPr sz="2000" b="0">
                <a:solidFill>
                  <a:srgbClr val="21252B"/>
                </a:solidFill>
                <a:latin typeface="Arial"/>
              </a:rPr>
              <a:t>•  Regression testing — catch when a change quietly breaks or slows something.</a:t>
            </a:r>
          </a:p>
          <a:p>
            <a:pPr>
              <a:spcAft>
                <a:spcPts val="1000"/>
              </a:spcAft>
            </a:pPr>
            <a:r>
              <a:rPr sz="2000" b="0">
                <a:solidFill>
                  <a:srgbClr val="21252B"/>
                </a:solidFill>
                <a:latin typeface="Arial"/>
              </a:rPr>
              <a:t>•  Reproducibility — the same test, run the same way, by anyone, every time.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7680960" cy="365760"/>
          </a:xfrm>
          <a:prstGeom prst="rect">
            <a:avLst/>
          </a:prstGeom>
          <a:noFill/>
        </p:spPr>
        <p:txBody>
          <a:bodyPr wrap="square">
            <a:spAutoFit/>
          </a:bodyPr>
          <a:lstStyle/>
          <a:p>
            <a:r>
              <a:rPr sz="1200" b="1">
                <a:solidFill>
                  <a:srgbClr val="2E6DA4"/>
                </a:solidFill>
                <a:latin typeface="Arial"/>
              </a:rPr>
              <a:t>WHY IT MATTERS</a:t>
            </a:r>
          </a:p>
        </p:txBody>
      </p:sp>
      <p:sp>
        <p:nvSpPr>
          <p:cNvPr id="3" name="TextBox 2"/>
          <p:cNvSpPr txBox="1"/>
          <p:nvPr/>
        </p:nvSpPr>
        <p:spPr>
          <a:xfrm>
            <a:off x="548640" y="640080"/>
            <a:ext cx="11064240" cy="822960"/>
          </a:xfrm>
          <a:prstGeom prst="rect">
            <a:avLst/>
          </a:prstGeom>
          <a:noFill/>
        </p:spPr>
        <p:txBody>
          <a:bodyPr wrap="square">
            <a:spAutoFit/>
          </a:bodyPr>
          <a:lstStyle/>
          <a:p>
            <a:r>
              <a:rPr sz="3000" b="1">
                <a:solidFill>
                  <a:srgbClr val="1F3B63"/>
                </a:solidFill>
                <a:latin typeface="Arial"/>
              </a:rPr>
              <a:t>The problem it solves</a:t>
            </a:r>
          </a:p>
        </p:txBody>
      </p:sp>
      <p:sp>
        <p:nvSpPr>
          <p:cNvPr id="4" name="Rectangle 3"/>
          <p:cNvSpPr/>
          <p:nvPr/>
        </p:nvSpPr>
        <p:spPr>
          <a:xfrm>
            <a:off x="566928" y="1417320"/>
            <a:ext cx="2011680"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91640"/>
            <a:ext cx="10972800" cy="4754880"/>
          </a:xfrm>
          <a:prstGeom prst="rect">
            <a:avLst/>
          </a:prstGeom>
          <a:noFill/>
        </p:spPr>
        <p:txBody>
          <a:bodyPr wrap="square">
            <a:spAutoFit/>
          </a:bodyPr>
          <a:lstStyle/>
          <a:p>
            <a:pPr>
              <a:spcAft>
                <a:spcPts val="1000"/>
              </a:spcAft>
            </a:pPr>
            <a:r>
              <a:rPr sz="2000" b="0">
                <a:solidFill>
                  <a:srgbClr val="21252B"/>
                </a:solidFill>
                <a:latin typeface="Arial"/>
              </a:rPr>
              <a:t>•  A new cluster, a maintenance window, or a hardware repair — does everything still work and perform?</a:t>
            </a:r>
          </a:p>
          <a:p>
            <a:pPr>
              <a:spcAft>
                <a:spcPts val="1000"/>
              </a:spcAft>
            </a:pPr>
            <a:r>
              <a:rPr sz="2000" b="0">
                <a:solidFill>
                  <a:srgbClr val="21252B"/>
                </a:solidFill>
                <a:latin typeface="Arial"/>
              </a:rPr>
              <a:t>•  Hand-rolled scripts drift, differ per person, and don't record results.</a:t>
            </a:r>
          </a:p>
          <a:p>
            <a:pPr>
              <a:spcAft>
                <a:spcPts val="1000"/>
              </a:spcAft>
            </a:pPr>
            <a:r>
              <a:rPr sz="2000" b="0">
                <a:solidFill>
                  <a:srgbClr val="21252B"/>
                </a:solidFill>
                <a:latin typeface="Arial"/>
              </a:rPr>
              <a:t>•  Pavilion records every run — a searchable history you filter by result, name, or date.</a:t>
            </a:r>
          </a:p>
          <a:p>
            <a:pPr>
              <a:spcAft>
                <a:spcPts val="1000"/>
              </a:spcAft>
            </a:pPr>
            <a:r>
              <a:rPr sz="2000" b="0">
                <a:solidFill>
                  <a:srgbClr val="21252B"/>
                </a:solidFill>
                <a:latin typeface="Arial"/>
              </a:rPr>
              <a:t>•  Pavilion gives one declarative definition + a full run/results pipeline.</a:t>
            </a:r>
          </a:p>
          <a:p>
            <a:pPr>
              <a:spcAft>
                <a:spcPts val="1000"/>
              </a:spcAft>
            </a:pPr>
            <a:r>
              <a:rPr sz="2000" b="0">
                <a:solidFill>
                  <a:srgbClr val="21252B"/>
                </a:solidFill>
                <a:latin typeface="Arial"/>
              </a:rPr>
              <a:t>•  Results are captured, parsed, and shippable to dashboards (OpenSearch → Grafana).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651760"/>
            <a:ext cx="12191695" cy="1554480"/>
          </a:xfrm>
          <a:prstGeom prst="rect">
            <a:avLst/>
          </a:prstGeom>
          <a:solidFill>
            <a:srgbClr val="EE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834640"/>
            <a:ext cx="10698480" cy="1188720"/>
          </a:xfrm>
          <a:prstGeom prst="rect">
            <a:avLst/>
          </a:prstGeom>
          <a:noFill/>
        </p:spPr>
        <p:txBody>
          <a:bodyPr wrap="square">
            <a:spAutoFit/>
          </a:bodyPr>
          <a:lstStyle/>
          <a:p>
            <a:r>
              <a:rPr sz="1300" b="1">
                <a:solidFill>
                  <a:srgbClr val="2E6DA4"/>
                </a:solidFill>
                <a:latin typeface="Arial"/>
              </a:rPr>
              <a:t>HOW IT FITS TOGETHER</a:t>
            </a:r>
          </a:p>
          <a:p>
            <a:r>
              <a:rPr sz="3600" b="1">
                <a:solidFill>
                  <a:srgbClr val="1F3B63"/>
                </a:solidFill>
                <a:latin typeface="Arial"/>
              </a:rPr>
              <a:t>Core concepts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7680960" cy="365760"/>
          </a:xfrm>
          <a:prstGeom prst="rect">
            <a:avLst/>
          </a:prstGeom>
          <a:noFill/>
        </p:spPr>
        <p:txBody>
          <a:bodyPr wrap="square">
            <a:spAutoFit/>
          </a:bodyPr>
          <a:lstStyle/>
          <a:p>
            <a:r>
              <a:rPr sz="1200" b="1">
                <a:solidFill>
                  <a:srgbClr val="2E6DA4"/>
                </a:solidFill>
                <a:latin typeface="Arial"/>
              </a:rPr>
              <a:t>CONCEPTS</a:t>
            </a:r>
          </a:p>
        </p:txBody>
      </p:sp>
      <p:sp>
        <p:nvSpPr>
          <p:cNvPr id="3" name="TextBox 2"/>
          <p:cNvSpPr txBox="1"/>
          <p:nvPr/>
        </p:nvSpPr>
        <p:spPr>
          <a:xfrm>
            <a:off x="548640" y="640080"/>
            <a:ext cx="11064240" cy="822960"/>
          </a:xfrm>
          <a:prstGeom prst="rect">
            <a:avLst/>
          </a:prstGeom>
          <a:noFill/>
        </p:spPr>
        <p:txBody>
          <a:bodyPr wrap="square">
            <a:spAutoFit/>
          </a:bodyPr>
          <a:lstStyle/>
          <a:p>
            <a:r>
              <a:rPr sz="3000" b="1">
                <a:solidFill>
                  <a:srgbClr val="1F3B63"/>
                </a:solidFill>
                <a:latin typeface="Arial"/>
              </a:rPr>
              <a:t>The building blocks</a:t>
            </a:r>
          </a:p>
        </p:txBody>
      </p:sp>
      <p:sp>
        <p:nvSpPr>
          <p:cNvPr id="4" name="Rectangle 3"/>
          <p:cNvSpPr/>
          <p:nvPr/>
        </p:nvSpPr>
        <p:spPr>
          <a:xfrm>
            <a:off x="566928" y="1417320"/>
            <a:ext cx="2011680"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91640"/>
            <a:ext cx="10972800" cy="4754880"/>
          </a:xfrm>
          <a:prstGeom prst="rect">
            <a:avLst/>
          </a:prstGeom>
          <a:noFill/>
        </p:spPr>
        <p:txBody>
          <a:bodyPr wrap="square">
            <a:spAutoFit/>
          </a:bodyPr>
          <a:lstStyle/>
          <a:p>
            <a:pPr>
              <a:spcAft>
                <a:spcPts val="1000"/>
              </a:spcAft>
            </a:pPr>
            <a:r>
              <a:rPr sz="2000" b="0">
                <a:solidFill>
                  <a:srgbClr val="21252B"/>
                </a:solidFill>
                <a:latin typeface="Arial"/>
              </a:rPr>
              <a:t>•  Test — one thing to run, defined in YAML (build + run + result parsing).</a:t>
            </a:r>
          </a:p>
          <a:p>
            <a:pPr>
              <a:spcAft>
                <a:spcPts val="1000"/>
              </a:spcAft>
            </a:pPr>
            <a:r>
              <a:rPr sz="2000" b="0">
                <a:solidFill>
                  <a:srgbClr val="21252B"/>
                </a:solidFill>
                <a:latin typeface="Arial"/>
              </a:rPr>
              <a:t>•  Suite — a YAML file holding related tests (e.g. demo_pbs.yaml).</a:t>
            </a:r>
          </a:p>
          <a:p>
            <a:pPr>
              <a:spcAft>
                <a:spcPts val="1000"/>
              </a:spcAft>
            </a:pPr>
            <a:r>
              <a:rPr sz="2000" b="0">
                <a:solidFill>
                  <a:srgbClr val="21252B"/>
                </a:solidFill>
                <a:latin typeface="Arial"/>
              </a:rPr>
              <a:t>•  Config layering — host → mode → test: defaults get overridden in that order.</a:t>
            </a:r>
          </a:p>
          <a:p>
            <a:pPr>
              <a:spcAft>
                <a:spcPts val="1000"/>
              </a:spcAft>
            </a:pPr>
            <a:r>
              <a:rPr sz="2000" b="0">
                <a:solidFill>
                  <a:srgbClr val="21252B"/>
                </a:solidFill>
                <a:latin typeface="Arial"/>
              </a:rPr>
              <a:t>•  Variables &amp; permutations — one definition expands into many test instances.</a:t>
            </a:r>
          </a:p>
          <a:p>
            <a:pPr>
              <a:spcAft>
                <a:spcPts val="1000"/>
              </a:spcAft>
            </a:pPr>
            <a:r>
              <a:rPr sz="2000" b="0">
                <a:solidFill>
                  <a:srgbClr val="21252B"/>
                </a:solidFill>
                <a:latin typeface="Arial"/>
              </a:rPr>
              <a:t>•  config_dirs — where Pavilion looks for suites, modes, series, and plugins.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7680960" cy="365760"/>
          </a:xfrm>
          <a:prstGeom prst="rect">
            <a:avLst/>
          </a:prstGeom>
          <a:noFill/>
        </p:spPr>
        <p:txBody>
          <a:bodyPr wrap="square">
            <a:spAutoFit/>
          </a:bodyPr>
          <a:lstStyle/>
          <a:p>
            <a:r>
              <a:rPr sz="1200" b="1">
                <a:solidFill>
                  <a:srgbClr val="2E6DA4"/>
                </a:solidFill>
                <a:latin typeface="Arial"/>
              </a:rPr>
              <a:t>UNDER THE HOOD</a:t>
            </a:r>
          </a:p>
        </p:txBody>
      </p:sp>
      <p:sp>
        <p:nvSpPr>
          <p:cNvPr id="3" name="TextBox 2"/>
          <p:cNvSpPr txBox="1"/>
          <p:nvPr/>
        </p:nvSpPr>
        <p:spPr>
          <a:xfrm>
            <a:off x="548640" y="640080"/>
            <a:ext cx="11064240" cy="822960"/>
          </a:xfrm>
          <a:prstGeom prst="rect">
            <a:avLst/>
          </a:prstGeom>
          <a:noFill/>
        </p:spPr>
        <p:txBody>
          <a:bodyPr wrap="square">
            <a:spAutoFit/>
          </a:bodyPr>
          <a:lstStyle/>
          <a:p>
            <a:r>
              <a:rPr sz="3000" b="1">
                <a:solidFill>
                  <a:srgbClr val="1F3B63"/>
                </a:solidFill>
                <a:latin typeface="Arial"/>
              </a:rPr>
              <a:t>The test lifecycle</a:t>
            </a:r>
          </a:p>
        </p:txBody>
      </p:sp>
      <p:sp>
        <p:nvSpPr>
          <p:cNvPr id="4" name="Rectangle 3"/>
          <p:cNvSpPr/>
          <p:nvPr/>
        </p:nvSpPr>
        <p:spPr>
          <a:xfrm>
            <a:off x="566928" y="1417320"/>
            <a:ext cx="2011680"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91640"/>
            <a:ext cx="10972800" cy="4754880"/>
          </a:xfrm>
          <a:prstGeom prst="rect">
            <a:avLst/>
          </a:prstGeom>
          <a:noFill/>
        </p:spPr>
        <p:txBody>
          <a:bodyPr wrap="square">
            <a:spAutoFit/>
          </a:bodyPr>
          <a:lstStyle/>
          <a:p>
            <a:pPr>
              <a:spcAft>
                <a:spcPts val="1000"/>
              </a:spcAft>
            </a:pPr>
            <a:r>
              <a:rPr sz="2000" b="0">
                <a:solidFill>
                  <a:srgbClr val="21252B"/>
                </a:solidFill>
                <a:latin typeface="Arial"/>
              </a:rPr>
              <a:t>•  1. Resolve — read configs, apply host/mode overrides, expand permutations.</a:t>
            </a:r>
          </a:p>
          <a:p>
            <a:pPr>
              <a:spcAft>
                <a:spcPts val="1000"/>
              </a:spcAft>
            </a:pPr>
            <a:r>
              <a:rPr sz="2000" b="0">
                <a:solidFill>
                  <a:srgbClr val="21252B"/>
                </a:solidFill>
                <a:latin typeface="Arial"/>
              </a:rPr>
              <a:t>•  2. Build — set up the test's source/build once (reused across runs).</a:t>
            </a:r>
          </a:p>
          <a:p>
            <a:pPr>
              <a:spcAft>
                <a:spcPts val="1000"/>
              </a:spcAft>
            </a:pPr>
            <a:r>
              <a:rPr sz="2000" b="0">
                <a:solidFill>
                  <a:srgbClr val="21252B"/>
                </a:solidFill>
                <a:latin typeface="Arial"/>
              </a:rPr>
              <a:t>•  3. Kickoff — hand the test to the scheduler (raw / PBS / Slurm / Flux).</a:t>
            </a:r>
          </a:p>
          <a:p>
            <a:pPr>
              <a:spcAft>
                <a:spcPts val="1000"/>
              </a:spcAft>
            </a:pPr>
            <a:r>
              <a:rPr sz="2000" b="0">
                <a:solidFill>
                  <a:srgbClr val="21252B"/>
                </a:solidFill>
                <a:latin typeface="Arial"/>
              </a:rPr>
              <a:t>•  4. Run — execute run.cmds on the target node(s).</a:t>
            </a:r>
          </a:p>
          <a:p>
            <a:pPr>
              <a:spcAft>
                <a:spcPts val="1000"/>
              </a:spcAft>
            </a:pPr>
            <a:r>
              <a:rPr sz="2000" b="0">
                <a:solidFill>
                  <a:srgbClr val="21252B"/>
                </a:solidFill>
                <a:latin typeface="Arial"/>
              </a:rPr>
              <a:t>•  5. Results — parse output → results.json, then hand off to result loggers.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7680960" cy="365760"/>
          </a:xfrm>
          <a:prstGeom prst="rect">
            <a:avLst/>
          </a:prstGeom>
          <a:noFill/>
        </p:spPr>
        <p:txBody>
          <a:bodyPr wrap="square">
            <a:spAutoFit/>
          </a:bodyPr>
          <a:lstStyle/>
          <a:p>
            <a:r>
              <a:rPr sz="1200" b="1">
                <a:solidFill>
                  <a:srgbClr val="2E6DA4"/>
                </a:solidFill>
                <a:latin typeface="Arial"/>
              </a:rPr>
              <a:t>UNDER THE HOOD</a:t>
            </a:r>
          </a:p>
        </p:txBody>
      </p:sp>
      <p:sp>
        <p:nvSpPr>
          <p:cNvPr id="3" name="TextBox 2"/>
          <p:cNvSpPr txBox="1"/>
          <p:nvPr/>
        </p:nvSpPr>
        <p:spPr>
          <a:xfrm>
            <a:off x="548640" y="640080"/>
            <a:ext cx="11064240" cy="822960"/>
          </a:xfrm>
          <a:prstGeom prst="rect">
            <a:avLst/>
          </a:prstGeom>
          <a:noFill/>
        </p:spPr>
        <p:txBody>
          <a:bodyPr wrap="square">
            <a:spAutoFit/>
          </a:bodyPr>
          <a:lstStyle/>
          <a:p>
            <a:r>
              <a:rPr sz="3000" b="1">
                <a:solidFill>
                  <a:srgbClr val="1F3B63"/>
                </a:solidFill>
                <a:latin typeface="Arial"/>
              </a:rPr>
              <a:t>The build phase</a:t>
            </a:r>
          </a:p>
        </p:txBody>
      </p:sp>
      <p:sp>
        <p:nvSpPr>
          <p:cNvPr id="4" name="Rectangle 3"/>
          <p:cNvSpPr/>
          <p:nvPr/>
        </p:nvSpPr>
        <p:spPr>
          <a:xfrm>
            <a:off x="566928" y="1417320"/>
            <a:ext cx="2011680"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91640"/>
            <a:ext cx="10972800" cy="4754880"/>
          </a:xfrm>
          <a:prstGeom prst="rect">
            <a:avLst/>
          </a:prstGeom>
          <a:noFill/>
        </p:spPr>
        <p:txBody>
          <a:bodyPr wrap="square">
            <a:spAutoFit/>
          </a:bodyPr>
          <a:lstStyle/>
          <a:p>
            <a:pPr>
              <a:spcAft>
                <a:spcPts val="1000"/>
              </a:spcAft>
            </a:pPr>
            <a:r>
              <a:rPr sz="2000" b="0">
                <a:solidFill>
                  <a:srgbClr val="21252B"/>
                </a:solidFill>
                <a:latin typeface="Arial"/>
              </a:rPr>
              <a:t>•  Before a test runs, Pavilion builds it — once — then reuses that build across runs.</a:t>
            </a:r>
          </a:p>
          <a:p>
            <a:pPr>
              <a:spcAft>
                <a:spcPts val="1000"/>
              </a:spcAft>
            </a:pPr>
            <a:r>
              <a:rPr sz="2000" b="0">
                <a:solidFill>
                  <a:srgbClr val="21252B"/>
                </a:solidFill>
                <a:latin typeface="Arial"/>
              </a:rPr>
              <a:t>•  Compile from source — hand it a source archive/URL + build commands; it builds for you.</a:t>
            </a:r>
          </a:p>
          <a:p>
            <a:pPr>
              <a:spcAft>
                <a:spcPts val="1000"/>
              </a:spcAft>
            </a:pPr>
            <a:r>
              <a:rPr sz="2000" b="0">
                <a:solidFill>
                  <a:srgbClr val="21252B"/>
                </a:solidFill>
                <a:latin typeface="Arial"/>
              </a:rPr>
              <a:t>•  Build from a source directory — point at a local dir and run your build steps there.</a:t>
            </a:r>
          </a:p>
          <a:p>
            <a:pPr>
              <a:spcAft>
                <a:spcPts val="1000"/>
              </a:spcAft>
            </a:pPr>
            <a:r>
              <a:rPr sz="2000" b="0">
                <a:solidFill>
                  <a:srgbClr val="21252B"/>
                </a:solidFill>
                <a:latin typeface="Arial"/>
              </a:rPr>
              <a:t>•  Or just stage binaries — copy in a directory of pre-built binaries, no compile at all.</a:t>
            </a:r>
          </a:p>
          <a:p>
            <a:pPr>
              <a:spcAft>
                <a:spcPts val="1000"/>
              </a:spcAft>
            </a:pPr>
            <a:r>
              <a:rPr sz="2000" b="0">
                <a:solidFill>
                  <a:srgbClr val="21252B"/>
                </a:solidFill>
                <a:latin typeface="Arial"/>
              </a:rPr>
              <a:t>•  Builds are cached &amp; shared — reruns skip rebuilding (the 'BUILD_REUSED' you'll see live).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7680960" cy="365760"/>
          </a:xfrm>
          <a:prstGeom prst="rect">
            <a:avLst/>
          </a:prstGeom>
          <a:noFill/>
        </p:spPr>
        <p:txBody>
          <a:bodyPr wrap="square">
            <a:spAutoFit/>
          </a:bodyPr>
          <a:lstStyle/>
          <a:p>
            <a:r>
              <a:rPr sz="1200" b="1">
                <a:solidFill>
                  <a:srgbClr val="2E6DA4"/>
                </a:solidFill>
                <a:latin typeface="Arial"/>
              </a:rPr>
              <a:t>CONCEPTS</a:t>
            </a:r>
          </a:p>
        </p:txBody>
      </p:sp>
      <p:sp>
        <p:nvSpPr>
          <p:cNvPr id="3" name="TextBox 2"/>
          <p:cNvSpPr txBox="1"/>
          <p:nvPr/>
        </p:nvSpPr>
        <p:spPr>
          <a:xfrm>
            <a:off x="548640" y="640080"/>
            <a:ext cx="11064240" cy="822960"/>
          </a:xfrm>
          <a:prstGeom prst="rect">
            <a:avLst/>
          </a:prstGeom>
          <a:noFill/>
        </p:spPr>
        <p:txBody>
          <a:bodyPr wrap="square">
            <a:spAutoFit/>
          </a:bodyPr>
          <a:lstStyle/>
          <a:p>
            <a:r>
              <a:rPr sz="3000" b="1">
                <a:solidFill>
                  <a:srgbClr val="1F3B63"/>
                </a:solidFill>
                <a:latin typeface="Arial"/>
              </a:rPr>
              <a:t>Anatomy of a test (YAML)</a:t>
            </a:r>
          </a:p>
        </p:txBody>
      </p:sp>
      <p:sp>
        <p:nvSpPr>
          <p:cNvPr id="4" name="Rectangle 3"/>
          <p:cNvSpPr/>
          <p:nvPr/>
        </p:nvSpPr>
        <p:spPr>
          <a:xfrm>
            <a:off x="566928" y="1417320"/>
            <a:ext cx="2011680"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00200"/>
            <a:ext cx="10972800" cy="457200"/>
          </a:xfrm>
          <a:prstGeom prst="rect">
            <a:avLst/>
          </a:prstGeom>
          <a:noFill/>
        </p:spPr>
        <p:txBody>
          <a:bodyPr wrap="square">
            <a:spAutoFit/>
          </a:bodyPr>
          <a:lstStyle/>
          <a:p>
            <a:r>
              <a:rPr sz="1600" b="0">
                <a:solidFill>
                  <a:srgbClr val="5B6674"/>
                </a:solidFill>
                <a:latin typeface="Arial"/>
              </a:rPr>
              <a:t>A trivial test: a name, a scheduler + queue, and the commands to run.</a:t>
            </a:r>
          </a:p>
        </p:txBody>
      </p:sp>
      <p:sp>
        <p:nvSpPr>
          <p:cNvPr id="6" name="Rectangle 5"/>
          <p:cNvSpPr/>
          <p:nvPr/>
        </p:nvSpPr>
        <p:spPr>
          <a:xfrm>
            <a:off x="640080" y="2148840"/>
            <a:ext cx="10972800" cy="4206240"/>
          </a:xfrm>
          <a:prstGeom prst="rect">
            <a:avLst/>
          </a:prstGeom>
          <a:solidFill>
            <a:srgbClr val="F3F4F6"/>
          </a:solidFill>
          <a:ln w="12700">
            <a:solidFill>
              <a:srgbClr val="D5DAE0"/>
            </a:solidFill>
          </a:ln>
        </p:spPr>
        <p:style>
          <a:lnRef idx="1">
            <a:schemeClr val="accent1"/>
          </a:lnRef>
          <a:fillRef idx="3">
            <a:schemeClr val="accent1"/>
          </a:fillRef>
          <a:effectRef idx="2">
            <a:schemeClr val="accent1"/>
          </a:effectRef>
          <a:fontRef idx="minor">
            <a:schemeClr val="lt1"/>
          </a:fontRef>
        </p:style>
        <p:txBody>
          <a:bodyPr rtlCol="0" anchor="t" wrap="square" lIns="228600" tIns="164592"/>
          <a:lstStyle/>
          <a:p>
            <a:pPr algn="l"/>
            <a:r>
              <a:rPr sz="1400" b="0">
                <a:solidFill>
                  <a:srgbClr val="1B2B34"/>
                </a:solidFill>
                <a:latin typeface="Consolas"/>
              </a:rPr>
              <a:t>demo_pass:</a:t>
            </a:r>
          </a:p>
          <a:p>
            <a:pPr algn="l"/>
            <a:r>
              <a:rPr sz="1400" b="0">
                <a:solidFill>
                  <a:srgbClr val="1B2B34"/>
                </a:solidFill>
                <a:latin typeface="Consolas"/>
              </a:rPr>
              <a:t>  summary: 'Trivial PASS via PBS'</a:t>
            </a:r>
          </a:p>
          <a:p>
            <a:pPr algn="l"/>
            <a:r>
              <a:rPr sz="1400" b="0">
                <a:solidFill>
                  <a:srgbClr val="1B2B34"/>
                </a:solidFill>
                <a:latin typeface="Consolas"/>
              </a:rPr>
              <a:t>  scheduler: pbs</a:t>
            </a:r>
          </a:p>
          <a:p>
            <a:pPr algn="l"/>
            <a:r>
              <a:rPr sz="1400" b="0">
                <a:solidFill>
                  <a:srgbClr val="1B2B34"/>
                </a:solidFill>
                <a:latin typeface="Consolas"/>
              </a:rPr>
              <a:t>  schedule:</a:t>
            </a:r>
          </a:p>
          <a:p>
            <a:pPr algn="l"/>
            <a:r>
              <a:rPr sz="1400" b="0">
                <a:solidFill>
                  <a:srgbClr val="1B2B34"/>
                </a:solidFill>
                <a:latin typeface="Consolas"/>
              </a:rPr>
              <a:t>    pbs:</a:t>
            </a:r>
          </a:p>
          <a:p>
            <a:pPr algn="l"/>
            <a:r>
              <a:rPr sz="1400" b="0">
                <a:solidFill>
                  <a:srgbClr val="1B2B34"/>
                </a:solidFill>
                <a:latin typeface="Consolas"/>
              </a:rPr>
              <a:t>      queue: workq          # submit to a PBS queue</a:t>
            </a:r>
          </a:p>
          <a:p>
            <a:pPr algn="l"/>
            <a:r>
              <a:rPr sz="1400" b="0">
                <a:solidFill>
                  <a:srgbClr val="1B2B34"/>
                </a:solidFill>
                <a:latin typeface="Consolas"/>
              </a:rPr>
              <a:t>  run:</a:t>
            </a:r>
          </a:p>
          <a:p>
            <a:pPr algn="l"/>
            <a:r>
              <a:rPr sz="1400" b="0">
                <a:solidFill>
                  <a:srgbClr val="1B2B34"/>
                </a:solidFill>
                <a:latin typeface="Consolas"/>
              </a:rPr>
              <a:t>    cmds:</a:t>
            </a:r>
          </a:p>
          <a:p>
            <a:pPr algn="l"/>
            <a:r>
              <a:rPr sz="1400" b="0">
                <a:solidFill>
                  <a:srgbClr val="1B2B34"/>
                </a:solidFill>
                <a:latin typeface="Consolas"/>
              </a:rPr>
              <a:t>      - 'echo "hello from $(hostname)"'</a:t>
            </a:r>
          </a:p>
          <a:p>
            <a:pPr algn="l"/>
            <a:r>
              <a:rPr sz="1400" b="0">
                <a:solidFill>
                  <a:srgbClr val="1B2B34"/>
                </a:solidFill>
                <a:latin typeface="Consolas"/>
              </a:rPr>
              <a:t> </a:t>
            </a:r>
          </a:p>
          <a:p>
            <a:pPr algn="l"/>
            <a:r>
              <a:rPr sz="1400" b="0">
                <a:solidFill>
                  <a:srgbClr val="5B6674"/>
                </a:solidFill>
                <a:latin typeface="Consolas"/>
              </a:rPr>
              <a:t># PASS/FAIL comes from the exit code of the last command.</a:t>
            </a:r>
          </a:p>
          <a:p>
            <a:pPr algn="l"/>
            <a:r>
              <a:rPr sz="1400" b="0">
                <a:solidFill>
                  <a:srgbClr val="5B6674"/>
                </a:solidFill>
                <a:latin typeface="Consolas"/>
              </a:rPr>
              <a:t># Address it as:  suite.test   -&gt;   demo_pbs.pass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7680960" cy="365760"/>
          </a:xfrm>
          <a:prstGeom prst="rect">
            <a:avLst/>
          </a:prstGeom>
          <a:noFill/>
        </p:spPr>
        <p:txBody>
          <a:bodyPr wrap="square">
            <a:spAutoFit/>
          </a:bodyPr>
          <a:lstStyle/>
          <a:p>
            <a:r>
              <a:rPr sz="1200" b="1">
                <a:solidFill>
                  <a:srgbClr val="2E6DA4"/>
                </a:solidFill>
                <a:latin typeface="Arial"/>
              </a:rPr>
              <a:t>A BIG ONE</a:t>
            </a:r>
          </a:p>
        </p:txBody>
      </p:sp>
      <p:sp>
        <p:nvSpPr>
          <p:cNvPr id="3" name="TextBox 2"/>
          <p:cNvSpPr txBox="1"/>
          <p:nvPr/>
        </p:nvSpPr>
        <p:spPr>
          <a:xfrm>
            <a:off x="548640" y="640080"/>
            <a:ext cx="11064240" cy="822960"/>
          </a:xfrm>
          <a:prstGeom prst="rect">
            <a:avLst/>
          </a:prstGeom>
          <a:noFill/>
        </p:spPr>
        <p:txBody>
          <a:bodyPr wrap="square">
            <a:spAutoFit/>
          </a:bodyPr>
          <a:lstStyle/>
          <a:p>
            <a:r>
              <a:rPr sz="3000" b="1">
                <a:solidFill>
                  <a:srgbClr val="1F3B63"/>
                </a:solidFill>
                <a:latin typeface="Arial"/>
              </a:rPr>
              <a:t>Inheritable test definitions</a:t>
            </a:r>
          </a:p>
        </p:txBody>
      </p:sp>
      <p:sp>
        <p:nvSpPr>
          <p:cNvPr id="4" name="Rectangle 3"/>
          <p:cNvSpPr/>
          <p:nvPr/>
        </p:nvSpPr>
        <p:spPr>
          <a:xfrm>
            <a:off x="566928" y="1417320"/>
            <a:ext cx="2011680"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91640"/>
            <a:ext cx="10972800" cy="4754880"/>
          </a:xfrm>
          <a:prstGeom prst="rect">
            <a:avLst/>
          </a:prstGeom>
          <a:noFill/>
        </p:spPr>
        <p:txBody>
          <a:bodyPr wrap="square">
            <a:spAutoFit/>
          </a:bodyPr>
          <a:lstStyle/>
          <a:p>
            <a:pPr>
              <a:spcAft>
                <a:spcPts val="1000"/>
              </a:spcAft>
            </a:pPr>
            <a:r>
              <a:rPr sz="2000" b="0">
                <a:solidFill>
                  <a:srgbClr val="21252B"/>
                </a:solidFill>
                <a:latin typeface="Arial"/>
              </a:rPr>
              <a:t>•  Write shared config once in a base test — scheduler, build, run, parsing.</a:t>
            </a:r>
          </a:p>
          <a:p>
            <a:pPr>
              <a:spcAft>
                <a:spcPts val="1000"/>
              </a:spcAft>
            </a:pPr>
            <a:r>
              <a:rPr sz="2000" b="0">
                <a:solidFill>
                  <a:srgbClr val="21252B"/>
                </a:solidFill>
                <a:latin typeface="Arial"/>
              </a:rPr>
              <a:t>•  Other tests just say  inherits_from: &lt;base&gt;  and get all of it for free.</a:t>
            </a:r>
          </a:p>
          <a:p>
            <a:pPr>
              <a:spcAft>
                <a:spcPts val="1000"/>
              </a:spcAft>
            </a:pPr>
            <a:r>
              <a:rPr sz="2000" b="0">
                <a:solidFill>
                  <a:srgbClr val="21252B"/>
                </a:solidFill>
                <a:latin typeface="Arial"/>
              </a:rPr>
              <a:t>•  Each one overrides only what changes — no copy-paste, no drift.</a:t>
            </a:r>
          </a:p>
          <a:p>
            <a:pPr>
              <a:spcAft>
                <a:spcPts val="1000"/>
              </a:spcAft>
            </a:pPr>
            <a:r>
              <a:rPr sz="2000" b="0">
                <a:solidFill>
                  <a:srgbClr val="21252B"/>
                </a:solidFill>
                <a:latin typeface="Arial"/>
              </a:rPr>
              <a:t>•  Fix the base once → every test that inherits it updates.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7680960" cy="365760"/>
          </a:xfrm>
          <a:prstGeom prst="rect">
            <a:avLst/>
          </a:prstGeom>
          <a:noFill/>
        </p:spPr>
        <p:txBody>
          <a:bodyPr wrap="square">
            <a:spAutoFit/>
          </a:bodyPr>
          <a:lstStyle/>
          <a:p>
            <a:r>
              <a:rPr sz="1200" b="1">
                <a:solidFill>
                  <a:srgbClr val="2E6DA4"/>
                </a:solidFill>
                <a:latin typeface="Arial"/>
              </a:rPr>
              <a:t>A BIG ONE</a:t>
            </a:r>
          </a:p>
        </p:txBody>
      </p:sp>
      <p:sp>
        <p:nvSpPr>
          <p:cNvPr id="3" name="TextBox 2"/>
          <p:cNvSpPr txBox="1"/>
          <p:nvPr/>
        </p:nvSpPr>
        <p:spPr>
          <a:xfrm>
            <a:off x="548640" y="640080"/>
            <a:ext cx="11064240" cy="822960"/>
          </a:xfrm>
          <a:prstGeom prst="rect">
            <a:avLst/>
          </a:prstGeom>
          <a:noFill/>
        </p:spPr>
        <p:txBody>
          <a:bodyPr wrap="square">
            <a:spAutoFit/>
          </a:bodyPr>
          <a:lstStyle/>
          <a:p>
            <a:r>
              <a:rPr sz="3000" b="1">
                <a:solidFill>
                  <a:srgbClr val="1F3B63"/>
                </a:solidFill>
                <a:latin typeface="Arial"/>
              </a:rPr>
              <a:t>Inheritance in action</a:t>
            </a:r>
          </a:p>
        </p:txBody>
      </p:sp>
      <p:sp>
        <p:nvSpPr>
          <p:cNvPr id="4" name="Rectangle 3"/>
          <p:cNvSpPr/>
          <p:nvPr/>
        </p:nvSpPr>
        <p:spPr>
          <a:xfrm>
            <a:off x="566928" y="1417320"/>
            <a:ext cx="2011680"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1783080"/>
            <a:ext cx="10972800" cy="4572000"/>
          </a:xfrm>
          <a:prstGeom prst="rect">
            <a:avLst/>
          </a:prstGeom>
          <a:solidFill>
            <a:srgbClr val="F3F4F6"/>
          </a:solidFill>
          <a:ln w="12700">
            <a:solidFill>
              <a:srgbClr val="D5DAE0"/>
            </a:solidFill>
          </a:ln>
        </p:spPr>
        <p:style>
          <a:lnRef idx="1">
            <a:schemeClr val="accent1"/>
          </a:lnRef>
          <a:fillRef idx="3">
            <a:schemeClr val="accent1"/>
          </a:fillRef>
          <a:effectRef idx="2">
            <a:schemeClr val="accent1"/>
          </a:effectRef>
          <a:fontRef idx="minor">
            <a:schemeClr val="lt1"/>
          </a:fontRef>
        </p:style>
        <p:txBody>
          <a:bodyPr rtlCol="0" anchor="t" wrap="square" lIns="228600" tIns="164592"/>
          <a:lstStyle/>
          <a:p>
            <a:pPr algn="l"/>
            <a:r>
              <a:rPr sz="1400" b="0">
                <a:solidFill>
                  <a:srgbClr val="1B2B34"/>
                </a:solidFill>
                <a:latin typeface="Consolas"/>
              </a:rPr>
              <a:t>base:                          # shared config, written once</a:t>
            </a:r>
          </a:p>
          <a:p>
            <a:pPr algn="l"/>
            <a:r>
              <a:rPr sz="1400" b="0">
                <a:solidFill>
                  <a:srgbClr val="1B2B34"/>
                </a:solidFill>
                <a:latin typeface="Consolas"/>
              </a:rPr>
              <a:t>  variables:</a:t>
            </a:r>
          </a:p>
          <a:p>
            <a:pPr algn="l"/>
            <a:r>
              <a:rPr sz="1400" b="0">
                <a:solidFill>
                  <a:srgbClr val="1B2B34"/>
                </a:solidFill>
                <a:latin typeface="Consolas"/>
              </a:rPr>
              <a:t>    threads: 2</a:t>
            </a:r>
          </a:p>
          <a:p>
            <a:pPr algn="l"/>
            <a:r>
              <a:rPr sz="1400" b="0">
                <a:solidFill>
                  <a:srgbClr val="1B2B34"/>
                </a:solidFill>
                <a:latin typeface="Consolas"/>
              </a:rPr>
              <a:t>  build:</a:t>
            </a:r>
          </a:p>
          <a:p>
            <a:pPr algn="l"/>
            <a:r>
              <a:rPr sz="1400" b="0">
                <a:solidFill>
                  <a:srgbClr val="1B2B34"/>
                </a:solidFill>
                <a:latin typeface="Consolas"/>
              </a:rPr>
              <a:t>    source_path: stream.c</a:t>
            </a:r>
          </a:p>
          <a:p>
            <a:pPr algn="l"/>
            <a:r>
              <a:rPr sz="1400" b="0">
                <a:solidFill>
                  <a:srgbClr val="1B2B34"/>
                </a:solidFill>
                <a:latin typeface="Consolas"/>
              </a:rPr>
              <a:t>    cmds:</a:t>
            </a:r>
          </a:p>
          <a:p>
            <a:pPr algn="l"/>
            <a:r>
              <a:rPr sz="1400" b="0">
                <a:solidFill>
                  <a:srgbClr val="1B2B34"/>
                </a:solidFill>
                <a:latin typeface="Consolas"/>
              </a:rPr>
              <a:t>      - 'gcc -O3 -fopenmp stream.c -o stream'</a:t>
            </a:r>
          </a:p>
          <a:p>
            <a:pPr algn="l"/>
            <a:r>
              <a:rPr sz="1400" b="0">
                <a:solidFill>
                  <a:srgbClr val="1B2B34"/>
                </a:solidFill>
                <a:latin typeface="Consolas"/>
              </a:rPr>
              <a:t>  run:</a:t>
            </a:r>
          </a:p>
          <a:p>
            <a:pPr algn="l"/>
            <a:r>
              <a:rPr sz="1400" b="0">
                <a:solidFill>
                  <a:srgbClr val="1B2B34"/>
                </a:solidFill>
                <a:latin typeface="Consolas"/>
              </a:rPr>
              <a:t>    cmds:</a:t>
            </a:r>
          </a:p>
          <a:p>
            <a:pPr algn="l"/>
            <a:r>
              <a:rPr sz="1400" b="0">
                <a:solidFill>
                  <a:srgbClr val="1B2B34"/>
                </a:solidFill>
                <a:latin typeface="Consolas"/>
              </a:rPr>
              <a:t>      - 'OMP_NUM_THREADS={{threads}} ./stream'</a:t>
            </a:r>
          </a:p>
          <a:p>
            <a:pPr algn="l"/>
            <a:r>
              <a:rPr sz="1400" b="0">
                <a:solidFill>
                  <a:srgbClr val="1B2B34"/>
                </a:solidFill>
                <a:latin typeface="Consolas"/>
              </a:rPr>
              <a:t> </a:t>
            </a:r>
          </a:p>
          <a:p>
            <a:pPr algn="l"/>
            <a:r>
              <a:rPr sz="1400" b="0">
                <a:solidFill>
                  <a:srgbClr val="1B2B34"/>
                </a:solidFill>
                <a:latin typeface="Consolas"/>
              </a:rPr>
              <a:t>small:</a:t>
            </a:r>
          </a:p>
          <a:p>
            <a:pPr algn="l"/>
            <a:r>
              <a:rPr sz="1400" b="0">
                <a:solidFill>
                  <a:srgbClr val="1B2B34"/>
                </a:solidFill>
                <a:latin typeface="Consolas"/>
              </a:rPr>
              <a:t>  inherits_from: base          # that's it — inherits everything</a:t>
            </a:r>
          </a:p>
          <a:p>
            <a:pPr algn="l"/>
            <a:r>
              <a:rPr sz="1400" b="0">
                <a:solidFill>
                  <a:srgbClr val="1B2B34"/>
                </a:solidFill>
                <a:latin typeface="Consolas"/>
              </a:rPr>
              <a:t> </a:t>
            </a:r>
          </a:p>
          <a:p>
            <a:pPr algn="l"/>
            <a:r>
              <a:rPr sz="1400" b="0">
                <a:solidFill>
                  <a:srgbClr val="1B2B34"/>
                </a:solidFill>
                <a:latin typeface="Consolas"/>
              </a:rPr>
              <a:t>large:</a:t>
            </a:r>
          </a:p>
          <a:p>
            <a:pPr algn="l"/>
            <a:r>
              <a:rPr sz="1400" b="0">
                <a:solidFill>
                  <a:srgbClr val="1B2B34"/>
                </a:solidFill>
                <a:latin typeface="Consolas"/>
              </a:rPr>
              <a:t>  inherits_from: base</a:t>
            </a:r>
          </a:p>
          <a:p>
            <a:pPr algn="l"/>
            <a:r>
              <a:rPr sz="1400" b="0">
                <a:solidFill>
                  <a:srgbClr val="1B2B34"/>
                </a:solidFill>
                <a:latin typeface="Consolas"/>
              </a:rPr>
              <a:t>  variables:</a:t>
            </a:r>
          </a:p>
          <a:p>
            <a:pPr algn="l"/>
            <a:r>
              <a:rPr sz="1400" b="0">
                <a:solidFill>
                  <a:srgbClr val="1B2B34"/>
                </a:solidFill>
                <a:latin typeface="Consolas"/>
              </a:rPr>
              <a:t>    threads: 5                 # override just the variable</a:t>
            </a:r>
          </a:p>
          <a:p>
            <a:pPr algn="l"/>
            <a:r>
              <a:rPr sz="1400" b="0">
                <a:solidFill>
                  <a:srgbClr val="1B2B34"/>
                </a:solidFill>
                <a:latin typeface="Consolas"/>
              </a:rPr>
              <a:t> </a:t>
            </a:r>
          </a:p>
          <a:p>
            <a:pPr algn="l"/>
            <a:r>
              <a:rPr sz="1400" b="0">
                <a:solidFill>
                  <a:srgbClr val="1B2B34"/>
                </a:solidFill>
                <a:latin typeface="Consolas"/>
              </a:rPr>
              <a:t>debug:</a:t>
            </a:r>
          </a:p>
          <a:p>
            <a:pPr algn="l"/>
            <a:r>
              <a:rPr sz="1400" b="0">
                <a:solidFill>
                  <a:srgbClr val="1B2B34"/>
                </a:solidFill>
                <a:latin typeface="Consolas"/>
              </a:rPr>
              <a:t>  inherits_from: base</a:t>
            </a:r>
          </a:p>
          <a:p>
            <a:pPr algn="l"/>
            <a:r>
              <a:rPr sz="1400" b="0">
                <a:solidFill>
                  <a:srgbClr val="1B2B34"/>
                </a:solidFill>
                <a:latin typeface="Consolas"/>
              </a:rPr>
              <a:t>  build:</a:t>
            </a:r>
          </a:p>
          <a:p>
            <a:pPr algn="l"/>
            <a:r>
              <a:rPr sz="1400" b="0">
                <a:solidFill>
                  <a:srgbClr val="1B2B34"/>
                </a:solidFill>
                <a:latin typeface="Consolas"/>
              </a:rPr>
              <a:t>    cmds:</a:t>
            </a:r>
          </a:p>
          <a:p>
            <a:pPr algn="l"/>
            <a:r>
              <a:rPr sz="1400" b="0">
                <a:solidFill>
                  <a:srgbClr val="1B2B34"/>
                </a:solidFill>
                <a:latin typeface="Consolas"/>
              </a:rPr>
              <a:t>      - 'gcc -O3 -fopenmp -fsanitize=address stream.c -o stream'   # override the build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7680960" cy="365760"/>
          </a:xfrm>
          <a:prstGeom prst="rect">
            <a:avLst/>
          </a:prstGeom>
          <a:noFill/>
        </p:spPr>
        <p:txBody>
          <a:bodyPr wrap="square">
            <a:spAutoFit/>
          </a:bodyPr>
          <a:lstStyle/>
          <a:p>
            <a:r>
              <a:rPr sz="1200" b="1">
                <a:solidFill>
                  <a:srgbClr val="2E6DA4"/>
                </a:solidFill>
                <a:latin typeface="Arial"/>
              </a:rPr>
              <a:t>CONCEPTS</a:t>
            </a:r>
          </a:p>
        </p:txBody>
      </p:sp>
      <p:sp>
        <p:nvSpPr>
          <p:cNvPr id="3" name="TextBox 2"/>
          <p:cNvSpPr txBox="1"/>
          <p:nvPr/>
        </p:nvSpPr>
        <p:spPr>
          <a:xfrm>
            <a:off x="548640" y="640080"/>
            <a:ext cx="11064240" cy="822960"/>
          </a:xfrm>
          <a:prstGeom prst="rect">
            <a:avLst/>
          </a:prstGeom>
          <a:noFill/>
        </p:spPr>
        <p:txBody>
          <a:bodyPr wrap="square">
            <a:spAutoFit/>
          </a:bodyPr>
          <a:lstStyle/>
          <a:p>
            <a:r>
              <a:rPr sz="3000" b="1">
                <a:solidFill>
                  <a:srgbClr val="1F3B63"/>
                </a:solidFill>
                <a:latin typeface="Arial"/>
              </a:rPr>
              <a:t>A fuller test (YAML)</a:t>
            </a:r>
          </a:p>
        </p:txBody>
      </p:sp>
      <p:sp>
        <p:nvSpPr>
          <p:cNvPr id="4" name="Rectangle 3"/>
          <p:cNvSpPr/>
          <p:nvPr/>
        </p:nvSpPr>
        <p:spPr>
          <a:xfrm>
            <a:off x="566928" y="1417320"/>
            <a:ext cx="2011680"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00200"/>
            <a:ext cx="10972800" cy="457200"/>
          </a:xfrm>
          <a:prstGeom prst="rect">
            <a:avLst/>
          </a:prstGeom>
          <a:noFill/>
        </p:spPr>
        <p:txBody>
          <a:bodyPr wrap="square">
            <a:spAutoFit/>
          </a:bodyPr>
          <a:lstStyle/>
          <a:p>
            <a:r>
              <a:rPr sz="1600" b="0">
                <a:solidFill>
                  <a:srgbClr val="5B6674"/>
                </a:solidFill>
                <a:latin typeface="Arial"/>
              </a:rPr>
              <a:t>Same shape, more of it — variables, PBS + a queue, and build → run → parse → evaluate.</a:t>
            </a:r>
          </a:p>
        </p:txBody>
      </p:sp>
      <p:sp>
        <p:nvSpPr>
          <p:cNvPr id="6" name="Rectangle 5"/>
          <p:cNvSpPr/>
          <p:nvPr/>
        </p:nvSpPr>
        <p:spPr>
          <a:xfrm>
            <a:off x="640080" y="2148840"/>
            <a:ext cx="10972800" cy="4572000"/>
          </a:xfrm>
          <a:prstGeom prst="rect">
            <a:avLst/>
          </a:prstGeom>
          <a:solidFill>
            <a:srgbClr val="F3F4F6"/>
          </a:solidFill>
          <a:ln w="12700">
            <a:solidFill>
              <a:srgbClr val="D5DAE0"/>
            </a:solidFill>
          </a:ln>
        </p:spPr>
        <p:style>
          <a:lnRef idx="1">
            <a:schemeClr val="accent1"/>
          </a:lnRef>
          <a:fillRef idx="3">
            <a:schemeClr val="accent1"/>
          </a:fillRef>
          <a:effectRef idx="2">
            <a:schemeClr val="accent1"/>
          </a:effectRef>
          <a:fontRef idx="minor">
            <a:schemeClr val="lt1"/>
          </a:fontRef>
        </p:style>
        <p:txBody>
          <a:bodyPr rtlCol="0" anchor="t" wrap="square" lIns="228600" tIns="164592"/>
          <a:lstStyle/>
          <a:p>
            <a:pPr algn="l"/>
            <a:r>
              <a:rPr sz="1350" b="0">
                <a:solidFill>
                  <a:srgbClr val="1B2B34"/>
                </a:solidFill>
                <a:latin typeface="Consolas"/>
              </a:rPr>
              <a:t>stream:</a:t>
            </a:r>
          </a:p>
          <a:p>
            <a:pPr algn="l"/>
            <a:r>
              <a:rPr sz="1350" b="0">
                <a:solidFill>
                  <a:srgbClr val="1B2B34"/>
                </a:solidFill>
                <a:latin typeface="Consolas"/>
              </a:rPr>
              <a:t>  variables:</a:t>
            </a:r>
          </a:p>
          <a:p>
            <a:pPr algn="l"/>
            <a:r>
              <a:rPr sz="1350" b="0">
                <a:solidFill>
                  <a:srgbClr val="1B2B34"/>
                </a:solidFill>
                <a:latin typeface="Consolas"/>
              </a:rPr>
              <a:t>    array_size: 40000000</a:t>
            </a:r>
          </a:p>
          <a:p>
            <a:pPr algn="l"/>
            <a:r>
              <a:rPr sz="1350" b="0">
                <a:solidFill>
                  <a:srgbClr val="1B2B34"/>
                </a:solidFill>
                <a:latin typeface="Consolas"/>
              </a:rPr>
              <a:t>    threads: 4</a:t>
            </a:r>
          </a:p>
          <a:p>
            <a:pPr algn="l"/>
            <a:r>
              <a:rPr sz="1350" b="0">
                <a:solidFill>
                  <a:srgbClr val="1B2B34"/>
                </a:solidFill>
                <a:latin typeface="Consolas"/>
              </a:rPr>
              <a:t>  scheduler: pbs</a:t>
            </a:r>
          </a:p>
          <a:p>
            <a:pPr algn="l"/>
            <a:r>
              <a:rPr sz="1350" b="0">
                <a:solidFill>
                  <a:srgbClr val="1B2B34"/>
                </a:solidFill>
                <a:latin typeface="Consolas"/>
              </a:rPr>
              <a:t>  schedule:</a:t>
            </a:r>
          </a:p>
          <a:p>
            <a:pPr algn="l"/>
            <a:r>
              <a:rPr sz="1350" b="0">
                <a:solidFill>
                  <a:srgbClr val="1B2B34"/>
                </a:solidFill>
                <a:latin typeface="Consolas"/>
              </a:rPr>
              <a:t>    pbs:</a:t>
            </a:r>
          </a:p>
          <a:p>
            <a:pPr algn="l"/>
            <a:r>
              <a:rPr sz="1350" b="0">
                <a:solidFill>
                  <a:srgbClr val="1B2B34"/>
                </a:solidFill>
                <a:latin typeface="Consolas"/>
              </a:rPr>
              <a:t>      queue: workq          # target a queue</a:t>
            </a:r>
          </a:p>
          <a:p>
            <a:pPr algn="l"/>
            <a:r>
              <a:rPr sz="1350" b="0">
                <a:solidFill>
                  <a:srgbClr val="1B2B34"/>
                </a:solidFill>
                <a:latin typeface="Consolas"/>
              </a:rPr>
              <a:t>      nodes: 1</a:t>
            </a:r>
          </a:p>
          <a:p>
            <a:pPr algn="l"/>
            <a:r>
              <a:rPr sz="1350" b="0">
                <a:solidFill>
                  <a:srgbClr val="1B2B34"/>
                </a:solidFill>
                <a:latin typeface="Consolas"/>
              </a:rPr>
              <a:t>      walltime: '00:05:00'</a:t>
            </a:r>
          </a:p>
          <a:p>
            <a:pPr algn="l"/>
            <a:r>
              <a:rPr sz="1350" b="0">
                <a:solidFill>
                  <a:srgbClr val="1B2B34"/>
                </a:solidFill>
                <a:latin typeface="Consolas"/>
              </a:rPr>
              <a:t>  build:                    # compile from source</a:t>
            </a:r>
          </a:p>
          <a:p>
            <a:pPr algn="l"/>
            <a:r>
              <a:rPr sz="1350" b="0">
                <a:solidFill>
                  <a:srgbClr val="1B2B34"/>
                </a:solidFill>
                <a:latin typeface="Consolas"/>
              </a:rPr>
              <a:t>    source_path: stream.c</a:t>
            </a:r>
          </a:p>
          <a:p>
            <a:pPr algn="l"/>
            <a:r>
              <a:rPr sz="1350" b="0">
                <a:solidFill>
                  <a:srgbClr val="1B2B34"/>
                </a:solidFill>
                <a:latin typeface="Consolas"/>
              </a:rPr>
              <a:t>    cmds: ['gcc -fopenmp -DN={{array_size}} stream.c -o stream']</a:t>
            </a:r>
          </a:p>
          <a:p>
            <a:pPr algn="l"/>
            <a:r>
              <a:rPr sz="1350" b="0">
                <a:solidFill>
                  <a:srgbClr val="1B2B34"/>
                </a:solidFill>
                <a:latin typeface="Consolas"/>
              </a:rPr>
              <a:t>  run:</a:t>
            </a:r>
          </a:p>
          <a:p>
            <a:pPr algn="l"/>
            <a:r>
              <a:rPr sz="1350" b="0">
                <a:solidFill>
                  <a:srgbClr val="1B2B34"/>
                </a:solidFill>
                <a:latin typeface="Consolas"/>
              </a:rPr>
              <a:t>    env: {OMP_NUM_THREADS: '{{threads}}'}</a:t>
            </a:r>
          </a:p>
          <a:p>
            <a:pPr algn="l"/>
            <a:r>
              <a:rPr sz="1350" b="0">
                <a:solidFill>
                  <a:srgbClr val="1B2B34"/>
                </a:solidFill>
                <a:latin typeface="Consolas"/>
              </a:rPr>
              <a:t>    cmds: ['./stream']</a:t>
            </a:r>
          </a:p>
          <a:p>
            <a:pPr algn="l"/>
            <a:r>
              <a:rPr sz="1350" b="0">
                <a:solidFill>
                  <a:srgbClr val="1B2B34"/>
                </a:solidFill>
                <a:latin typeface="Consolas"/>
              </a:rPr>
              <a:t>  result_parse:</a:t>
            </a:r>
          </a:p>
          <a:p>
            <a:pPr algn="l"/>
            <a:r>
              <a:rPr sz="1350" b="0">
                <a:solidFill>
                  <a:srgbClr val="1B2B34"/>
                </a:solidFill>
                <a:latin typeface="Consolas"/>
              </a:rPr>
              <a:t>    regex:</a:t>
            </a:r>
          </a:p>
          <a:p>
            <a:pPr algn="l"/>
            <a:r>
              <a:rPr sz="1350" b="0">
                <a:solidFill>
                  <a:srgbClr val="1B2B34"/>
                </a:solidFill>
                <a:latin typeface="Consolas"/>
              </a:rPr>
              <a:t>      triad_mbs: {regex: 'Triad:\s+(\S+)'}</a:t>
            </a:r>
          </a:p>
          <a:p>
            <a:pPr algn="l"/>
            <a:r>
              <a:rPr sz="1350" b="0">
                <a:solidFill>
                  <a:srgbClr val="1B2B34"/>
                </a:solidFill>
                <a:latin typeface="Consolas"/>
              </a:rPr>
              <a:t>  result_evaluate:</a:t>
            </a:r>
          </a:p>
          <a:p>
            <a:pPr algn="l"/>
            <a:r>
              <a:rPr sz="1350" b="0">
                <a:solidFill>
                  <a:srgbClr val="1B2B34"/>
                </a:solidFill>
                <a:latin typeface="Consolas"/>
              </a:rPr>
              <a:t>    result: 'triad_mbs &gt; 10000'    # PASS only if fast enough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7680960" cy="365760"/>
          </a:xfrm>
          <a:prstGeom prst="rect">
            <a:avLst/>
          </a:prstGeom>
          <a:noFill/>
        </p:spPr>
        <p:txBody>
          <a:bodyPr wrap="square">
            <a:spAutoFit/>
          </a:bodyPr>
          <a:lstStyle/>
          <a:p>
            <a:r>
              <a:rPr sz="1200" b="1">
                <a:solidFill>
                  <a:srgbClr val="2E6DA4"/>
                </a:solidFill>
                <a:latin typeface="Arial"/>
              </a:rPr>
              <a:t>CONCEPTS</a:t>
            </a:r>
          </a:p>
        </p:txBody>
      </p:sp>
      <p:sp>
        <p:nvSpPr>
          <p:cNvPr id="3" name="TextBox 2"/>
          <p:cNvSpPr txBox="1"/>
          <p:nvPr/>
        </p:nvSpPr>
        <p:spPr>
          <a:xfrm>
            <a:off x="548640" y="640080"/>
            <a:ext cx="11064240" cy="822960"/>
          </a:xfrm>
          <a:prstGeom prst="rect">
            <a:avLst/>
          </a:prstGeom>
          <a:noFill/>
        </p:spPr>
        <p:txBody>
          <a:bodyPr wrap="square">
            <a:spAutoFit/>
          </a:bodyPr>
          <a:lstStyle/>
          <a:p>
            <a:r>
              <a:rPr sz="3000" b="1">
                <a:solidFill>
                  <a:srgbClr val="1F3B63"/>
                </a:solidFill>
                <a:latin typeface="Arial"/>
              </a:rPr>
              <a:t>The CLI you'll use</a:t>
            </a:r>
          </a:p>
        </p:txBody>
      </p:sp>
      <p:sp>
        <p:nvSpPr>
          <p:cNvPr id="4" name="Rectangle 3"/>
          <p:cNvSpPr/>
          <p:nvPr/>
        </p:nvSpPr>
        <p:spPr>
          <a:xfrm>
            <a:off x="566928" y="1417320"/>
            <a:ext cx="2011680"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91640"/>
            <a:ext cx="10972800" cy="4754880"/>
          </a:xfrm>
          <a:prstGeom prst="rect">
            <a:avLst/>
          </a:prstGeom>
          <a:noFill/>
        </p:spPr>
        <p:txBody>
          <a:bodyPr wrap="square">
            <a:spAutoFit/>
          </a:bodyPr>
          <a:lstStyle/>
          <a:p>
            <a:pPr>
              <a:spcAft>
                <a:spcPts val="1000"/>
              </a:spcAft>
            </a:pPr>
            <a:r>
              <a:rPr sz="2000" b="0">
                <a:solidFill>
                  <a:srgbClr val="21252B"/>
                </a:solidFill>
                <a:latin typeface="Arial"/>
              </a:rPr>
              <a:t>•  pav run &lt;suite.test&gt;   — build + run a test (or a whole suite).</a:t>
            </a:r>
          </a:p>
          <a:p>
            <a:pPr>
              <a:spcAft>
                <a:spcPts val="1000"/>
              </a:spcAft>
            </a:pPr>
            <a:r>
              <a:rPr sz="2000" b="0">
                <a:solidFill>
                  <a:srgbClr val="21252B"/>
                </a:solidFill>
                <a:latin typeface="Arial"/>
              </a:rPr>
              <a:t>•  pav status &lt;sid&gt;       — where are my tests / did they pass?</a:t>
            </a:r>
          </a:p>
          <a:p>
            <a:pPr>
              <a:spcAft>
                <a:spcPts val="1000"/>
              </a:spcAft>
            </a:pPr>
            <a:r>
              <a:rPr sz="2000" b="0">
                <a:solidFill>
                  <a:srgbClr val="21252B"/>
                </a:solidFill>
                <a:latin typeface="Arial"/>
              </a:rPr>
              <a:t>•  pav results &lt;sid&gt;      — the results table; --full for the full JSON.</a:t>
            </a:r>
          </a:p>
          <a:p>
            <a:pPr>
              <a:spcAft>
                <a:spcPts val="1000"/>
              </a:spcAft>
            </a:pPr>
            <a:r>
              <a:rPr sz="2000" b="0">
                <a:solidFill>
                  <a:srgbClr val="21252B"/>
                </a:solidFill>
                <a:latin typeface="Arial"/>
              </a:rPr>
              <a:t>•  pav wait &lt;sid&gt;         — block until tests finish.</a:t>
            </a:r>
          </a:p>
          <a:p>
            <a:pPr>
              <a:spcAft>
                <a:spcPts val="1000"/>
              </a:spcAft>
            </a:pPr>
            <a:r>
              <a:rPr sz="2000" b="0">
                <a:solidFill>
                  <a:srgbClr val="21252B"/>
                </a:solidFill>
                <a:latin typeface="Arial"/>
              </a:rPr>
              <a:t>•  pav show tests|sched|modes|series   — what's available.</a:t>
            </a:r>
          </a:p>
          <a:p>
            <a:pPr>
              <a:spcAft>
                <a:spcPts val="1000"/>
              </a:spcAft>
            </a:pPr>
            <a:r>
              <a:rPr sz="1700" b="0">
                <a:solidFill>
                  <a:srgbClr val="5B6674"/>
                </a:solidFill>
                <a:latin typeface="Arial"/>
              </a:rPr>
              <a:t>    – pav log, pav cat, pav ls, pav series … — inspect a run in detail.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7680960" cy="365760"/>
          </a:xfrm>
          <a:prstGeom prst="rect">
            <a:avLst/>
          </a:prstGeom>
          <a:noFill/>
        </p:spPr>
        <p:txBody>
          <a:bodyPr wrap="square">
            <a:spAutoFit/>
          </a:bodyPr>
          <a:lstStyle/>
          <a:p>
            <a:r>
              <a:rPr sz="1200" b="1">
                <a:solidFill>
                  <a:srgbClr val="2E6DA4"/>
                </a:solidFill>
                <a:latin typeface="Arial"/>
              </a:rPr>
              <a:t>LIVE DEMO · RECORDS</a:t>
            </a:r>
          </a:p>
        </p:txBody>
      </p:sp>
      <p:sp>
        <p:nvSpPr>
          <p:cNvPr id="3" name="TextBox 2"/>
          <p:cNvSpPr txBox="1"/>
          <p:nvPr/>
        </p:nvSpPr>
        <p:spPr>
          <a:xfrm>
            <a:off x="548640" y="640080"/>
            <a:ext cx="11064240" cy="822960"/>
          </a:xfrm>
          <a:prstGeom prst="rect">
            <a:avLst/>
          </a:prstGeom>
          <a:noFill/>
        </p:spPr>
        <p:txBody>
          <a:bodyPr wrap="square">
            <a:spAutoFit/>
          </a:bodyPr>
          <a:lstStyle/>
          <a:p>
            <a:r>
              <a:rPr sz="3000" b="1">
                <a:solidFill>
                  <a:srgbClr val="1F3B63"/>
                </a:solidFill>
                <a:latin typeface="Arial"/>
              </a:rPr>
              <a:t>Your whole run history — searchable</a:t>
            </a:r>
          </a:p>
        </p:txBody>
      </p:sp>
      <p:sp>
        <p:nvSpPr>
          <p:cNvPr id="4" name="Rectangle 3"/>
          <p:cNvSpPr/>
          <p:nvPr/>
        </p:nvSpPr>
        <p:spPr>
          <a:xfrm>
            <a:off x="566928" y="1417320"/>
            <a:ext cx="2011680"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503920" y="457200"/>
            <a:ext cx="3108960" cy="50292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Arial"/>
              </a:rPr>
              <a:t>▶  11-history.sh</a:t>
            </a:r>
          </a:p>
        </p:txBody>
      </p:sp>
      <p:sp>
        <p:nvSpPr>
          <p:cNvPr id="6" name="Rectangle 5"/>
          <p:cNvSpPr/>
          <p:nvPr/>
        </p:nvSpPr>
        <p:spPr>
          <a:xfrm>
            <a:off x="640080" y="1645920"/>
            <a:ext cx="10972800" cy="4343400"/>
          </a:xfrm>
          <a:prstGeom prst="rect">
            <a:avLst/>
          </a:prstGeom>
          <a:solidFill>
            <a:srgbClr val="F3F4F6"/>
          </a:solidFill>
          <a:ln w="12700">
            <a:solidFill>
              <a:srgbClr val="D5DAE0"/>
            </a:solidFill>
          </a:ln>
        </p:spPr>
        <p:style>
          <a:lnRef idx="1">
            <a:schemeClr val="accent1"/>
          </a:lnRef>
          <a:fillRef idx="3">
            <a:schemeClr val="accent1"/>
          </a:fillRef>
          <a:effectRef idx="2">
            <a:schemeClr val="accent1"/>
          </a:effectRef>
          <a:fontRef idx="minor">
            <a:schemeClr val="lt1"/>
          </a:fontRef>
        </p:style>
        <p:txBody>
          <a:bodyPr rtlCol="0" anchor="t" wrap="square" lIns="228600" tIns="146304"/>
          <a:lstStyle/>
          <a:p>
            <a:pPr algn="l"/>
            <a:r>
              <a:rPr sz="1400" b="1">
                <a:solidFill>
                  <a:srgbClr val="2E6DA4"/>
                </a:solidFill>
                <a:latin typeface="Consolas"/>
              </a:rPr>
              <a:t>$ pav status all -F failed                    # every failed run, all the way back</a:t>
            </a:r>
          </a:p>
          <a:p>
            <a:pPr algn="l"/>
            <a:r>
              <a:rPr sz="1250" b="0">
                <a:solidFill>
                  <a:srgbClr val="B32A2A"/>
                </a:solidFill>
                <a:latin typeface="Consolas"/>
              </a:rPr>
              <a:t>s70.2   FAIL   demo_pbs.fail              16:40</a:t>
            </a:r>
          </a:p>
          <a:p>
            <a:pPr algn="l"/>
            <a:r>
              <a:rPr sz="1250" b="0">
                <a:solidFill>
                  <a:srgbClr val="B32A2A"/>
                </a:solidFill>
                <a:latin typeface="Consolas"/>
              </a:rPr>
              <a:t>s75.2   FAIL   opensearch_verify.os_fail  16:44</a:t>
            </a:r>
          </a:p>
          <a:p>
            <a:pPr algn="l"/>
            <a:r>
              <a:rPr sz="1250" b="0">
                <a:solidFill>
                  <a:srgbClr val="B32A2A"/>
                </a:solidFill>
                <a:latin typeface="Consolas"/>
              </a:rPr>
              <a:t>s23.71  FAIL   sim_tests.sim_fail_01      Apr 18</a:t>
            </a:r>
          </a:p>
          <a:p>
            <a:pPr algn="l"/>
            <a:r>
              <a:rPr sz="1250" b="0">
                <a:solidFill>
                  <a:srgbClr val="1B2B34"/>
                </a:solidFill>
                <a:latin typeface="Consolas"/>
              </a:rPr>
              <a:t> </a:t>
            </a:r>
          </a:p>
          <a:p>
            <a:pPr algn="l"/>
            <a:r>
              <a:rPr sz="1400" b="1">
                <a:solidFill>
                  <a:srgbClr val="2E6DA4"/>
                </a:solidFill>
                <a:latin typeface="Consolas"/>
              </a:rPr>
              <a:t>$ pav status all -F 'name=demo_pbs.metrics'   # one test, every run</a:t>
            </a:r>
          </a:p>
          <a:p>
            <a:pPr algn="l"/>
            <a:r>
              <a:rPr sz="1250" b="0">
                <a:solidFill>
                  <a:srgbClr val="1E7D3C"/>
                </a:solidFill>
                <a:latin typeface="Consolas"/>
              </a:rPr>
              <a:t>s71.1   PASS   demo_pbs.metrics    16:40</a:t>
            </a:r>
          </a:p>
          <a:p>
            <a:pPr algn="l"/>
            <a:r>
              <a:rPr sz="1250" b="0">
                <a:solidFill>
                  <a:srgbClr val="1E7D3C"/>
                </a:solidFill>
                <a:latin typeface="Consolas"/>
              </a:rPr>
              <a:t>s67.2   PASS   demo_pbs.metrics    16:32</a:t>
            </a:r>
          </a:p>
          <a:p>
            <a:pPr algn="l"/>
            <a:r>
              <a:rPr sz="1250" b="0">
                <a:solidFill>
                  <a:srgbClr val="1E7D3C"/>
                </a:solidFill>
                <a:latin typeface="Consolas"/>
              </a:rPr>
              <a:t>s57.1   PASS   demo_pbs.metrics    16:28</a:t>
            </a:r>
          </a:p>
          <a:p>
            <a:pPr algn="l"/>
            <a:r>
              <a:rPr sz="1250" b="0">
                <a:solidFill>
                  <a:srgbClr val="1B2B34"/>
                </a:solidFill>
                <a:latin typeface="Consolas"/>
              </a:rPr>
              <a:t> </a:t>
            </a:r>
          </a:p>
          <a:p>
            <a:pPr algn="l"/>
            <a:r>
              <a:rPr sz="1400" b="1">
                <a:solidFill>
                  <a:srgbClr val="2E6DA4"/>
                </a:solidFill>
                <a:latin typeface="Consolas"/>
              </a:rPr>
              <a:t>$ pav status all -F 'name=demo_pbs.fail and failed'   # combine filters</a:t>
            </a:r>
          </a:p>
          <a:p>
            <a:pPr algn="l"/>
            <a:r>
              <a:rPr sz="1250" b="0">
                <a:solidFill>
                  <a:srgbClr val="B32A2A"/>
                </a:solidFill>
                <a:latin typeface="Consolas"/>
              </a:rPr>
              <a:t>s70.2   FAIL   demo_pbs.fail    16:40</a:t>
            </a:r>
          </a:p>
          <a:p>
            <a:pPr algn="l"/>
            <a:r>
              <a:rPr sz="1250" b="0">
                <a:solidFill>
                  <a:srgbClr val="B32A2A"/>
                </a:solidFill>
                <a:latin typeface="Consolas"/>
              </a:rPr>
              <a:t>s56.2   FAIL   demo_pbs.fail    16:27</a:t>
            </a:r>
          </a:p>
        </p:txBody>
      </p:sp>
      <p:sp>
        <p:nvSpPr>
          <p:cNvPr id="7" name="TextBox 6"/>
          <p:cNvSpPr txBox="1"/>
          <p:nvPr/>
        </p:nvSpPr>
        <p:spPr>
          <a:xfrm>
            <a:off x="640080" y="6144768"/>
            <a:ext cx="10972800" cy="502920"/>
          </a:xfrm>
          <a:prstGeom prst="rect">
            <a:avLst/>
          </a:prstGeom>
          <a:noFill/>
        </p:spPr>
        <p:txBody>
          <a:bodyPr wrap="square">
            <a:spAutoFit/>
          </a:bodyPr>
          <a:lstStyle/>
          <a:p>
            <a:r>
              <a:rPr sz="1400" b="0">
                <a:solidFill>
                  <a:srgbClr val="5B6674"/>
                </a:solidFill>
                <a:latin typeface="Arial"/>
              </a:rPr>
              <a:t>Every run is kept. 'all' searches the full history; -F filters — and combines — by result, name, date…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7680960" cy="365760"/>
          </a:xfrm>
          <a:prstGeom prst="rect">
            <a:avLst/>
          </a:prstGeom>
          <a:noFill/>
        </p:spPr>
        <p:txBody>
          <a:bodyPr wrap="square">
            <a:spAutoFit/>
          </a:bodyPr>
          <a:lstStyle/>
          <a:p>
            <a:r>
              <a:rPr sz="1200" b="1">
                <a:solidFill>
                  <a:srgbClr val="2E6DA4"/>
                </a:solidFill>
                <a:latin typeface="Arial"/>
              </a:rPr>
              <a:t>LIVE DEMO · L1</a:t>
            </a:r>
          </a:p>
        </p:txBody>
      </p:sp>
      <p:sp>
        <p:nvSpPr>
          <p:cNvPr id="3" name="TextBox 2"/>
          <p:cNvSpPr txBox="1"/>
          <p:nvPr/>
        </p:nvSpPr>
        <p:spPr>
          <a:xfrm>
            <a:off x="548640" y="640080"/>
            <a:ext cx="11064240" cy="822960"/>
          </a:xfrm>
          <a:prstGeom prst="rect">
            <a:avLst/>
          </a:prstGeom>
          <a:noFill/>
        </p:spPr>
        <p:txBody>
          <a:bodyPr wrap="square">
            <a:spAutoFit/>
          </a:bodyPr>
          <a:lstStyle/>
          <a:p>
            <a:r>
              <a:rPr sz="3000" b="1">
                <a:solidFill>
                  <a:srgbClr val="1F3B63"/>
                </a:solidFill>
                <a:latin typeface="Arial"/>
              </a:rPr>
              <a:t>Basics: PASS and FAIL</a:t>
            </a:r>
          </a:p>
        </p:txBody>
      </p:sp>
      <p:sp>
        <p:nvSpPr>
          <p:cNvPr id="4" name="Rectangle 3"/>
          <p:cNvSpPr/>
          <p:nvPr/>
        </p:nvSpPr>
        <p:spPr>
          <a:xfrm>
            <a:off x="566928" y="1417320"/>
            <a:ext cx="2011680"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503920" y="457200"/>
            <a:ext cx="3108960" cy="50292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Arial"/>
              </a:rPr>
              <a:t>▶  01-basic.sh</a:t>
            </a:r>
          </a:p>
        </p:txBody>
      </p:sp>
      <p:sp>
        <p:nvSpPr>
          <p:cNvPr id="6" name="Rectangle 5"/>
          <p:cNvSpPr/>
          <p:nvPr/>
        </p:nvSpPr>
        <p:spPr>
          <a:xfrm>
            <a:off x="640080" y="1645920"/>
            <a:ext cx="10972800" cy="4343400"/>
          </a:xfrm>
          <a:prstGeom prst="rect">
            <a:avLst/>
          </a:prstGeom>
          <a:solidFill>
            <a:srgbClr val="F3F4F6"/>
          </a:solidFill>
          <a:ln w="12700">
            <a:solidFill>
              <a:srgbClr val="D5DAE0"/>
            </a:solidFill>
          </a:ln>
        </p:spPr>
        <p:style>
          <a:lnRef idx="1">
            <a:schemeClr val="accent1"/>
          </a:lnRef>
          <a:fillRef idx="3">
            <a:schemeClr val="accent1"/>
          </a:fillRef>
          <a:effectRef idx="2">
            <a:schemeClr val="accent1"/>
          </a:effectRef>
          <a:fontRef idx="minor">
            <a:schemeClr val="lt1"/>
          </a:fontRef>
        </p:style>
        <p:txBody>
          <a:bodyPr rtlCol="0" anchor="t" wrap="square" lIns="228600" tIns="146304"/>
          <a:lstStyle/>
          <a:p>
            <a:pPr algn="l"/>
            <a:r>
              <a:rPr sz="1400" b="1">
                <a:solidFill>
                  <a:srgbClr val="2E6DA4"/>
                </a:solidFill>
                <a:latin typeface="Consolas"/>
              </a:rPr>
              <a:t>$ pav run demo_pbs.pass demo_pbs.fail          # two PBS jobs</a:t>
            </a:r>
          </a:p>
          <a:p>
            <a:pPr algn="l"/>
            <a:r>
              <a:rPr sz="1250" b="0">
                <a:solidFill>
                  <a:srgbClr val="1B2B34"/>
                </a:solidFill>
                <a:latin typeface="Consolas"/>
              </a:rPr>
              <a:t>sid: s70</a:t>
            </a:r>
          </a:p>
          <a:p>
            <a:pPr algn="l"/>
            <a:r>
              <a:rPr sz="1250" b="0">
                <a:solidFill>
                  <a:srgbClr val="1B2B34"/>
                </a:solidFill>
                <a:latin typeface="Consolas"/>
              </a:rPr>
              <a:t>tests: 2</a:t>
            </a:r>
          </a:p>
          <a:p>
            <a:pPr algn="l"/>
            <a:r>
              <a:rPr sz="1250" b="0">
                <a:solidFill>
                  <a:srgbClr val="1B2B34"/>
                </a:solidFill>
                <a:latin typeface="Consolas"/>
              </a:rPr>
              <a:t> </a:t>
            </a:r>
          </a:p>
          <a:p>
            <a:pPr algn="l"/>
            <a:r>
              <a:rPr sz="1400" b="1">
                <a:solidFill>
                  <a:srgbClr val="2E6DA4"/>
                </a:solidFill>
                <a:latin typeface="Consolas"/>
              </a:rPr>
              <a:t>$ qstat -a                                     # yes — it went through the scheduler</a:t>
            </a:r>
          </a:p>
          <a:p>
            <a:pPr algn="l"/>
            <a:r>
              <a:rPr sz="1250" b="0">
                <a:solidFill>
                  <a:srgbClr val="1B2B34"/>
                </a:solidFill>
                <a:latin typeface="Consolas"/>
              </a:rPr>
              <a:t>Job ID          Username Queue Jobname    NDS TSK S</a:t>
            </a:r>
          </a:p>
          <a:p>
            <a:pPr algn="l"/>
            <a:r>
              <a:rPr sz="1250" b="0">
                <a:solidFill>
                  <a:srgbClr val="1B2B34"/>
                </a:solidFill>
                <a:latin typeface="Consolas"/>
              </a:rPr>
              <a:t>8383.pbs-server pavilion workq pav_demo_*   1   1 R</a:t>
            </a:r>
          </a:p>
          <a:p>
            <a:pPr algn="l"/>
            <a:r>
              <a:rPr sz="1250" b="0">
                <a:solidFill>
                  <a:srgbClr val="1B2B34"/>
                </a:solidFill>
                <a:latin typeface="Consolas"/>
              </a:rPr>
              <a:t> </a:t>
            </a:r>
          </a:p>
          <a:p>
            <a:pPr algn="l"/>
            <a:r>
              <a:rPr sz="1400" b="1">
                <a:solidFill>
                  <a:srgbClr val="2E6DA4"/>
                </a:solidFill>
                <a:latin typeface="Consolas"/>
              </a:rPr>
              <a:t>$ pav status s70</a:t>
            </a:r>
          </a:p>
          <a:p>
            <a:pPr algn="l"/>
            <a:r>
              <a:rPr sz="1250" b="0">
                <a:solidFill>
                  <a:srgbClr val="1E7D3C"/>
                </a:solidFill>
                <a:latin typeface="Consolas"/>
              </a:rPr>
              <a:t>s70.1 | 8383_pbs-server | demo_pbs.pass | COMPLETE | PASS</a:t>
            </a:r>
          </a:p>
          <a:p>
            <a:pPr algn="l"/>
            <a:r>
              <a:rPr sz="1250" b="0">
                <a:solidFill>
                  <a:srgbClr val="B32A2A"/>
                </a:solidFill>
                <a:latin typeface="Consolas"/>
              </a:rPr>
              <a:t>s70.2 | 8383_pbs-server | demo_pbs.fail | COMPLETE | FAIL</a:t>
            </a:r>
          </a:p>
        </p:txBody>
      </p:sp>
      <p:sp>
        <p:nvSpPr>
          <p:cNvPr id="7" name="TextBox 6"/>
          <p:cNvSpPr txBox="1"/>
          <p:nvPr/>
        </p:nvSpPr>
        <p:spPr>
          <a:xfrm>
            <a:off x="640080" y="6144768"/>
            <a:ext cx="10972800" cy="502920"/>
          </a:xfrm>
          <a:prstGeom prst="rect">
            <a:avLst/>
          </a:prstGeom>
          <a:noFill/>
        </p:spPr>
        <p:txBody>
          <a:bodyPr wrap="square">
            <a:spAutoFit/>
          </a:bodyPr>
          <a:lstStyle/>
          <a:p>
            <a:r>
              <a:rPr sz="1400" b="0">
                <a:solidFill>
                  <a:srgbClr val="5B6674"/>
                </a:solidFill>
                <a:latin typeface="Arial"/>
              </a:rPr>
              <a:t>Submit two PBS jobs, prove dispatch with qstat, read the results. FAIL is intentional (exit 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651760"/>
            <a:ext cx="12191695" cy="1554480"/>
          </a:xfrm>
          <a:prstGeom prst="rect">
            <a:avLst/>
          </a:prstGeom>
          <a:solidFill>
            <a:srgbClr val="EE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834640"/>
            <a:ext cx="10698480" cy="1188720"/>
          </a:xfrm>
          <a:prstGeom prst="rect">
            <a:avLst/>
          </a:prstGeom>
          <a:noFill/>
        </p:spPr>
        <p:txBody>
          <a:bodyPr wrap="square">
            <a:spAutoFit/>
          </a:bodyPr>
          <a:lstStyle/>
          <a:p>
            <a:r>
              <a:rPr sz="1300" b="1">
                <a:solidFill>
                  <a:srgbClr val="2E6DA4"/>
                </a:solidFill>
                <a:latin typeface="Arial"/>
              </a:rPr>
              <a:t>RESULT PARSING</a:t>
            </a:r>
          </a:p>
          <a:p>
            <a:r>
              <a:rPr sz="3600" b="1">
                <a:solidFill>
                  <a:srgbClr val="1F3B63"/>
                </a:solidFill>
                <a:latin typeface="Arial"/>
              </a:rPr>
              <a:t>Getting data out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7680960" cy="365760"/>
          </a:xfrm>
          <a:prstGeom prst="rect">
            <a:avLst/>
          </a:prstGeom>
          <a:noFill/>
        </p:spPr>
        <p:txBody>
          <a:bodyPr wrap="square">
            <a:spAutoFit/>
          </a:bodyPr>
          <a:lstStyle/>
          <a:p>
            <a:r>
              <a:rPr sz="1200" b="1">
                <a:solidFill>
                  <a:srgbClr val="2E6DA4"/>
                </a:solidFill>
                <a:latin typeface="Arial"/>
              </a:rPr>
              <a:t>RESULTS</a:t>
            </a:r>
          </a:p>
        </p:txBody>
      </p:sp>
      <p:sp>
        <p:nvSpPr>
          <p:cNvPr id="3" name="TextBox 2"/>
          <p:cNvSpPr txBox="1"/>
          <p:nvPr/>
        </p:nvSpPr>
        <p:spPr>
          <a:xfrm>
            <a:off x="548640" y="640080"/>
            <a:ext cx="11064240" cy="822960"/>
          </a:xfrm>
          <a:prstGeom prst="rect">
            <a:avLst/>
          </a:prstGeom>
          <a:noFill/>
        </p:spPr>
        <p:txBody>
          <a:bodyPr wrap="square">
            <a:spAutoFit/>
          </a:bodyPr>
          <a:lstStyle/>
          <a:p>
            <a:r>
              <a:rPr sz="3000" b="1">
                <a:solidFill>
                  <a:srgbClr val="1F3B63"/>
                </a:solidFill>
                <a:latin typeface="Arial"/>
              </a:rPr>
              <a:t>Result parsing</a:t>
            </a:r>
          </a:p>
        </p:txBody>
      </p:sp>
      <p:sp>
        <p:nvSpPr>
          <p:cNvPr id="4" name="Rectangle 3"/>
          <p:cNvSpPr/>
          <p:nvPr/>
        </p:nvSpPr>
        <p:spPr>
          <a:xfrm>
            <a:off x="566928" y="1417320"/>
            <a:ext cx="2011680"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00200"/>
            <a:ext cx="10972800" cy="457200"/>
          </a:xfrm>
          <a:prstGeom prst="rect">
            <a:avLst/>
          </a:prstGeom>
          <a:noFill/>
        </p:spPr>
        <p:txBody>
          <a:bodyPr wrap="square">
            <a:spAutoFit/>
          </a:bodyPr>
          <a:lstStyle/>
          <a:p>
            <a:r>
              <a:rPr sz="1600" b="0">
                <a:solidFill>
                  <a:srgbClr val="5B6674"/>
                </a:solidFill>
                <a:latin typeface="Arial"/>
              </a:rPr>
              <a:t>Regex parsers pull values out of the test's output into structured results.</a:t>
            </a:r>
          </a:p>
        </p:txBody>
      </p:sp>
      <p:sp>
        <p:nvSpPr>
          <p:cNvPr id="6" name="Rectangle 5"/>
          <p:cNvSpPr/>
          <p:nvPr/>
        </p:nvSpPr>
        <p:spPr>
          <a:xfrm>
            <a:off x="640080" y="2148840"/>
            <a:ext cx="10972800" cy="4206240"/>
          </a:xfrm>
          <a:prstGeom prst="rect">
            <a:avLst/>
          </a:prstGeom>
          <a:solidFill>
            <a:srgbClr val="F3F4F6"/>
          </a:solidFill>
          <a:ln w="12700">
            <a:solidFill>
              <a:srgbClr val="D5DAE0"/>
            </a:solidFill>
          </a:ln>
        </p:spPr>
        <p:style>
          <a:lnRef idx="1">
            <a:schemeClr val="accent1"/>
          </a:lnRef>
          <a:fillRef idx="3">
            <a:schemeClr val="accent1"/>
          </a:fillRef>
          <a:effectRef idx="2">
            <a:schemeClr val="accent1"/>
          </a:effectRef>
          <a:fontRef idx="minor">
            <a:schemeClr val="lt1"/>
          </a:fontRef>
        </p:style>
        <p:txBody>
          <a:bodyPr rtlCol="0" anchor="t" wrap="square" lIns="228600" tIns="164592"/>
          <a:lstStyle/>
          <a:p>
            <a:pPr algn="l"/>
            <a:r>
              <a:rPr sz="1400" b="0">
                <a:solidFill>
                  <a:srgbClr val="1B2B34"/>
                </a:solidFill>
                <a:latin typeface="Consolas"/>
              </a:rPr>
              <a:t>metrics:</a:t>
            </a:r>
          </a:p>
          <a:p>
            <a:pPr algn="l"/>
            <a:r>
              <a:rPr sz="1400" b="0">
                <a:solidFill>
                  <a:srgbClr val="1B2B34"/>
                </a:solidFill>
                <a:latin typeface="Consolas"/>
              </a:rPr>
              <a:t>  scheduler: pbs</a:t>
            </a:r>
          </a:p>
          <a:p>
            <a:pPr algn="l"/>
            <a:r>
              <a:rPr sz="1400" b="0">
                <a:solidFill>
                  <a:srgbClr val="1B2B34"/>
                </a:solidFill>
                <a:latin typeface="Consolas"/>
              </a:rPr>
              <a:t>  schedule:</a:t>
            </a:r>
          </a:p>
          <a:p>
            <a:pPr algn="l"/>
            <a:r>
              <a:rPr sz="1400" b="0">
                <a:solidFill>
                  <a:srgbClr val="1B2B34"/>
                </a:solidFill>
                <a:latin typeface="Consolas"/>
              </a:rPr>
              <a:t>    pbs: { queue: workq, nodes: 1, walltime: '00:02:00' }</a:t>
            </a:r>
          </a:p>
          <a:p>
            <a:pPr algn="l"/>
            <a:r>
              <a:rPr sz="1400" b="0">
                <a:solidFill>
                  <a:srgbClr val="1B2B34"/>
                </a:solidFill>
                <a:latin typeface="Consolas"/>
              </a:rPr>
              <a:t>  run:</a:t>
            </a:r>
          </a:p>
          <a:p>
            <a:pPr algn="l"/>
            <a:r>
              <a:rPr sz="1400" b="0">
                <a:solidFill>
                  <a:srgbClr val="1B2B34"/>
                </a:solidFill>
                <a:latin typeface="Consolas"/>
              </a:rPr>
              <a:t>    cmds:</a:t>
            </a:r>
          </a:p>
          <a:p>
            <a:pPr algn="l"/>
            <a:r>
              <a:rPr sz="1400" b="0">
                <a:solidFill>
                  <a:srgbClr val="1B2B34"/>
                </a:solidFill>
                <a:latin typeface="Consolas"/>
              </a:rPr>
              <a:t>      - 'echo "throughput 123.45"'</a:t>
            </a:r>
          </a:p>
          <a:p>
            <a:pPr algn="l"/>
            <a:r>
              <a:rPr sz="1400" b="0">
                <a:solidFill>
                  <a:srgbClr val="1B2B34"/>
                </a:solidFill>
                <a:latin typeface="Consolas"/>
              </a:rPr>
              <a:t>      - 'echo "latency 5.6"'</a:t>
            </a:r>
          </a:p>
          <a:p>
            <a:pPr algn="l"/>
            <a:r>
              <a:rPr sz="1400" b="0">
                <a:solidFill>
                  <a:srgbClr val="1B2B34"/>
                </a:solidFill>
                <a:latin typeface="Consolas"/>
              </a:rPr>
              <a:t>  result_parse:</a:t>
            </a:r>
          </a:p>
          <a:p>
            <a:pPr algn="l"/>
            <a:r>
              <a:rPr sz="1400" b="0">
                <a:solidFill>
                  <a:srgbClr val="1B2B34"/>
                </a:solidFill>
                <a:latin typeface="Consolas"/>
              </a:rPr>
              <a:t>    regex:</a:t>
            </a:r>
          </a:p>
          <a:p>
            <a:pPr algn="l"/>
            <a:r>
              <a:rPr sz="1400" b="0">
                <a:solidFill>
                  <a:srgbClr val="1B2B34"/>
                </a:solidFill>
                <a:latin typeface="Consolas"/>
              </a:rPr>
              <a:t>      throughput_mbs: { regex: 'throughput (\S+)', action: store }</a:t>
            </a:r>
          </a:p>
          <a:p>
            <a:pPr algn="l"/>
            <a:r>
              <a:rPr sz="1400" b="0">
                <a:solidFill>
                  <a:srgbClr val="1B2B34"/>
                </a:solidFill>
                <a:latin typeface="Consolas"/>
              </a:rPr>
              <a:t>      latency_ms:     { regex: 'latency (\S+)',    action: store }</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7680960" cy="365760"/>
          </a:xfrm>
          <a:prstGeom prst="rect">
            <a:avLst/>
          </a:prstGeom>
          <a:noFill/>
        </p:spPr>
        <p:txBody>
          <a:bodyPr wrap="square">
            <a:spAutoFit/>
          </a:bodyPr>
          <a:lstStyle/>
          <a:p>
            <a:r>
              <a:rPr sz="1200" b="1">
                <a:solidFill>
                  <a:srgbClr val="2E6DA4"/>
                </a:solidFill>
                <a:latin typeface="Arial"/>
              </a:rPr>
              <a:t>LIVE DEMO · L2</a:t>
            </a:r>
          </a:p>
        </p:txBody>
      </p:sp>
      <p:sp>
        <p:nvSpPr>
          <p:cNvPr id="3" name="TextBox 2"/>
          <p:cNvSpPr txBox="1"/>
          <p:nvPr/>
        </p:nvSpPr>
        <p:spPr>
          <a:xfrm>
            <a:off x="548640" y="640080"/>
            <a:ext cx="11064240" cy="822960"/>
          </a:xfrm>
          <a:prstGeom prst="rect">
            <a:avLst/>
          </a:prstGeom>
          <a:noFill/>
        </p:spPr>
        <p:txBody>
          <a:bodyPr wrap="square">
            <a:spAutoFit/>
          </a:bodyPr>
          <a:lstStyle/>
          <a:p>
            <a:r>
              <a:rPr sz="3000" b="1">
                <a:solidFill>
                  <a:srgbClr val="1F3B63"/>
                </a:solidFill>
                <a:latin typeface="Arial"/>
              </a:rPr>
              <a:t>Parsed metrics in results</a:t>
            </a:r>
          </a:p>
        </p:txBody>
      </p:sp>
      <p:sp>
        <p:nvSpPr>
          <p:cNvPr id="4" name="Rectangle 3"/>
          <p:cNvSpPr/>
          <p:nvPr/>
        </p:nvSpPr>
        <p:spPr>
          <a:xfrm>
            <a:off x="566928" y="1417320"/>
            <a:ext cx="2011680"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503920" y="457200"/>
            <a:ext cx="3108960" cy="50292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Arial"/>
              </a:rPr>
              <a:t>▶  02-metrics.sh</a:t>
            </a:r>
          </a:p>
        </p:txBody>
      </p:sp>
      <p:sp>
        <p:nvSpPr>
          <p:cNvPr id="6" name="Rectangle 5"/>
          <p:cNvSpPr/>
          <p:nvPr/>
        </p:nvSpPr>
        <p:spPr>
          <a:xfrm>
            <a:off x="640080" y="1645920"/>
            <a:ext cx="10972800" cy="4343400"/>
          </a:xfrm>
          <a:prstGeom prst="rect">
            <a:avLst/>
          </a:prstGeom>
          <a:solidFill>
            <a:srgbClr val="F3F4F6"/>
          </a:solidFill>
          <a:ln w="12700">
            <a:solidFill>
              <a:srgbClr val="D5DAE0"/>
            </a:solidFill>
          </a:ln>
        </p:spPr>
        <p:style>
          <a:lnRef idx="1">
            <a:schemeClr val="accent1"/>
          </a:lnRef>
          <a:fillRef idx="3">
            <a:schemeClr val="accent1"/>
          </a:fillRef>
          <a:effectRef idx="2">
            <a:schemeClr val="accent1"/>
          </a:effectRef>
          <a:fontRef idx="minor">
            <a:schemeClr val="lt1"/>
          </a:fontRef>
        </p:style>
        <p:txBody>
          <a:bodyPr rtlCol="0" anchor="t" wrap="square" lIns="228600" tIns="146304"/>
          <a:lstStyle/>
          <a:p>
            <a:pPr algn="l"/>
            <a:r>
              <a:rPr sz="1400" b="1">
                <a:solidFill>
                  <a:srgbClr val="2E6DA4"/>
                </a:solidFill>
                <a:latin typeface="Consolas"/>
              </a:rPr>
              <a:t>$ pav run demo_pbs.metrics</a:t>
            </a:r>
          </a:p>
          <a:p>
            <a:pPr algn="l"/>
            <a:r>
              <a:rPr sz="1250" b="0">
                <a:solidFill>
                  <a:srgbClr val="1B2B34"/>
                </a:solidFill>
                <a:latin typeface="Consolas"/>
              </a:rPr>
              <a:t>sid: s71</a:t>
            </a:r>
          </a:p>
          <a:p>
            <a:pPr algn="l"/>
            <a:r>
              <a:rPr sz="1250" b="0">
                <a:solidFill>
                  <a:srgbClr val="1B2B34"/>
                </a:solidFill>
                <a:latin typeface="Consolas"/>
              </a:rPr>
              <a:t>tests: 1</a:t>
            </a:r>
          </a:p>
          <a:p>
            <a:pPr algn="l"/>
            <a:r>
              <a:rPr sz="1250" b="0">
                <a:solidFill>
                  <a:srgbClr val="1B2B34"/>
                </a:solidFill>
                <a:latin typeface="Consolas"/>
              </a:rPr>
              <a:t> </a:t>
            </a:r>
          </a:p>
          <a:p>
            <a:pPr algn="l"/>
            <a:r>
              <a:rPr sz="1400" b="1">
                <a:solidFill>
                  <a:srgbClr val="2E6DA4"/>
                </a:solidFill>
                <a:latin typeface="Consolas"/>
              </a:rPr>
              <a:t>$ qstat -a                         # dispatched to PBS</a:t>
            </a:r>
          </a:p>
          <a:p>
            <a:pPr algn="l"/>
            <a:r>
              <a:rPr sz="1250" b="0">
                <a:solidFill>
                  <a:srgbClr val="1B2B34"/>
                </a:solidFill>
                <a:latin typeface="Consolas"/>
              </a:rPr>
              <a:t>8384.pbs-server pavilion workq pav_demo_*  1  1  R</a:t>
            </a:r>
          </a:p>
          <a:p>
            <a:pPr algn="l"/>
            <a:r>
              <a:rPr sz="1250" b="0">
                <a:solidFill>
                  <a:srgbClr val="1B2B34"/>
                </a:solidFill>
                <a:latin typeface="Consolas"/>
              </a:rPr>
              <a:t> </a:t>
            </a:r>
          </a:p>
          <a:p>
            <a:pPr algn="l"/>
            <a:r>
              <a:rPr sz="1400" b="1">
                <a:solidFill>
                  <a:srgbClr val="2E6DA4"/>
                </a:solidFill>
                <a:latin typeface="Consolas"/>
              </a:rPr>
              <a:t>$ pav results --full s71</a:t>
            </a:r>
          </a:p>
          <a:p>
            <a:pPr algn="l"/>
            <a:r>
              <a:rPr sz="1250" b="0">
                <a:solidFill>
                  <a:srgbClr val="1B2B34"/>
                </a:solidFill>
                <a:latin typeface="Consolas"/>
              </a:rPr>
              <a:t>  'name': 'demo_pbs.metrics',</a:t>
            </a:r>
          </a:p>
          <a:p>
            <a:pPr algn="l"/>
            <a:r>
              <a:rPr sz="1250" b="0">
                <a:solidFill>
                  <a:srgbClr val="1E7D3C"/>
                </a:solidFill>
                <a:latin typeface="Consolas"/>
              </a:rPr>
              <a:t>  'result': 'PASS',</a:t>
            </a:r>
          </a:p>
          <a:p>
            <a:pPr algn="l"/>
            <a:r>
              <a:rPr sz="1250" b="0">
                <a:solidFill>
                  <a:srgbClr val="1B2B34"/>
                </a:solidFill>
                <a:latin typeface="Consolas"/>
              </a:rPr>
              <a:t>  'throughput_mbs': 123.45,</a:t>
            </a:r>
          </a:p>
          <a:p>
            <a:pPr algn="l"/>
            <a:r>
              <a:rPr sz="1250" b="0">
                <a:solidFill>
                  <a:srgbClr val="1B2B34"/>
                </a:solidFill>
                <a:latin typeface="Consolas"/>
              </a:rPr>
              <a:t>  'latency_ms': 5.6,</a:t>
            </a:r>
          </a:p>
          <a:p>
            <a:pPr algn="l"/>
            <a:r>
              <a:rPr sz="1250" b="0">
                <a:solidFill>
                  <a:srgbClr val="1B2B34"/>
                </a:solidFill>
                <a:latin typeface="Consolas"/>
              </a:rPr>
              <a:t>  'errors': 0,</a:t>
            </a:r>
          </a:p>
        </p:txBody>
      </p:sp>
      <p:sp>
        <p:nvSpPr>
          <p:cNvPr id="7" name="TextBox 6"/>
          <p:cNvSpPr txBox="1"/>
          <p:nvPr/>
        </p:nvSpPr>
        <p:spPr>
          <a:xfrm>
            <a:off x="640080" y="6144768"/>
            <a:ext cx="10972800" cy="502920"/>
          </a:xfrm>
          <a:prstGeom prst="rect">
            <a:avLst/>
          </a:prstGeom>
          <a:noFill/>
        </p:spPr>
        <p:txBody>
          <a:bodyPr wrap="square">
            <a:spAutoFit/>
          </a:bodyPr>
          <a:lstStyle/>
          <a:p>
            <a:r>
              <a:rPr sz="1400" b="0">
                <a:solidFill>
                  <a:srgbClr val="5B6674"/>
                </a:solidFill>
                <a:latin typeface="Arial"/>
              </a:rPr>
              <a:t>Those numbers are now in results.json — ready for logging and dashboards.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651760"/>
            <a:ext cx="12191695" cy="1554480"/>
          </a:xfrm>
          <a:prstGeom prst="rect">
            <a:avLst/>
          </a:prstGeom>
          <a:solidFill>
            <a:srgbClr val="EE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834640"/>
            <a:ext cx="10698480" cy="1188720"/>
          </a:xfrm>
          <a:prstGeom prst="rect">
            <a:avLst/>
          </a:prstGeom>
          <a:noFill/>
        </p:spPr>
        <p:txBody>
          <a:bodyPr wrap="square">
            <a:spAutoFit/>
          </a:bodyPr>
          <a:lstStyle/>
          <a:p>
            <a:r>
              <a:rPr sz="1300" b="1">
                <a:solidFill>
                  <a:srgbClr val="2E6DA4"/>
                </a:solidFill>
                <a:latin typeface="Arial"/>
              </a:rPr>
              <a:t>PERMUTATIONS</a:t>
            </a:r>
          </a:p>
          <a:p>
            <a:r>
              <a:rPr sz="3600" b="1">
                <a:solidFill>
                  <a:srgbClr val="1F3B63"/>
                </a:solidFill>
                <a:latin typeface="Arial"/>
              </a:rPr>
              <a:t>One config → many tests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7680960" cy="365760"/>
          </a:xfrm>
          <a:prstGeom prst="rect">
            <a:avLst/>
          </a:prstGeom>
          <a:noFill/>
        </p:spPr>
        <p:txBody>
          <a:bodyPr wrap="square">
            <a:spAutoFit/>
          </a:bodyPr>
          <a:lstStyle/>
          <a:p>
            <a:r>
              <a:rPr sz="1200" b="1">
                <a:solidFill>
                  <a:srgbClr val="2E6DA4"/>
                </a:solidFill>
                <a:latin typeface="Arial"/>
              </a:rPr>
              <a:t>THE BIG ONE</a:t>
            </a:r>
          </a:p>
        </p:txBody>
      </p:sp>
      <p:sp>
        <p:nvSpPr>
          <p:cNvPr id="3" name="TextBox 2"/>
          <p:cNvSpPr txBox="1"/>
          <p:nvPr/>
        </p:nvSpPr>
        <p:spPr>
          <a:xfrm>
            <a:off x="548640" y="640080"/>
            <a:ext cx="11064240" cy="822960"/>
          </a:xfrm>
          <a:prstGeom prst="rect">
            <a:avLst/>
          </a:prstGeom>
          <a:noFill/>
        </p:spPr>
        <p:txBody>
          <a:bodyPr wrap="square">
            <a:spAutoFit/>
          </a:bodyPr>
          <a:lstStyle/>
          <a:p>
            <a:r>
              <a:rPr sz="3000" b="1">
                <a:solidFill>
                  <a:srgbClr val="1F3B63"/>
                </a:solidFill>
                <a:latin typeface="Arial"/>
              </a:rPr>
              <a:t>Permutations</a:t>
            </a:r>
          </a:p>
        </p:txBody>
      </p:sp>
      <p:sp>
        <p:nvSpPr>
          <p:cNvPr id="4" name="Rectangle 3"/>
          <p:cNvSpPr/>
          <p:nvPr/>
        </p:nvSpPr>
        <p:spPr>
          <a:xfrm>
            <a:off x="566928" y="1417320"/>
            <a:ext cx="2011680"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00200"/>
            <a:ext cx="10972800" cy="457200"/>
          </a:xfrm>
          <a:prstGeom prst="rect">
            <a:avLst/>
          </a:prstGeom>
          <a:noFill/>
        </p:spPr>
        <p:txBody>
          <a:bodyPr wrap="square">
            <a:spAutoFit/>
          </a:bodyPr>
          <a:lstStyle/>
          <a:p>
            <a:r>
              <a:rPr sz="1600" b="0">
                <a:solidFill>
                  <a:srgbClr val="5B6674"/>
                </a:solidFill>
                <a:latin typeface="Arial"/>
              </a:rPr>
              <a:t>permute_on + variable lists generate one test instance per combination.</a:t>
            </a:r>
          </a:p>
        </p:txBody>
      </p:sp>
      <p:sp>
        <p:nvSpPr>
          <p:cNvPr id="6" name="Rectangle 5"/>
          <p:cNvSpPr/>
          <p:nvPr/>
        </p:nvSpPr>
        <p:spPr>
          <a:xfrm>
            <a:off x="640080" y="2148840"/>
            <a:ext cx="10972800" cy="4206240"/>
          </a:xfrm>
          <a:prstGeom prst="rect">
            <a:avLst/>
          </a:prstGeom>
          <a:solidFill>
            <a:srgbClr val="F3F4F6"/>
          </a:solidFill>
          <a:ln w="12700">
            <a:solidFill>
              <a:srgbClr val="D5DAE0"/>
            </a:solidFill>
          </a:ln>
        </p:spPr>
        <p:style>
          <a:lnRef idx="1">
            <a:schemeClr val="accent1"/>
          </a:lnRef>
          <a:fillRef idx="3">
            <a:schemeClr val="accent1"/>
          </a:fillRef>
          <a:effectRef idx="2">
            <a:schemeClr val="accent1"/>
          </a:effectRef>
          <a:fontRef idx="minor">
            <a:schemeClr val="lt1"/>
          </a:fontRef>
        </p:style>
        <p:txBody>
          <a:bodyPr rtlCol="0" anchor="t" wrap="square" lIns="228600" tIns="164592"/>
          <a:lstStyle/>
          <a:p>
            <a:pPr algn="l"/>
            <a:r>
              <a:rPr sz="1400" b="0">
                <a:solidFill>
                  <a:srgbClr val="1B2B34"/>
                </a:solidFill>
                <a:latin typeface="Consolas"/>
              </a:rPr>
              <a:t>matrix:</a:t>
            </a:r>
          </a:p>
          <a:p>
            <a:pPr algn="l"/>
            <a:r>
              <a:rPr sz="1400" b="0">
                <a:solidFill>
                  <a:srgbClr val="1B2B34"/>
                </a:solidFill>
                <a:latin typeface="Consolas"/>
              </a:rPr>
              <a:t>  scheduler: pbs</a:t>
            </a:r>
          </a:p>
          <a:p>
            <a:pPr algn="l"/>
            <a:r>
              <a:rPr sz="1400" b="0">
                <a:solidFill>
                  <a:srgbClr val="1B2B34"/>
                </a:solidFill>
                <a:latin typeface="Consolas"/>
              </a:rPr>
              <a:t>  schedule:</a:t>
            </a:r>
          </a:p>
          <a:p>
            <a:pPr algn="l"/>
            <a:r>
              <a:rPr sz="1400" b="0">
                <a:solidFill>
                  <a:srgbClr val="1B2B34"/>
                </a:solidFill>
                <a:latin typeface="Consolas"/>
              </a:rPr>
              <a:t>    pbs: { queue: workq, nodes: 1, walltime: '00:02:00' }</a:t>
            </a:r>
          </a:p>
          <a:p>
            <a:pPr algn="l"/>
            <a:r>
              <a:rPr sz="1400" b="0">
                <a:solidFill>
                  <a:srgbClr val="1B2B34"/>
                </a:solidFill>
                <a:latin typeface="Consolas"/>
              </a:rPr>
              <a:t>  permute_on: [size, mode]</a:t>
            </a:r>
          </a:p>
          <a:p>
            <a:pPr algn="l"/>
            <a:r>
              <a:rPr sz="1400" b="0">
                <a:solidFill>
                  <a:srgbClr val="1B2B34"/>
                </a:solidFill>
                <a:latin typeface="Consolas"/>
              </a:rPr>
              <a:t>  variables:</a:t>
            </a:r>
          </a:p>
          <a:p>
            <a:pPr algn="l"/>
            <a:r>
              <a:rPr sz="1400" b="0">
                <a:solidFill>
                  <a:srgbClr val="1B2B34"/>
                </a:solidFill>
                <a:latin typeface="Consolas"/>
              </a:rPr>
              <a:t>    size: ['small', 'medium', 'large']</a:t>
            </a:r>
          </a:p>
          <a:p>
            <a:pPr algn="l"/>
            <a:r>
              <a:rPr sz="1400" b="0">
                <a:solidFill>
                  <a:srgbClr val="1B2B34"/>
                </a:solidFill>
                <a:latin typeface="Consolas"/>
              </a:rPr>
              <a:t>    mode: ['read', 'write']</a:t>
            </a:r>
          </a:p>
          <a:p>
            <a:pPr algn="l"/>
            <a:r>
              <a:rPr sz="1400" b="0">
                <a:solidFill>
                  <a:srgbClr val="1B2B34"/>
                </a:solidFill>
                <a:latin typeface="Consolas"/>
              </a:rPr>
              <a:t>  subtitle: '{{size}}-{{mode}}'</a:t>
            </a:r>
          </a:p>
          <a:p>
            <a:pPr algn="l"/>
            <a:r>
              <a:rPr sz="1400" b="0">
                <a:solidFill>
                  <a:srgbClr val="1B2B34"/>
                </a:solidFill>
                <a:latin typeface="Consolas"/>
              </a:rPr>
              <a:t>  run:</a:t>
            </a:r>
          </a:p>
          <a:p>
            <a:pPr algn="l"/>
            <a:r>
              <a:rPr sz="1400" b="0">
                <a:solidFill>
                  <a:srgbClr val="1B2B34"/>
                </a:solidFill>
                <a:latin typeface="Consolas"/>
              </a:rPr>
              <a:t>    cmds:</a:t>
            </a:r>
          </a:p>
          <a:p>
            <a:pPr algn="l"/>
            <a:r>
              <a:rPr sz="1400" b="0">
                <a:solidFill>
                  <a:srgbClr val="1B2B34"/>
                </a:solidFill>
                <a:latin typeface="Consolas"/>
              </a:rPr>
              <a:t>      - 'echo "size={{size}} mode={{mode}}"'</a:t>
            </a:r>
          </a:p>
          <a:p>
            <a:pPr algn="l"/>
            <a:r>
              <a:rPr sz="1400" b="0">
                <a:solidFill>
                  <a:srgbClr val="1B2B34"/>
                </a:solidFill>
                <a:latin typeface="Consolas"/>
              </a:rPr>
              <a:t> </a:t>
            </a:r>
          </a:p>
          <a:p>
            <a:pPr algn="l"/>
            <a:r>
              <a:rPr sz="1400" b="0">
                <a:solidFill>
                  <a:srgbClr val="5B6674"/>
                </a:solidFill>
                <a:latin typeface="Consolas"/>
              </a:rPr>
              <a:t># 3 sizes x 2 modes  =&gt;  6 test instances, one config.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7680960" cy="365760"/>
          </a:xfrm>
          <a:prstGeom prst="rect">
            <a:avLst/>
          </a:prstGeom>
          <a:noFill/>
        </p:spPr>
        <p:txBody>
          <a:bodyPr wrap="square">
            <a:spAutoFit/>
          </a:bodyPr>
          <a:lstStyle/>
          <a:p>
            <a:r>
              <a:rPr sz="1200" b="1">
                <a:solidFill>
                  <a:srgbClr val="2E6DA4"/>
                </a:solidFill>
                <a:latin typeface="Arial"/>
              </a:rPr>
              <a:t>LIVE DEMO · L3</a:t>
            </a:r>
          </a:p>
        </p:txBody>
      </p:sp>
      <p:sp>
        <p:nvSpPr>
          <p:cNvPr id="3" name="TextBox 2"/>
          <p:cNvSpPr txBox="1"/>
          <p:nvPr/>
        </p:nvSpPr>
        <p:spPr>
          <a:xfrm>
            <a:off x="548640" y="640080"/>
            <a:ext cx="11064240" cy="822960"/>
          </a:xfrm>
          <a:prstGeom prst="rect">
            <a:avLst/>
          </a:prstGeom>
          <a:noFill/>
        </p:spPr>
        <p:txBody>
          <a:bodyPr wrap="square">
            <a:spAutoFit/>
          </a:bodyPr>
          <a:lstStyle/>
          <a:p>
            <a:r>
              <a:rPr sz="3000" b="1">
                <a:solidFill>
                  <a:srgbClr val="1F3B63"/>
                </a:solidFill>
                <a:latin typeface="Arial"/>
              </a:rPr>
              <a:t>Permutations expand</a:t>
            </a:r>
          </a:p>
        </p:txBody>
      </p:sp>
      <p:sp>
        <p:nvSpPr>
          <p:cNvPr id="4" name="Rectangle 3"/>
          <p:cNvSpPr/>
          <p:nvPr/>
        </p:nvSpPr>
        <p:spPr>
          <a:xfrm>
            <a:off x="566928" y="1417320"/>
            <a:ext cx="2011680"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503920" y="457200"/>
            <a:ext cx="3108960" cy="50292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Arial"/>
              </a:rPr>
              <a:t>▶  03-permutations.sh</a:t>
            </a:r>
          </a:p>
        </p:txBody>
      </p:sp>
      <p:sp>
        <p:nvSpPr>
          <p:cNvPr id="6" name="Rectangle 5"/>
          <p:cNvSpPr/>
          <p:nvPr/>
        </p:nvSpPr>
        <p:spPr>
          <a:xfrm>
            <a:off x="640080" y="1645920"/>
            <a:ext cx="10972800" cy="4343400"/>
          </a:xfrm>
          <a:prstGeom prst="rect">
            <a:avLst/>
          </a:prstGeom>
          <a:solidFill>
            <a:srgbClr val="F3F4F6"/>
          </a:solidFill>
          <a:ln w="12700">
            <a:solidFill>
              <a:srgbClr val="D5DAE0"/>
            </a:solidFill>
          </a:ln>
        </p:spPr>
        <p:style>
          <a:lnRef idx="1">
            <a:schemeClr val="accent1"/>
          </a:lnRef>
          <a:fillRef idx="3">
            <a:schemeClr val="accent1"/>
          </a:fillRef>
          <a:effectRef idx="2">
            <a:schemeClr val="accent1"/>
          </a:effectRef>
          <a:fontRef idx="minor">
            <a:schemeClr val="lt1"/>
          </a:fontRef>
        </p:style>
        <p:txBody>
          <a:bodyPr rtlCol="0" anchor="t" wrap="square" lIns="228600" tIns="146304"/>
          <a:lstStyle/>
          <a:p>
            <a:pPr algn="l"/>
            <a:r>
              <a:rPr sz="1400" b="1">
                <a:solidFill>
                  <a:srgbClr val="2E6DA4"/>
                </a:solidFill>
                <a:latin typeface="Consolas"/>
              </a:rPr>
              <a:t>$ pav run demo_perms.matrix</a:t>
            </a:r>
          </a:p>
          <a:p>
            <a:pPr algn="l"/>
            <a:r>
              <a:rPr sz="1250" b="0">
                <a:solidFill>
                  <a:srgbClr val="1B2B34"/>
                </a:solidFill>
                <a:latin typeface="Consolas"/>
              </a:rPr>
              <a:t>Test set 'demo_perms.matrix' created 6 tests, skipped 0, 0 errors.</a:t>
            </a:r>
          </a:p>
          <a:p>
            <a:pPr algn="l"/>
            <a:r>
              <a:rPr sz="1250" b="0">
                <a:solidFill>
                  <a:srgbClr val="1B2B34"/>
                </a:solidFill>
                <a:latin typeface="Consolas"/>
              </a:rPr>
              <a:t>sid: s72</a:t>
            </a:r>
          </a:p>
          <a:p>
            <a:pPr algn="l"/>
            <a:r>
              <a:rPr sz="1250" b="0">
                <a:solidFill>
                  <a:srgbClr val="1B2B34"/>
                </a:solidFill>
                <a:latin typeface="Consolas"/>
              </a:rPr>
              <a:t> </a:t>
            </a:r>
          </a:p>
          <a:p>
            <a:pPr algn="l"/>
            <a:r>
              <a:rPr sz="1400" b="1">
                <a:solidFill>
                  <a:srgbClr val="2E6DA4"/>
                </a:solidFill>
                <a:latin typeface="Consolas"/>
              </a:rPr>
              <a:t>$ qstat -a                        # all six ride one PBS job</a:t>
            </a:r>
          </a:p>
          <a:p>
            <a:pPr algn="l"/>
            <a:r>
              <a:rPr sz="1250" b="0">
                <a:solidFill>
                  <a:srgbClr val="1B2B34"/>
                </a:solidFill>
                <a:latin typeface="Consolas"/>
              </a:rPr>
              <a:t>8385.pbs-server pavilion workq pav_demo_*  1  1  R</a:t>
            </a:r>
          </a:p>
          <a:p>
            <a:pPr algn="l"/>
            <a:r>
              <a:rPr sz="1250" b="0">
                <a:solidFill>
                  <a:srgbClr val="1B2B34"/>
                </a:solidFill>
                <a:latin typeface="Consolas"/>
              </a:rPr>
              <a:t> </a:t>
            </a:r>
          </a:p>
          <a:p>
            <a:pPr algn="l"/>
            <a:r>
              <a:rPr sz="1400" b="1">
                <a:solidFill>
                  <a:srgbClr val="2E6DA4"/>
                </a:solidFill>
                <a:latin typeface="Consolas"/>
              </a:rPr>
              <a:t>$ pav status s72</a:t>
            </a:r>
          </a:p>
          <a:p>
            <a:pPr algn="l"/>
            <a:r>
              <a:rPr sz="1250" b="0">
                <a:solidFill>
                  <a:srgbClr val="1E7D3C"/>
                </a:solidFill>
                <a:latin typeface="Consolas"/>
              </a:rPr>
              <a:t>s72.1  PASS  demo_perms.matrix.small-read</a:t>
            </a:r>
          </a:p>
          <a:p>
            <a:pPr algn="l"/>
            <a:r>
              <a:rPr sz="1250" b="0">
                <a:solidFill>
                  <a:srgbClr val="1E7D3C"/>
                </a:solidFill>
                <a:latin typeface="Consolas"/>
              </a:rPr>
              <a:t>s72.2  PASS  demo_perms.matrix.medium-read</a:t>
            </a:r>
          </a:p>
          <a:p>
            <a:pPr algn="l"/>
            <a:r>
              <a:rPr sz="1250" b="0">
                <a:solidFill>
                  <a:srgbClr val="1E7D3C"/>
                </a:solidFill>
                <a:latin typeface="Consolas"/>
              </a:rPr>
              <a:t>s72.3  PASS  demo_perms.matrix.large-read</a:t>
            </a:r>
          </a:p>
          <a:p>
            <a:pPr algn="l"/>
            <a:r>
              <a:rPr sz="1250" b="0">
                <a:solidFill>
                  <a:srgbClr val="1E7D3C"/>
                </a:solidFill>
                <a:latin typeface="Consolas"/>
              </a:rPr>
              <a:t>s72.4  PASS  demo_perms.matrix.small-write</a:t>
            </a:r>
          </a:p>
          <a:p>
            <a:pPr algn="l"/>
            <a:r>
              <a:rPr sz="1250" b="0">
                <a:solidFill>
                  <a:srgbClr val="1E7D3C"/>
                </a:solidFill>
                <a:latin typeface="Consolas"/>
              </a:rPr>
              <a:t>s72.5  PASS  demo_perms.matrix.medium-write</a:t>
            </a:r>
          </a:p>
          <a:p>
            <a:pPr algn="l"/>
            <a:r>
              <a:rPr sz="1250" b="0">
                <a:solidFill>
                  <a:srgbClr val="1E7D3C"/>
                </a:solidFill>
                <a:latin typeface="Consolas"/>
              </a:rPr>
              <a:t>s72.6  PASS  demo_perms.matrix.large-write</a:t>
            </a:r>
          </a:p>
        </p:txBody>
      </p:sp>
      <p:sp>
        <p:nvSpPr>
          <p:cNvPr id="7" name="TextBox 6"/>
          <p:cNvSpPr txBox="1"/>
          <p:nvPr/>
        </p:nvSpPr>
        <p:spPr>
          <a:xfrm>
            <a:off x="640080" y="6144768"/>
            <a:ext cx="10972800" cy="502920"/>
          </a:xfrm>
          <a:prstGeom prst="rect">
            <a:avLst/>
          </a:prstGeom>
          <a:noFill/>
        </p:spPr>
        <p:txBody>
          <a:bodyPr wrap="square">
            <a:spAutoFit/>
          </a:bodyPr>
          <a:lstStyle/>
          <a:p>
            <a:r>
              <a:rPr sz="1400" b="0">
                <a:solidFill>
                  <a:srgbClr val="5B6674"/>
                </a:solidFill>
                <a:latin typeface="Arial"/>
              </a:rPr>
              <a:t>One YAML block → six named PBS test instances, all PASS.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651760"/>
            <a:ext cx="12191695" cy="1554480"/>
          </a:xfrm>
          <a:prstGeom prst="rect">
            <a:avLst/>
          </a:prstGeom>
          <a:solidFill>
            <a:srgbClr val="EE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834640"/>
            <a:ext cx="10698480" cy="1188720"/>
          </a:xfrm>
          <a:prstGeom prst="rect">
            <a:avLst/>
          </a:prstGeom>
          <a:noFill/>
        </p:spPr>
        <p:txBody>
          <a:bodyPr wrap="square">
            <a:spAutoFit/>
          </a:bodyPr>
          <a:lstStyle/>
          <a:p>
            <a:r>
              <a:rPr sz="1300" b="1">
                <a:solidFill>
                  <a:srgbClr val="2E6DA4"/>
                </a:solidFill>
                <a:latin typeface="Arial"/>
              </a:rPr>
              <a:t>RUNNING AT SCALE</a:t>
            </a:r>
          </a:p>
          <a:p>
            <a:r>
              <a:rPr sz="3600" b="1">
                <a:solidFill>
                  <a:srgbClr val="1F3B63"/>
                </a:solidFill>
                <a:latin typeface="Arial"/>
              </a:rPr>
              <a:t>Schedulers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7680960" cy="365760"/>
          </a:xfrm>
          <a:prstGeom prst="rect">
            <a:avLst/>
          </a:prstGeom>
          <a:noFill/>
        </p:spPr>
        <p:txBody>
          <a:bodyPr wrap="square">
            <a:spAutoFit/>
          </a:bodyPr>
          <a:lstStyle/>
          <a:p>
            <a:r>
              <a:rPr sz="1200" b="1">
                <a:solidFill>
                  <a:srgbClr val="2E6DA4"/>
                </a:solidFill>
                <a:latin typeface="Arial"/>
              </a:rPr>
              <a:t>SCHEDULERS</a:t>
            </a:r>
          </a:p>
        </p:txBody>
      </p:sp>
      <p:sp>
        <p:nvSpPr>
          <p:cNvPr id="3" name="TextBox 2"/>
          <p:cNvSpPr txBox="1"/>
          <p:nvPr/>
        </p:nvSpPr>
        <p:spPr>
          <a:xfrm>
            <a:off x="548640" y="640080"/>
            <a:ext cx="11064240" cy="822960"/>
          </a:xfrm>
          <a:prstGeom prst="rect">
            <a:avLst/>
          </a:prstGeom>
          <a:noFill/>
        </p:spPr>
        <p:txBody>
          <a:bodyPr wrap="square">
            <a:spAutoFit/>
          </a:bodyPr>
          <a:lstStyle/>
          <a:p>
            <a:r>
              <a:rPr sz="3000" b="1">
                <a:solidFill>
                  <a:srgbClr val="1F3B63"/>
                </a:solidFill>
                <a:latin typeface="Arial"/>
              </a:rPr>
              <a:t>Schedulers &amp; the PBS plugin</a:t>
            </a:r>
          </a:p>
        </p:txBody>
      </p:sp>
      <p:sp>
        <p:nvSpPr>
          <p:cNvPr id="4" name="Rectangle 3"/>
          <p:cNvSpPr/>
          <p:nvPr/>
        </p:nvSpPr>
        <p:spPr>
          <a:xfrm>
            <a:off x="566928" y="1417320"/>
            <a:ext cx="2011680"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91640"/>
            <a:ext cx="10972800" cy="4754880"/>
          </a:xfrm>
          <a:prstGeom prst="rect">
            <a:avLst/>
          </a:prstGeom>
          <a:noFill/>
        </p:spPr>
        <p:txBody>
          <a:bodyPr wrap="square">
            <a:spAutoFit/>
          </a:bodyPr>
          <a:lstStyle/>
          <a:p>
            <a:pPr>
              <a:spcAft>
                <a:spcPts val="1000"/>
              </a:spcAft>
            </a:pPr>
            <a:r>
              <a:rPr sz="2000" b="0">
                <a:solidFill>
                  <a:srgbClr val="21252B"/>
                </a:solidFill>
                <a:latin typeface="Arial"/>
              </a:rPr>
              <a:t>•  Built-in scheduler plugins: raw (local), slurm, flux, pbs.</a:t>
            </a:r>
          </a:p>
          <a:p>
            <a:pPr>
              <a:spcAft>
                <a:spcPts val="1000"/>
              </a:spcAft>
            </a:pPr>
            <a:r>
              <a:rPr sz="2000" b="0">
                <a:solidFill>
                  <a:srgbClr val="21252B"/>
                </a:solidFill>
                <a:latin typeface="Arial"/>
              </a:rPr>
              <a:t>•  Switch by setting `scheduler:` — the test body doesn't change.</a:t>
            </a:r>
          </a:p>
          <a:p>
            <a:pPr>
              <a:spcAft>
                <a:spcPts val="1000"/>
              </a:spcAft>
            </a:pPr>
            <a:r>
              <a:rPr sz="2000" b="0">
                <a:solidFill>
                  <a:srgbClr val="21252B"/>
                </a:solidFill>
                <a:latin typeface="Arial"/>
              </a:rPr>
              <a:t>•  The PBS plugin (ours) submits real qsub jobs and maps nodes/tasks/walltime/queue.</a:t>
            </a:r>
          </a:p>
          <a:p>
            <a:pPr>
              <a:spcAft>
                <a:spcPts val="1000"/>
              </a:spcAft>
            </a:pPr>
            <a:r>
              <a:rPr sz="2000" b="0">
                <a:solidFill>
                  <a:srgbClr val="21252B"/>
                </a:solidFill>
                <a:latin typeface="Arial"/>
              </a:rPr>
              <a:t>•  Scheduler variables (sched.*) expose node lists, chunks, task counts to the test.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7680960" cy="365760"/>
          </a:xfrm>
          <a:prstGeom prst="rect">
            <a:avLst/>
          </a:prstGeom>
          <a:noFill/>
        </p:spPr>
        <p:txBody>
          <a:bodyPr wrap="square">
            <a:spAutoFit/>
          </a:bodyPr>
          <a:lstStyle/>
          <a:p>
            <a:r>
              <a:rPr sz="1200" b="1">
                <a:solidFill>
                  <a:srgbClr val="2E6DA4"/>
                </a:solidFill>
                <a:latin typeface="Arial"/>
              </a:rPr>
              <a:t>SCHEDULERS</a:t>
            </a:r>
          </a:p>
        </p:txBody>
      </p:sp>
      <p:sp>
        <p:nvSpPr>
          <p:cNvPr id="3" name="TextBox 2"/>
          <p:cNvSpPr txBox="1"/>
          <p:nvPr/>
        </p:nvSpPr>
        <p:spPr>
          <a:xfrm>
            <a:off x="548640" y="640080"/>
            <a:ext cx="11064240" cy="822960"/>
          </a:xfrm>
          <a:prstGeom prst="rect">
            <a:avLst/>
          </a:prstGeom>
          <a:noFill/>
        </p:spPr>
        <p:txBody>
          <a:bodyPr wrap="square">
            <a:spAutoFit/>
          </a:bodyPr>
          <a:lstStyle/>
          <a:p>
            <a:r>
              <a:rPr sz="3000" b="1">
                <a:solidFill>
                  <a:srgbClr val="1F3B63"/>
                </a:solidFill>
                <a:latin typeface="Arial"/>
              </a:rPr>
              <a:t>A PBS test</a:t>
            </a:r>
          </a:p>
        </p:txBody>
      </p:sp>
      <p:sp>
        <p:nvSpPr>
          <p:cNvPr id="4" name="Rectangle 3"/>
          <p:cNvSpPr/>
          <p:nvPr/>
        </p:nvSpPr>
        <p:spPr>
          <a:xfrm>
            <a:off x="566928" y="1417320"/>
            <a:ext cx="2011680"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1783080"/>
            <a:ext cx="10972800" cy="4206240"/>
          </a:xfrm>
          <a:prstGeom prst="rect">
            <a:avLst/>
          </a:prstGeom>
          <a:solidFill>
            <a:srgbClr val="F3F4F6"/>
          </a:solidFill>
          <a:ln w="12700">
            <a:solidFill>
              <a:srgbClr val="D5DAE0"/>
            </a:solidFill>
          </a:ln>
        </p:spPr>
        <p:style>
          <a:lnRef idx="1">
            <a:schemeClr val="accent1"/>
          </a:lnRef>
          <a:fillRef idx="3">
            <a:schemeClr val="accent1"/>
          </a:fillRef>
          <a:effectRef idx="2">
            <a:schemeClr val="accent1"/>
          </a:effectRef>
          <a:fontRef idx="minor">
            <a:schemeClr val="lt1"/>
          </a:fontRef>
        </p:style>
        <p:txBody>
          <a:bodyPr rtlCol="0" anchor="t" wrap="square" lIns="228600" tIns="164592"/>
          <a:lstStyle/>
          <a:p>
            <a:pPr algn="l"/>
            <a:r>
              <a:rPr sz="1400" b="0">
                <a:solidFill>
                  <a:srgbClr val="5B6674"/>
                </a:solidFill>
                <a:latin typeface="Consolas"/>
              </a:rPr>
              <a:t># demo_pbs.yaml  -&gt;  address it as  demo_pbs.pass</a:t>
            </a:r>
          </a:p>
          <a:p>
            <a:pPr algn="l"/>
            <a:r>
              <a:rPr sz="1400" b="0">
                <a:solidFill>
                  <a:srgbClr val="1B2B34"/>
                </a:solidFill>
                <a:latin typeface="Consolas"/>
              </a:rPr>
              <a:t>pass:</a:t>
            </a:r>
          </a:p>
          <a:p>
            <a:pPr algn="l"/>
            <a:r>
              <a:rPr sz="1400" b="0">
                <a:solidFill>
                  <a:srgbClr val="1B2B34"/>
                </a:solidFill>
                <a:latin typeface="Consolas"/>
              </a:rPr>
              <a:t>  scheduler: pbs</a:t>
            </a:r>
          </a:p>
          <a:p>
            <a:pPr algn="l"/>
            <a:r>
              <a:rPr sz="1400" b="0">
                <a:solidFill>
                  <a:srgbClr val="1B2B34"/>
                </a:solidFill>
                <a:latin typeface="Consolas"/>
              </a:rPr>
              <a:t>  schedule:</a:t>
            </a:r>
          </a:p>
          <a:p>
            <a:pPr algn="l"/>
            <a:r>
              <a:rPr sz="1400" b="0">
                <a:solidFill>
                  <a:srgbClr val="1B2B34"/>
                </a:solidFill>
                <a:latin typeface="Consolas"/>
              </a:rPr>
              <a:t>    pbs:</a:t>
            </a:r>
          </a:p>
          <a:p>
            <a:pPr algn="l"/>
            <a:r>
              <a:rPr sz="1400" b="0">
                <a:solidFill>
                  <a:srgbClr val="1B2B34"/>
                </a:solidFill>
                <a:latin typeface="Consolas"/>
              </a:rPr>
              <a:t>      nodes: 1</a:t>
            </a:r>
          </a:p>
          <a:p>
            <a:pPr algn="l"/>
            <a:r>
              <a:rPr sz="1400" b="0">
                <a:solidFill>
                  <a:srgbClr val="1B2B34"/>
                </a:solidFill>
                <a:latin typeface="Consolas"/>
              </a:rPr>
              <a:t>      tasks: 1</a:t>
            </a:r>
          </a:p>
          <a:p>
            <a:pPr algn="l"/>
            <a:r>
              <a:rPr sz="1400" b="0">
                <a:solidFill>
                  <a:srgbClr val="1B2B34"/>
                </a:solidFill>
                <a:latin typeface="Consolas"/>
              </a:rPr>
              <a:t>      walltime: '00:00:30'</a:t>
            </a:r>
          </a:p>
          <a:p>
            <a:pPr algn="l"/>
            <a:r>
              <a:rPr sz="1400" b="0">
                <a:solidFill>
                  <a:srgbClr val="1B2B34"/>
                </a:solidFill>
                <a:latin typeface="Consolas"/>
              </a:rPr>
              <a:t>      queue: workq</a:t>
            </a:r>
          </a:p>
          <a:p>
            <a:pPr algn="l"/>
            <a:r>
              <a:rPr sz="1400" b="0">
                <a:solidFill>
                  <a:srgbClr val="1B2B34"/>
                </a:solidFill>
                <a:latin typeface="Consolas"/>
              </a:rPr>
              <a:t>  run:</a:t>
            </a:r>
          </a:p>
          <a:p>
            <a:pPr algn="l"/>
            <a:r>
              <a:rPr sz="1400" b="0">
                <a:solidFill>
                  <a:srgbClr val="1B2B34"/>
                </a:solidFill>
                <a:latin typeface="Consolas"/>
              </a:rPr>
              <a:t>    cmds:</a:t>
            </a:r>
          </a:p>
          <a:p>
            <a:pPr algn="l"/>
            <a:r>
              <a:rPr sz="1400" b="0">
                <a:solidFill>
                  <a:srgbClr val="1B2B34"/>
                </a:solidFill>
                <a:latin typeface="Consolas"/>
              </a:rPr>
              <a:t>      - 'echo "pbs job on $(hostname)"'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7680960" cy="365760"/>
          </a:xfrm>
          <a:prstGeom prst="rect">
            <a:avLst/>
          </a:prstGeom>
          <a:noFill/>
        </p:spPr>
        <p:txBody>
          <a:bodyPr wrap="square">
            <a:spAutoFit/>
          </a:bodyPr>
          <a:lstStyle/>
          <a:p>
            <a:r>
              <a:rPr sz="1200" b="1">
                <a:solidFill>
                  <a:srgbClr val="2E6DA4"/>
                </a:solidFill>
                <a:latin typeface="Arial"/>
              </a:rPr>
              <a:t>LIVE DEMO · L4</a:t>
            </a:r>
          </a:p>
        </p:txBody>
      </p:sp>
      <p:sp>
        <p:nvSpPr>
          <p:cNvPr id="3" name="TextBox 2"/>
          <p:cNvSpPr txBox="1"/>
          <p:nvPr/>
        </p:nvSpPr>
        <p:spPr>
          <a:xfrm>
            <a:off x="548640" y="640080"/>
            <a:ext cx="11064240" cy="822960"/>
          </a:xfrm>
          <a:prstGeom prst="rect">
            <a:avLst/>
          </a:prstGeom>
          <a:noFill/>
        </p:spPr>
        <p:txBody>
          <a:bodyPr wrap="square">
            <a:spAutoFit/>
          </a:bodyPr>
          <a:lstStyle/>
          <a:p>
            <a:r>
              <a:rPr sz="3000" b="1">
                <a:solidFill>
                  <a:srgbClr val="1F3B63"/>
                </a:solidFill>
                <a:latin typeface="Arial"/>
              </a:rPr>
              <a:t>Submit to PBS</a:t>
            </a:r>
          </a:p>
        </p:txBody>
      </p:sp>
      <p:sp>
        <p:nvSpPr>
          <p:cNvPr id="4" name="Rectangle 3"/>
          <p:cNvSpPr/>
          <p:nvPr/>
        </p:nvSpPr>
        <p:spPr>
          <a:xfrm>
            <a:off x="566928" y="1417320"/>
            <a:ext cx="2011680"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503920" y="457200"/>
            <a:ext cx="3108960" cy="50292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Arial"/>
              </a:rPr>
              <a:t>▶  04-pbs.sh</a:t>
            </a:r>
          </a:p>
        </p:txBody>
      </p:sp>
      <p:sp>
        <p:nvSpPr>
          <p:cNvPr id="6" name="Rectangle 5"/>
          <p:cNvSpPr/>
          <p:nvPr/>
        </p:nvSpPr>
        <p:spPr>
          <a:xfrm>
            <a:off x="640080" y="1645920"/>
            <a:ext cx="10972800" cy="4343400"/>
          </a:xfrm>
          <a:prstGeom prst="rect">
            <a:avLst/>
          </a:prstGeom>
          <a:solidFill>
            <a:srgbClr val="F3F4F6"/>
          </a:solidFill>
          <a:ln w="12700">
            <a:solidFill>
              <a:srgbClr val="D5DAE0"/>
            </a:solidFill>
          </a:ln>
        </p:spPr>
        <p:style>
          <a:lnRef idx="1">
            <a:schemeClr val="accent1"/>
          </a:lnRef>
          <a:fillRef idx="3">
            <a:schemeClr val="accent1"/>
          </a:fillRef>
          <a:effectRef idx="2">
            <a:schemeClr val="accent1"/>
          </a:effectRef>
          <a:fontRef idx="minor">
            <a:schemeClr val="lt1"/>
          </a:fontRef>
        </p:style>
        <p:txBody>
          <a:bodyPr rtlCol="0" anchor="t" wrap="square" lIns="228600" tIns="146304"/>
          <a:lstStyle/>
          <a:p>
            <a:pPr algn="l"/>
            <a:r>
              <a:rPr sz="1400" b="1">
                <a:solidFill>
                  <a:srgbClr val="2E6DA4"/>
                </a:solidFill>
                <a:latin typeface="Consolas"/>
              </a:rPr>
              <a:t>$ pav run demo_pbs.pass</a:t>
            </a:r>
          </a:p>
          <a:p>
            <a:pPr algn="l"/>
            <a:r>
              <a:rPr sz="1250" b="0">
                <a:solidFill>
                  <a:srgbClr val="1B2B34"/>
                </a:solidFill>
                <a:latin typeface="Consolas"/>
              </a:rPr>
              <a:t>sid: s76</a:t>
            </a:r>
          </a:p>
          <a:p>
            <a:pPr algn="l"/>
            <a:r>
              <a:rPr sz="1250" b="0">
                <a:solidFill>
                  <a:srgbClr val="1B2B34"/>
                </a:solidFill>
                <a:latin typeface="Consolas"/>
              </a:rPr>
              <a:t>tests: 1</a:t>
            </a:r>
          </a:p>
          <a:p>
            <a:pPr algn="l"/>
            <a:r>
              <a:rPr sz="1250" b="0">
                <a:solidFill>
                  <a:srgbClr val="1B2B34"/>
                </a:solidFill>
                <a:latin typeface="Consolas"/>
              </a:rPr>
              <a:t> </a:t>
            </a:r>
          </a:p>
          <a:p>
            <a:pPr algn="l"/>
            <a:r>
              <a:rPr sz="1400" b="1">
                <a:solidFill>
                  <a:srgbClr val="2E6DA4"/>
                </a:solidFill>
                <a:latin typeface="Consolas"/>
              </a:rPr>
              <a:t>$ pav status s76           # Pavilion: it's running</a:t>
            </a:r>
          </a:p>
          <a:p>
            <a:pPr algn="l"/>
            <a:r>
              <a:rPr sz="1250" b="0">
                <a:solidFill>
                  <a:srgbClr val="1B2B34"/>
                </a:solidFill>
                <a:latin typeface="Consolas"/>
              </a:rPr>
              <a:t>s76.1 | 8390_pbs-server | demo_pbs.pass | RUNNING</a:t>
            </a:r>
          </a:p>
          <a:p>
            <a:pPr algn="l"/>
            <a:r>
              <a:rPr sz="1250" b="0">
                <a:solidFill>
                  <a:srgbClr val="1B2B34"/>
                </a:solidFill>
                <a:latin typeface="Consolas"/>
              </a:rPr>
              <a:t> </a:t>
            </a:r>
          </a:p>
          <a:p>
            <a:pPr algn="l"/>
            <a:r>
              <a:rPr sz="1400" b="1">
                <a:solidFill>
                  <a:srgbClr val="2E6DA4"/>
                </a:solidFill>
                <a:latin typeface="Consolas"/>
              </a:rPr>
              <a:t>$ qstat -a                 # PBS: the same job, state R</a:t>
            </a:r>
          </a:p>
          <a:p>
            <a:pPr algn="l"/>
            <a:r>
              <a:rPr sz="1250" b="0">
                <a:solidFill>
                  <a:srgbClr val="1B2B34"/>
                </a:solidFill>
                <a:latin typeface="Consolas"/>
              </a:rPr>
              <a:t>8390.pbs-server  pavilion  workq  pav_demo_*  1  1  R</a:t>
            </a:r>
          </a:p>
          <a:p>
            <a:pPr algn="l"/>
            <a:r>
              <a:rPr sz="1250" b="0">
                <a:solidFill>
                  <a:srgbClr val="1B2B34"/>
                </a:solidFill>
                <a:latin typeface="Consolas"/>
              </a:rPr>
              <a:t> </a:t>
            </a:r>
          </a:p>
          <a:p>
            <a:pPr algn="l"/>
            <a:r>
              <a:rPr sz="1400" b="1">
                <a:solidFill>
                  <a:srgbClr val="2E6DA4"/>
                </a:solidFill>
                <a:latin typeface="Consolas"/>
              </a:rPr>
              <a:t>$ pav results s76          # once it finishes</a:t>
            </a:r>
          </a:p>
          <a:p>
            <a:pPr algn="l"/>
            <a:r>
              <a:rPr sz="1250" b="0">
                <a:solidFill>
                  <a:srgbClr val="1E7D3C"/>
                </a:solidFill>
                <a:latin typeface="Consolas"/>
              </a:rPr>
              <a:t>s76.1 | demo_pbs.pass | COMPLETE | PASS</a:t>
            </a:r>
          </a:p>
        </p:txBody>
      </p:sp>
      <p:sp>
        <p:nvSpPr>
          <p:cNvPr id="7" name="TextBox 6"/>
          <p:cNvSpPr txBox="1"/>
          <p:nvPr/>
        </p:nvSpPr>
        <p:spPr>
          <a:xfrm>
            <a:off x="640080" y="6144768"/>
            <a:ext cx="10972800" cy="502920"/>
          </a:xfrm>
          <a:prstGeom prst="rect">
            <a:avLst/>
          </a:prstGeom>
          <a:noFill/>
        </p:spPr>
        <p:txBody>
          <a:bodyPr wrap="square">
            <a:spAutoFit/>
          </a:bodyPr>
          <a:lstStyle/>
          <a:p>
            <a:r>
              <a:rPr sz="1400" b="0">
                <a:solidFill>
                  <a:srgbClr val="5B6674"/>
                </a:solidFill>
                <a:latin typeface="Arial"/>
              </a:rPr>
              <a:t>Submitted → running (seen in Pavilion AND PBS) → PASS on a compute node.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651760"/>
            <a:ext cx="12191695" cy="1554480"/>
          </a:xfrm>
          <a:prstGeom prst="rect">
            <a:avLst/>
          </a:prstGeom>
          <a:solidFill>
            <a:srgbClr val="EE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834640"/>
            <a:ext cx="10698480" cy="1188720"/>
          </a:xfrm>
          <a:prstGeom prst="rect">
            <a:avLst/>
          </a:prstGeom>
          <a:noFill/>
        </p:spPr>
        <p:txBody>
          <a:bodyPr wrap="square">
            <a:spAutoFit/>
          </a:bodyPr>
          <a:lstStyle/>
          <a:p>
            <a:r>
              <a:rPr sz="1300" b="1">
                <a:solidFill>
                  <a:srgbClr val="2E6DA4"/>
                </a:solidFill>
                <a:latin typeface="Arial"/>
              </a:rPr>
              <a:t>REUSABLE OVERLAYS</a:t>
            </a:r>
          </a:p>
          <a:p>
            <a:r>
              <a:rPr sz="3600" b="1">
                <a:solidFill>
                  <a:srgbClr val="1F3B63"/>
                </a:solidFill>
                <a:latin typeface="Arial"/>
              </a:rPr>
              <a:t>Modes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7680960" cy="365760"/>
          </a:xfrm>
          <a:prstGeom prst="rect">
            <a:avLst/>
          </a:prstGeom>
          <a:noFill/>
        </p:spPr>
        <p:txBody>
          <a:bodyPr wrap="square">
            <a:spAutoFit/>
          </a:bodyPr>
          <a:lstStyle/>
          <a:p>
            <a:r>
              <a:rPr sz="1200" b="1">
                <a:solidFill>
                  <a:srgbClr val="2E6DA4"/>
                </a:solidFill>
                <a:latin typeface="Arial"/>
              </a:rPr>
              <a:t>MODES</a:t>
            </a:r>
          </a:p>
        </p:txBody>
      </p:sp>
      <p:sp>
        <p:nvSpPr>
          <p:cNvPr id="3" name="TextBox 2"/>
          <p:cNvSpPr txBox="1"/>
          <p:nvPr/>
        </p:nvSpPr>
        <p:spPr>
          <a:xfrm>
            <a:off x="548640" y="640080"/>
            <a:ext cx="11064240" cy="822960"/>
          </a:xfrm>
          <a:prstGeom prst="rect">
            <a:avLst/>
          </a:prstGeom>
          <a:noFill/>
        </p:spPr>
        <p:txBody>
          <a:bodyPr wrap="square">
            <a:spAutoFit/>
          </a:bodyPr>
          <a:lstStyle/>
          <a:p>
            <a:r>
              <a:rPr sz="3000" b="1">
                <a:solidFill>
                  <a:srgbClr val="1F3B63"/>
                </a:solidFill>
                <a:latin typeface="Arial"/>
              </a:rPr>
              <a:t>What a mode is</a:t>
            </a:r>
          </a:p>
        </p:txBody>
      </p:sp>
      <p:sp>
        <p:nvSpPr>
          <p:cNvPr id="4" name="Rectangle 3"/>
          <p:cNvSpPr/>
          <p:nvPr/>
        </p:nvSpPr>
        <p:spPr>
          <a:xfrm>
            <a:off x="566928" y="1417320"/>
            <a:ext cx="2011680"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91640"/>
            <a:ext cx="10972800" cy="4754880"/>
          </a:xfrm>
          <a:prstGeom prst="rect">
            <a:avLst/>
          </a:prstGeom>
          <a:noFill/>
        </p:spPr>
        <p:txBody>
          <a:bodyPr wrap="square">
            <a:spAutoFit/>
          </a:bodyPr>
          <a:lstStyle/>
          <a:p>
            <a:pPr>
              <a:spcAft>
                <a:spcPts val="1000"/>
              </a:spcAft>
            </a:pPr>
            <a:r>
              <a:rPr sz="2000" b="0">
                <a:solidFill>
                  <a:srgbClr val="21252B"/>
                </a:solidFill>
                <a:latin typeface="Arial"/>
              </a:rPr>
              <a:t>•  A mode is a small YAML overlay merged on top of a fully-resolved test.</a:t>
            </a:r>
          </a:p>
          <a:p>
            <a:pPr>
              <a:spcAft>
                <a:spcPts val="1000"/>
              </a:spcAft>
            </a:pPr>
            <a:r>
              <a:rPr sz="2000" b="0">
                <a:solidFill>
                  <a:srgbClr val="21252B"/>
                </a:solidFill>
                <a:latin typeface="Arial"/>
              </a:rPr>
              <a:t>•  Apply at run time with -m: `pav run -m prod &lt;test&gt;`.</a:t>
            </a:r>
          </a:p>
          <a:p>
            <a:pPr>
              <a:spcAft>
                <a:spcPts val="1000"/>
              </a:spcAft>
            </a:pPr>
            <a:r>
              <a:rPr sz="2000" b="0">
                <a:solidFill>
                  <a:srgbClr val="21252B"/>
                </a:solidFill>
                <a:latin typeface="Arial"/>
              </a:rPr>
              <a:t>•  Great for: swapping queues, tuning resources, toggling variables — without editing tests.</a:t>
            </a:r>
          </a:p>
          <a:p>
            <a:pPr>
              <a:spcAft>
                <a:spcPts val="1000"/>
              </a:spcAft>
            </a:pPr>
            <a:r>
              <a:rPr sz="2000" b="0">
                <a:solidFill>
                  <a:srgbClr val="21252B"/>
                </a:solidFill>
                <a:latin typeface="Arial"/>
              </a:rPr>
              <a:t>•  Our demo: a `prod` mode overrides a variable (env_label: default → production).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7680960" cy="365760"/>
          </a:xfrm>
          <a:prstGeom prst="rect">
            <a:avLst/>
          </a:prstGeom>
          <a:noFill/>
        </p:spPr>
        <p:txBody>
          <a:bodyPr wrap="square">
            <a:spAutoFit/>
          </a:bodyPr>
          <a:lstStyle/>
          <a:p>
            <a:r>
              <a:rPr sz="1200" b="1">
                <a:solidFill>
                  <a:srgbClr val="2E6DA4"/>
                </a:solidFill>
                <a:latin typeface="Arial"/>
              </a:rPr>
              <a:t>MODES</a:t>
            </a:r>
          </a:p>
        </p:txBody>
      </p:sp>
      <p:sp>
        <p:nvSpPr>
          <p:cNvPr id="3" name="TextBox 2"/>
          <p:cNvSpPr txBox="1"/>
          <p:nvPr/>
        </p:nvSpPr>
        <p:spPr>
          <a:xfrm>
            <a:off x="548640" y="640080"/>
            <a:ext cx="11064240" cy="822960"/>
          </a:xfrm>
          <a:prstGeom prst="rect">
            <a:avLst/>
          </a:prstGeom>
          <a:noFill/>
        </p:spPr>
        <p:txBody>
          <a:bodyPr wrap="square">
            <a:spAutoFit/>
          </a:bodyPr>
          <a:lstStyle/>
          <a:p>
            <a:r>
              <a:rPr sz="3000" b="1">
                <a:solidFill>
                  <a:srgbClr val="1F3B63"/>
                </a:solidFill>
                <a:latin typeface="Arial"/>
              </a:rPr>
              <a:t>A mode file</a:t>
            </a:r>
          </a:p>
        </p:txBody>
      </p:sp>
      <p:sp>
        <p:nvSpPr>
          <p:cNvPr id="4" name="Rectangle 3"/>
          <p:cNvSpPr/>
          <p:nvPr/>
        </p:nvSpPr>
        <p:spPr>
          <a:xfrm>
            <a:off x="566928" y="1417320"/>
            <a:ext cx="2011680"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00200"/>
            <a:ext cx="10972800" cy="457200"/>
          </a:xfrm>
          <a:prstGeom prst="rect">
            <a:avLst/>
          </a:prstGeom>
          <a:noFill/>
        </p:spPr>
        <p:txBody>
          <a:bodyPr wrap="square">
            <a:spAutoFit/>
          </a:bodyPr>
          <a:lstStyle/>
          <a:p>
            <a:r>
              <a:rPr sz="1600" b="0">
                <a:solidFill>
                  <a:srgbClr val="5B6674"/>
                </a:solidFill>
                <a:latin typeface="Arial"/>
              </a:rPr>
              <a:t>prod.yaml — just the config keys you want merged on top of a resolved test.</a:t>
            </a:r>
          </a:p>
        </p:txBody>
      </p:sp>
      <p:sp>
        <p:nvSpPr>
          <p:cNvPr id="6" name="Rectangle 5"/>
          <p:cNvSpPr/>
          <p:nvPr/>
        </p:nvSpPr>
        <p:spPr>
          <a:xfrm>
            <a:off x="640080" y="2148840"/>
            <a:ext cx="10972800" cy="4206240"/>
          </a:xfrm>
          <a:prstGeom prst="rect">
            <a:avLst/>
          </a:prstGeom>
          <a:solidFill>
            <a:srgbClr val="F3F4F6"/>
          </a:solidFill>
          <a:ln w="12700">
            <a:solidFill>
              <a:srgbClr val="D5DAE0"/>
            </a:solidFill>
          </a:ln>
        </p:spPr>
        <p:style>
          <a:lnRef idx="1">
            <a:schemeClr val="accent1"/>
          </a:lnRef>
          <a:fillRef idx="3">
            <a:schemeClr val="accent1"/>
          </a:fillRef>
          <a:effectRef idx="2">
            <a:schemeClr val="accent1"/>
          </a:effectRef>
          <a:fontRef idx="minor">
            <a:schemeClr val="lt1"/>
          </a:fontRef>
        </p:style>
        <p:txBody>
          <a:bodyPr rtlCol="0" anchor="t" wrap="square" lIns="228600" tIns="164592"/>
          <a:lstStyle/>
          <a:p>
            <a:pPr algn="l"/>
            <a:r>
              <a:rPr sz="1400" b="0">
                <a:solidFill>
                  <a:srgbClr val="5B6674"/>
                </a:solidFill>
                <a:latin typeface="Consolas"/>
              </a:rPr>
              <a:t># config/modes/prod.yaml</a:t>
            </a:r>
          </a:p>
          <a:p>
            <a:pPr algn="l"/>
            <a:r>
              <a:rPr sz="1400" b="0">
                <a:solidFill>
                  <a:srgbClr val="5B6674"/>
                </a:solidFill>
                <a:latin typeface="Consolas"/>
              </a:rPr>
              <a:t># Apply with:  pav run -m prod &lt;test&gt;</a:t>
            </a:r>
          </a:p>
          <a:p>
            <a:pPr algn="l"/>
            <a:r>
              <a:rPr sz="1400" b="0">
                <a:solidFill>
                  <a:srgbClr val="1B2B34"/>
                </a:solidFill>
                <a:latin typeface="Consolas"/>
              </a:rPr>
              <a:t>variables:</a:t>
            </a:r>
          </a:p>
          <a:p>
            <a:pPr algn="l"/>
            <a:r>
              <a:rPr sz="1400" b="0">
                <a:solidFill>
                  <a:srgbClr val="1B2B34"/>
                </a:solidFill>
                <a:latin typeface="Consolas"/>
              </a:rPr>
              <a:t>  env_label: 'production'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7680960" cy="365760"/>
          </a:xfrm>
          <a:prstGeom prst="rect">
            <a:avLst/>
          </a:prstGeom>
          <a:noFill/>
        </p:spPr>
        <p:txBody>
          <a:bodyPr wrap="square">
            <a:spAutoFit/>
          </a:bodyPr>
          <a:lstStyle/>
          <a:p>
            <a:r>
              <a:rPr sz="1200" b="1">
                <a:solidFill>
                  <a:srgbClr val="2E6DA4"/>
                </a:solidFill>
                <a:latin typeface="Arial"/>
              </a:rPr>
              <a:t>LIVE DEMO · L5</a:t>
            </a:r>
          </a:p>
        </p:txBody>
      </p:sp>
      <p:sp>
        <p:nvSpPr>
          <p:cNvPr id="3" name="TextBox 2"/>
          <p:cNvSpPr txBox="1"/>
          <p:nvPr/>
        </p:nvSpPr>
        <p:spPr>
          <a:xfrm>
            <a:off x="548640" y="640080"/>
            <a:ext cx="11064240" cy="822960"/>
          </a:xfrm>
          <a:prstGeom prst="rect">
            <a:avLst/>
          </a:prstGeom>
          <a:noFill/>
        </p:spPr>
        <p:txBody>
          <a:bodyPr wrap="square">
            <a:spAutoFit/>
          </a:bodyPr>
          <a:lstStyle/>
          <a:p>
            <a:r>
              <a:rPr sz="3000" b="1">
                <a:solidFill>
                  <a:srgbClr val="1F3B63"/>
                </a:solidFill>
                <a:latin typeface="Arial"/>
              </a:rPr>
              <a:t>A mode overrides config</a:t>
            </a:r>
          </a:p>
        </p:txBody>
      </p:sp>
      <p:sp>
        <p:nvSpPr>
          <p:cNvPr id="4" name="Rectangle 3"/>
          <p:cNvSpPr/>
          <p:nvPr/>
        </p:nvSpPr>
        <p:spPr>
          <a:xfrm>
            <a:off x="566928" y="1417320"/>
            <a:ext cx="2011680"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503920" y="457200"/>
            <a:ext cx="3108960" cy="50292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Arial"/>
              </a:rPr>
              <a:t>▶  05-modes.sh</a:t>
            </a:r>
          </a:p>
        </p:txBody>
      </p:sp>
      <p:sp>
        <p:nvSpPr>
          <p:cNvPr id="6" name="Rectangle 5"/>
          <p:cNvSpPr/>
          <p:nvPr/>
        </p:nvSpPr>
        <p:spPr>
          <a:xfrm>
            <a:off x="640080" y="1645920"/>
            <a:ext cx="10972800" cy="4343400"/>
          </a:xfrm>
          <a:prstGeom prst="rect">
            <a:avLst/>
          </a:prstGeom>
          <a:solidFill>
            <a:srgbClr val="F3F4F6"/>
          </a:solidFill>
          <a:ln w="12700">
            <a:solidFill>
              <a:srgbClr val="D5DAE0"/>
            </a:solidFill>
          </a:ln>
        </p:spPr>
        <p:style>
          <a:lnRef idx="1">
            <a:schemeClr val="accent1"/>
          </a:lnRef>
          <a:fillRef idx="3">
            <a:schemeClr val="accent1"/>
          </a:fillRef>
          <a:effectRef idx="2">
            <a:schemeClr val="accent1"/>
          </a:effectRef>
          <a:fontRef idx="minor">
            <a:schemeClr val="lt1"/>
          </a:fontRef>
        </p:style>
        <p:txBody>
          <a:bodyPr rtlCol="0" anchor="t" wrap="square" lIns="228600" tIns="146304"/>
          <a:lstStyle/>
          <a:p>
            <a:pPr algn="l"/>
            <a:r>
              <a:rPr sz="1400" b="1">
                <a:solidFill>
                  <a:srgbClr val="2E6DA4"/>
                </a:solidFill>
                <a:latin typeface="Consolas"/>
              </a:rPr>
              <a:t>$ pav run -m prod demo_modes.mode_demo    # apply the prod overlay</a:t>
            </a:r>
          </a:p>
          <a:p>
            <a:pPr algn="l"/>
            <a:r>
              <a:rPr sz="1250" b="0">
                <a:solidFill>
                  <a:srgbClr val="1B2B34"/>
                </a:solidFill>
                <a:latin typeface="Consolas"/>
              </a:rPr>
              <a:t>sid: s73</a:t>
            </a:r>
          </a:p>
          <a:p>
            <a:pPr algn="l"/>
            <a:r>
              <a:rPr sz="1250" b="0">
                <a:solidFill>
                  <a:srgbClr val="1B2B34"/>
                </a:solidFill>
                <a:latin typeface="Consolas"/>
              </a:rPr>
              <a:t>tests: 1</a:t>
            </a:r>
          </a:p>
          <a:p>
            <a:pPr algn="l"/>
            <a:r>
              <a:rPr sz="1250" b="0">
                <a:solidFill>
                  <a:srgbClr val="1B2B34"/>
                </a:solidFill>
                <a:latin typeface="Consolas"/>
              </a:rPr>
              <a:t> </a:t>
            </a:r>
          </a:p>
          <a:p>
            <a:pPr algn="l"/>
            <a:r>
              <a:rPr sz="1400" b="1">
                <a:solidFill>
                  <a:srgbClr val="2E6DA4"/>
                </a:solidFill>
                <a:latin typeface="Consolas"/>
              </a:rPr>
              <a:t>$ qstat -a                                # dispatched to PBS</a:t>
            </a:r>
          </a:p>
          <a:p>
            <a:pPr algn="l"/>
            <a:r>
              <a:rPr sz="1250" b="0">
                <a:solidFill>
                  <a:srgbClr val="1B2B34"/>
                </a:solidFill>
                <a:latin typeface="Consolas"/>
              </a:rPr>
              <a:t>8386.pbs-server pavilion workq pav_demo_*  1  1  R</a:t>
            </a:r>
          </a:p>
          <a:p>
            <a:pPr algn="l"/>
            <a:r>
              <a:rPr sz="1250" b="0">
                <a:solidFill>
                  <a:srgbClr val="1B2B34"/>
                </a:solidFill>
                <a:latin typeface="Consolas"/>
              </a:rPr>
              <a:t> </a:t>
            </a:r>
          </a:p>
          <a:p>
            <a:pPr algn="l"/>
            <a:r>
              <a:rPr sz="1400" b="1">
                <a:solidFill>
                  <a:srgbClr val="2E6DA4"/>
                </a:solidFill>
                <a:latin typeface="Consolas"/>
              </a:rPr>
              <a:t>$ pav results --full s73</a:t>
            </a:r>
          </a:p>
          <a:p>
            <a:pPr algn="l"/>
            <a:r>
              <a:rPr sz="1250" b="0">
                <a:solidFill>
                  <a:srgbClr val="1B2B34"/>
                </a:solidFill>
                <a:latin typeface="Consolas"/>
              </a:rPr>
              <a:t>  'name': 'demo_modes.mode_demo',</a:t>
            </a:r>
          </a:p>
          <a:p>
            <a:pPr algn="l"/>
            <a:r>
              <a:rPr sz="1250" b="0">
                <a:solidFill>
                  <a:srgbClr val="1B2B34"/>
                </a:solidFill>
                <a:latin typeface="Consolas"/>
              </a:rPr>
              <a:t>  'label': 'production',</a:t>
            </a:r>
          </a:p>
          <a:p>
            <a:pPr algn="l"/>
            <a:r>
              <a:rPr sz="1250" b="0">
                <a:solidFill>
                  <a:srgbClr val="1B2B34"/>
                </a:solidFill>
                <a:latin typeface="Consolas"/>
              </a:rPr>
              <a:t>  'var': {'env_label': 'production'}</a:t>
            </a:r>
          </a:p>
        </p:txBody>
      </p:sp>
      <p:sp>
        <p:nvSpPr>
          <p:cNvPr id="7" name="TextBox 6"/>
          <p:cNvSpPr txBox="1"/>
          <p:nvPr/>
        </p:nvSpPr>
        <p:spPr>
          <a:xfrm>
            <a:off x="640080" y="6144768"/>
            <a:ext cx="10972800" cy="502920"/>
          </a:xfrm>
          <a:prstGeom prst="rect">
            <a:avLst/>
          </a:prstGeom>
          <a:noFill/>
        </p:spPr>
        <p:txBody>
          <a:bodyPr wrap="square">
            <a:spAutoFit/>
          </a:bodyPr>
          <a:lstStyle/>
          <a:p>
            <a:r>
              <a:rPr sz="1400" b="0">
                <a:solidFill>
                  <a:srgbClr val="5B6674"/>
                </a:solidFill>
                <a:latin typeface="Arial"/>
              </a:rPr>
              <a:t>Plain, env_label is 'default'; with `-m prod` the overlay flips it to 'production'.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651760"/>
            <a:ext cx="12191695" cy="1554480"/>
          </a:xfrm>
          <a:prstGeom prst="rect">
            <a:avLst/>
          </a:prstGeom>
          <a:solidFill>
            <a:srgbClr val="EE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834640"/>
            <a:ext cx="10698480" cy="1188720"/>
          </a:xfrm>
          <a:prstGeom prst="rect">
            <a:avLst/>
          </a:prstGeom>
          <a:noFill/>
        </p:spPr>
        <p:txBody>
          <a:bodyPr wrap="square">
            <a:spAutoFit/>
          </a:bodyPr>
          <a:lstStyle/>
          <a:p>
            <a:r>
              <a:rPr sz="1300" b="1">
                <a:solidFill>
                  <a:srgbClr val="2E6DA4"/>
                </a:solidFill>
                <a:latin typeface="Arial"/>
              </a:rPr>
              <a:t>GROUPING RUNS</a:t>
            </a:r>
          </a:p>
          <a:p>
            <a:r>
              <a:rPr sz="3600" b="1">
                <a:solidFill>
                  <a:srgbClr val="1F3B63"/>
                </a:solidFill>
                <a:latin typeface="Arial"/>
              </a:rPr>
              <a:t>Series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7680960" cy="365760"/>
          </a:xfrm>
          <a:prstGeom prst="rect">
            <a:avLst/>
          </a:prstGeom>
          <a:noFill/>
        </p:spPr>
        <p:txBody>
          <a:bodyPr wrap="square">
            <a:spAutoFit/>
          </a:bodyPr>
          <a:lstStyle/>
          <a:p>
            <a:r>
              <a:rPr sz="1200" b="1">
                <a:solidFill>
                  <a:srgbClr val="2E6DA4"/>
                </a:solidFill>
                <a:latin typeface="Arial"/>
              </a:rPr>
              <a:t>SERIES</a:t>
            </a:r>
          </a:p>
        </p:txBody>
      </p:sp>
      <p:sp>
        <p:nvSpPr>
          <p:cNvPr id="3" name="TextBox 2"/>
          <p:cNvSpPr txBox="1"/>
          <p:nvPr/>
        </p:nvSpPr>
        <p:spPr>
          <a:xfrm>
            <a:off x="548640" y="640080"/>
            <a:ext cx="11064240" cy="822960"/>
          </a:xfrm>
          <a:prstGeom prst="rect">
            <a:avLst/>
          </a:prstGeom>
          <a:noFill/>
        </p:spPr>
        <p:txBody>
          <a:bodyPr wrap="square">
            <a:spAutoFit/>
          </a:bodyPr>
          <a:lstStyle/>
          <a:p>
            <a:r>
              <a:rPr sz="3000" b="1">
                <a:solidFill>
                  <a:srgbClr val="1F3B63"/>
                </a:solidFill>
                <a:latin typeface="Arial"/>
              </a:rPr>
              <a:t>A series file</a:t>
            </a:r>
          </a:p>
        </p:txBody>
      </p:sp>
      <p:sp>
        <p:nvSpPr>
          <p:cNvPr id="4" name="Rectangle 3"/>
          <p:cNvSpPr/>
          <p:nvPr/>
        </p:nvSpPr>
        <p:spPr>
          <a:xfrm>
            <a:off x="566928" y="1417320"/>
            <a:ext cx="2011680"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00200"/>
            <a:ext cx="10972800" cy="457200"/>
          </a:xfrm>
          <a:prstGeom prst="rect">
            <a:avLst/>
          </a:prstGeom>
          <a:noFill/>
        </p:spPr>
        <p:txBody>
          <a:bodyPr wrap="square">
            <a:spAutoFit/>
          </a:bodyPr>
          <a:lstStyle/>
          <a:p>
            <a:r>
              <a:rPr sz="1600" b="0">
                <a:solidFill>
                  <a:srgbClr val="5B6674"/>
                </a:solidFill>
                <a:latin typeface="Arial"/>
              </a:rPr>
              <a:t>demo_series.yaml — name a few test sets; each set lists the tests it runs.</a:t>
            </a:r>
          </a:p>
        </p:txBody>
      </p:sp>
      <p:sp>
        <p:nvSpPr>
          <p:cNvPr id="6" name="Rectangle 5"/>
          <p:cNvSpPr/>
          <p:nvPr/>
        </p:nvSpPr>
        <p:spPr>
          <a:xfrm>
            <a:off x="640080" y="2148840"/>
            <a:ext cx="10972800" cy="4206240"/>
          </a:xfrm>
          <a:prstGeom prst="rect">
            <a:avLst/>
          </a:prstGeom>
          <a:solidFill>
            <a:srgbClr val="F3F4F6"/>
          </a:solidFill>
          <a:ln w="12700">
            <a:solidFill>
              <a:srgbClr val="D5DAE0"/>
            </a:solidFill>
          </a:ln>
        </p:spPr>
        <p:style>
          <a:lnRef idx="1">
            <a:schemeClr val="accent1"/>
          </a:lnRef>
          <a:fillRef idx="3">
            <a:schemeClr val="accent1"/>
          </a:fillRef>
          <a:effectRef idx="2">
            <a:schemeClr val="accent1"/>
          </a:effectRef>
          <a:fontRef idx="minor">
            <a:schemeClr val="lt1"/>
          </a:fontRef>
        </p:style>
        <p:txBody>
          <a:bodyPr rtlCol="0" anchor="t" wrap="square" lIns="228600" tIns="164592"/>
          <a:lstStyle/>
          <a:p>
            <a:pPr algn="l"/>
            <a:r>
              <a:rPr sz="1400" b="0">
                <a:solidFill>
                  <a:srgbClr val="5B6674"/>
                </a:solidFill>
                <a:latin typeface="Consolas"/>
              </a:rPr>
              <a:t># config/series/demo_series.yaml</a:t>
            </a:r>
          </a:p>
          <a:p>
            <a:pPr algn="l"/>
            <a:r>
              <a:rPr sz="1400" b="0">
                <a:solidFill>
                  <a:srgbClr val="1B2B34"/>
                </a:solidFill>
                <a:latin typeface="Consolas"/>
              </a:rPr>
              <a:t>ordered: False</a:t>
            </a:r>
          </a:p>
          <a:p>
            <a:pPr algn="l"/>
            <a:r>
              <a:rPr sz="1400" b="0">
                <a:solidFill>
                  <a:srgbClr val="1B2B34"/>
                </a:solidFill>
                <a:latin typeface="Consolas"/>
              </a:rPr>
              <a:t>test_sets:</a:t>
            </a:r>
          </a:p>
          <a:p>
            <a:pPr algn="l"/>
            <a:r>
              <a:rPr sz="1400" b="0">
                <a:solidFill>
                  <a:srgbClr val="1B2B34"/>
                </a:solidFill>
                <a:latin typeface="Consolas"/>
              </a:rPr>
              <a:t>  smoke:  { tests: [demo_pbs.pass] }</a:t>
            </a:r>
          </a:p>
          <a:p>
            <a:pPr algn="l"/>
            <a:r>
              <a:rPr sz="1400" b="0">
                <a:solidFill>
                  <a:srgbClr val="1B2B34"/>
                </a:solidFill>
                <a:latin typeface="Consolas"/>
              </a:rPr>
              <a:t>  perf:   { tests: [demo_pbs.metrics] }</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7680960" cy="365760"/>
          </a:xfrm>
          <a:prstGeom prst="rect">
            <a:avLst/>
          </a:prstGeom>
          <a:noFill/>
        </p:spPr>
        <p:txBody>
          <a:bodyPr wrap="square">
            <a:spAutoFit/>
          </a:bodyPr>
          <a:lstStyle/>
          <a:p>
            <a:r>
              <a:rPr sz="1200" b="1">
                <a:solidFill>
                  <a:srgbClr val="2E6DA4"/>
                </a:solidFill>
                <a:latin typeface="Arial"/>
              </a:rPr>
              <a:t>LIVE DEMO · L6</a:t>
            </a:r>
          </a:p>
        </p:txBody>
      </p:sp>
      <p:sp>
        <p:nvSpPr>
          <p:cNvPr id="3" name="TextBox 2"/>
          <p:cNvSpPr txBox="1"/>
          <p:nvPr/>
        </p:nvSpPr>
        <p:spPr>
          <a:xfrm>
            <a:off x="548640" y="640080"/>
            <a:ext cx="11064240" cy="822960"/>
          </a:xfrm>
          <a:prstGeom prst="rect">
            <a:avLst/>
          </a:prstGeom>
          <a:noFill/>
        </p:spPr>
        <p:txBody>
          <a:bodyPr wrap="square">
            <a:spAutoFit/>
          </a:bodyPr>
          <a:lstStyle/>
          <a:p>
            <a:r>
              <a:rPr sz="3000" b="1">
                <a:solidFill>
                  <a:srgbClr val="1F3B63"/>
                </a:solidFill>
                <a:latin typeface="Arial"/>
              </a:rPr>
              <a:t>Run a whole group</a:t>
            </a:r>
          </a:p>
        </p:txBody>
      </p:sp>
      <p:sp>
        <p:nvSpPr>
          <p:cNvPr id="4" name="Rectangle 3"/>
          <p:cNvSpPr/>
          <p:nvPr/>
        </p:nvSpPr>
        <p:spPr>
          <a:xfrm>
            <a:off x="566928" y="1417320"/>
            <a:ext cx="2011680"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503920" y="457200"/>
            <a:ext cx="3108960" cy="50292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Arial"/>
              </a:rPr>
              <a:t>▶  06-series.sh</a:t>
            </a:r>
          </a:p>
        </p:txBody>
      </p:sp>
      <p:sp>
        <p:nvSpPr>
          <p:cNvPr id="6" name="Rectangle 5"/>
          <p:cNvSpPr/>
          <p:nvPr/>
        </p:nvSpPr>
        <p:spPr>
          <a:xfrm>
            <a:off x="640080" y="1645920"/>
            <a:ext cx="10972800" cy="4343400"/>
          </a:xfrm>
          <a:prstGeom prst="rect">
            <a:avLst/>
          </a:prstGeom>
          <a:solidFill>
            <a:srgbClr val="F3F4F6"/>
          </a:solidFill>
          <a:ln w="12700">
            <a:solidFill>
              <a:srgbClr val="D5DAE0"/>
            </a:solidFill>
          </a:ln>
        </p:spPr>
        <p:style>
          <a:lnRef idx="1">
            <a:schemeClr val="accent1"/>
          </a:lnRef>
          <a:fillRef idx="3">
            <a:schemeClr val="accent1"/>
          </a:fillRef>
          <a:effectRef idx="2">
            <a:schemeClr val="accent1"/>
          </a:effectRef>
          <a:fontRef idx="minor">
            <a:schemeClr val="lt1"/>
          </a:fontRef>
        </p:style>
        <p:txBody>
          <a:bodyPr rtlCol="0" anchor="t" wrap="square" lIns="228600" tIns="146304"/>
          <a:lstStyle/>
          <a:p>
            <a:pPr algn="l"/>
            <a:r>
              <a:rPr sz="1400" b="1">
                <a:solidFill>
                  <a:srgbClr val="2E6DA4"/>
                </a:solidFill>
                <a:latin typeface="Consolas"/>
              </a:rPr>
              <a:t>$ pav series run demo_series</a:t>
            </a:r>
          </a:p>
          <a:p>
            <a:pPr algn="l"/>
            <a:r>
              <a:rPr sz="1250" b="0">
                <a:solidFill>
                  <a:srgbClr val="1B2B34"/>
                </a:solidFill>
                <a:latin typeface="Consolas"/>
              </a:rPr>
              <a:t>Created Test Series demo_series.</a:t>
            </a:r>
          </a:p>
          <a:p>
            <a:pPr algn="l"/>
            <a:r>
              <a:rPr sz="1250" b="0">
                <a:solidFill>
                  <a:srgbClr val="1B2B34"/>
                </a:solidFill>
                <a:latin typeface="Consolas"/>
              </a:rPr>
              <a:t>Started series s74.</a:t>
            </a:r>
          </a:p>
          <a:p>
            <a:pPr algn="l"/>
            <a:r>
              <a:rPr sz="1250" b="0">
                <a:solidFill>
                  <a:srgbClr val="1B2B34"/>
                </a:solidFill>
                <a:latin typeface="Consolas"/>
              </a:rPr>
              <a:t> </a:t>
            </a:r>
          </a:p>
          <a:p>
            <a:pPr algn="l"/>
            <a:r>
              <a:rPr sz="1400" b="1">
                <a:solidFill>
                  <a:srgbClr val="2E6DA4"/>
                </a:solidFill>
                <a:latin typeface="Consolas"/>
              </a:rPr>
              <a:t>$ qstat -a                        # one PBS job per test set</a:t>
            </a:r>
          </a:p>
          <a:p>
            <a:pPr algn="l"/>
            <a:r>
              <a:rPr sz="1250" b="0">
                <a:solidFill>
                  <a:srgbClr val="1B2B34"/>
                </a:solidFill>
                <a:latin typeface="Consolas"/>
              </a:rPr>
              <a:t>8387.pbs-server pavilion workq pav_demo_*  1  1  R</a:t>
            </a:r>
          </a:p>
          <a:p>
            <a:pPr algn="l"/>
            <a:r>
              <a:rPr sz="1250" b="0">
                <a:solidFill>
                  <a:srgbClr val="1B2B34"/>
                </a:solidFill>
                <a:latin typeface="Consolas"/>
              </a:rPr>
              <a:t>8388.pbs-server pavilion workq pav_demo_*  1  1  R</a:t>
            </a:r>
          </a:p>
          <a:p>
            <a:pPr algn="l"/>
            <a:r>
              <a:rPr sz="1250" b="0">
                <a:solidFill>
                  <a:srgbClr val="1B2B34"/>
                </a:solidFill>
                <a:latin typeface="Consolas"/>
              </a:rPr>
              <a:t> </a:t>
            </a:r>
          </a:p>
          <a:p>
            <a:pPr algn="l"/>
            <a:r>
              <a:rPr sz="1400" b="1">
                <a:solidFill>
                  <a:srgbClr val="2E6DA4"/>
                </a:solidFill>
                <a:latin typeface="Consolas"/>
              </a:rPr>
              <a:t>$ pav series status s74</a:t>
            </a:r>
          </a:p>
          <a:p>
            <a:pPr algn="l"/>
            <a:r>
              <a:rPr sz="1250" b="0">
                <a:solidFill>
                  <a:srgbClr val="1B2B34"/>
                </a:solidFill>
                <a:latin typeface="Consolas"/>
              </a:rPr>
              <a:t>Id  | Name        | Status   | Tests | Pass | Fail</a:t>
            </a:r>
          </a:p>
          <a:p>
            <a:pPr algn="l"/>
            <a:r>
              <a:rPr sz="1250" b="0">
                <a:solidFill>
                  <a:srgbClr val="1B2B34"/>
                </a:solidFill>
                <a:latin typeface="Consolas"/>
              </a:rPr>
              <a:t>s74 | demo_series | COMPLETE |   2   |   2  |   0</a:t>
            </a:r>
          </a:p>
        </p:txBody>
      </p:sp>
      <p:sp>
        <p:nvSpPr>
          <p:cNvPr id="7" name="TextBox 6"/>
          <p:cNvSpPr txBox="1"/>
          <p:nvPr/>
        </p:nvSpPr>
        <p:spPr>
          <a:xfrm>
            <a:off x="640080" y="6144768"/>
            <a:ext cx="10972800" cy="502920"/>
          </a:xfrm>
          <a:prstGeom prst="rect">
            <a:avLst/>
          </a:prstGeom>
          <a:noFill/>
        </p:spPr>
        <p:txBody>
          <a:bodyPr wrap="square">
            <a:spAutoFit/>
          </a:bodyPr>
          <a:lstStyle/>
          <a:p>
            <a:r>
              <a:rPr sz="1400" b="0">
                <a:solidFill>
                  <a:srgbClr val="5B6674"/>
                </a:solidFill>
                <a:latin typeface="Arial"/>
              </a:rPr>
              <a:t>One command runs both test sets as a named series — two PBS jobs, all PASS.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651760"/>
            <a:ext cx="12191695" cy="1554480"/>
          </a:xfrm>
          <a:prstGeom prst="rect">
            <a:avLst/>
          </a:prstGeom>
          <a:solidFill>
            <a:srgbClr val="EE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834640"/>
            <a:ext cx="10698480" cy="1188720"/>
          </a:xfrm>
          <a:prstGeom prst="rect">
            <a:avLst/>
          </a:prstGeom>
          <a:noFill/>
        </p:spPr>
        <p:txBody>
          <a:bodyPr wrap="square">
            <a:spAutoFit/>
          </a:bodyPr>
          <a:lstStyle/>
          <a:p>
            <a:r>
              <a:rPr sz="1300" b="1">
                <a:solidFill>
                  <a:srgbClr val="2E6DA4"/>
                </a:solidFill>
                <a:latin typeface="Arial"/>
              </a:rPr>
              <a:t>READING &amp; SCRIPTING</a:t>
            </a:r>
          </a:p>
          <a:p>
            <a:r>
              <a:rPr sz="3600" b="1">
                <a:solidFill>
                  <a:srgbClr val="1F3B63"/>
                </a:solidFill>
                <a:latin typeface="Arial"/>
              </a:rPr>
              <a:t>Results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7680960" cy="365760"/>
          </a:xfrm>
          <a:prstGeom prst="rect">
            <a:avLst/>
          </a:prstGeom>
          <a:noFill/>
        </p:spPr>
        <p:txBody>
          <a:bodyPr wrap="square">
            <a:spAutoFit/>
          </a:bodyPr>
          <a:lstStyle/>
          <a:p>
            <a:r>
              <a:rPr sz="1200" b="1">
                <a:solidFill>
                  <a:srgbClr val="2E6DA4"/>
                </a:solidFill>
                <a:latin typeface="Arial"/>
              </a:rPr>
              <a:t>LIVE DEMO · RESULTS</a:t>
            </a:r>
          </a:p>
        </p:txBody>
      </p:sp>
      <p:sp>
        <p:nvSpPr>
          <p:cNvPr id="3" name="TextBox 2"/>
          <p:cNvSpPr txBox="1"/>
          <p:nvPr/>
        </p:nvSpPr>
        <p:spPr>
          <a:xfrm>
            <a:off x="548640" y="640080"/>
            <a:ext cx="11064240" cy="822960"/>
          </a:xfrm>
          <a:prstGeom prst="rect">
            <a:avLst/>
          </a:prstGeom>
          <a:noFill/>
        </p:spPr>
        <p:txBody>
          <a:bodyPr wrap="square">
            <a:spAutoFit/>
          </a:bodyPr>
          <a:lstStyle/>
          <a:p>
            <a:r>
              <a:rPr sz="3000" b="1">
                <a:solidFill>
                  <a:srgbClr val="1F3B63"/>
                </a:solidFill>
                <a:latin typeface="Arial"/>
              </a:rPr>
              <a:t>Results: human and machine</a:t>
            </a:r>
          </a:p>
        </p:txBody>
      </p:sp>
      <p:sp>
        <p:nvSpPr>
          <p:cNvPr id="4" name="Rectangle 3"/>
          <p:cNvSpPr/>
          <p:nvPr/>
        </p:nvSpPr>
        <p:spPr>
          <a:xfrm>
            <a:off x="566928" y="1417320"/>
            <a:ext cx="2011680"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1645920"/>
            <a:ext cx="10972800" cy="4343400"/>
          </a:xfrm>
          <a:prstGeom prst="rect">
            <a:avLst/>
          </a:prstGeom>
          <a:solidFill>
            <a:srgbClr val="F3F4F6"/>
          </a:solidFill>
          <a:ln w="12700">
            <a:solidFill>
              <a:srgbClr val="D5DAE0"/>
            </a:solidFill>
          </a:ln>
        </p:spPr>
        <p:style>
          <a:lnRef idx="1">
            <a:schemeClr val="accent1"/>
          </a:lnRef>
          <a:fillRef idx="3">
            <a:schemeClr val="accent1"/>
          </a:fillRef>
          <a:effectRef idx="2">
            <a:schemeClr val="accent1"/>
          </a:effectRef>
          <a:fontRef idx="minor">
            <a:schemeClr val="lt1"/>
          </a:fontRef>
        </p:style>
        <p:txBody>
          <a:bodyPr rtlCol="0" anchor="t" wrap="square" lIns="228600" tIns="146304"/>
          <a:lstStyle/>
          <a:p>
            <a:pPr algn="l"/>
            <a:r>
              <a:rPr sz="1400" b="1">
                <a:solidFill>
                  <a:srgbClr val="2E6DA4"/>
                </a:solidFill>
                <a:latin typeface="Consolas"/>
              </a:rPr>
              <a:t>$ pav results s71                     # a clean table for humans</a:t>
            </a:r>
          </a:p>
          <a:p>
            <a:pPr algn="l"/>
            <a:r>
              <a:rPr sz="1100" b="0">
                <a:solidFill>
                  <a:srgbClr val="1B2B34"/>
                </a:solidFill>
                <a:latin typeface="Consolas"/>
              </a:rPr>
              <a:t> Test Results: s71.</a:t>
            </a:r>
          </a:p>
          <a:p>
            <a:pPr algn="l"/>
            <a:r>
              <a:rPr sz="1100" b="0">
                <a:solidFill>
                  <a:srgbClr val="1B2B34"/>
                </a:solidFill>
                <a:latin typeface="Consolas"/>
              </a:rPr>
              <a:t> Id    | Name             | Started  | Result</a:t>
            </a:r>
          </a:p>
          <a:p>
            <a:pPr algn="l"/>
            <a:r>
              <a:rPr sz="1100" b="0">
                <a:solidFill>
                  <a:srgbClr val="1E7D3C"/>
                </a:solidFill>
                <a:latin typeface="Consolas"/>
              </a:rPr>
              <a:t> s71.1 | demo_pbs.metrics | 16:40:44 | PASS</a:t>
            </a:r>
          </a:p>
          <a:p>
            <a:pPr algn="l"/>
            <a:r>
              <a:rPr sz="1100" b="0">
                <a:solidFill>
                  <a:srgbClr val="1B2B34"/>
                </a:solidFill>
                <a:latin typeface="Consolas"/>
              </a:rPr>
              <a:t> </a:t>
            </a:r>
          </a:p>
          <a:p>
            <a:pPr algn="l"/>
            <a:r>
              <a:rPr sz="1400" b="1">
                <a:solidFill>
                  <a:srgbClr val="2E6DA4"/>
                </a:solidFill>
                <a:latin typeface="Consolas"/>
              </a:rPr>
              <a:t>$ pav results --json s71              # the same run, for scripting</a:t>
            </a:r>
          </a:p>
          <a:p>
            <a:pPr algn="l"/>
            <a:r>
              <a:rPr sz="1100" b="0">
                <a:solidFill>
                  <a:srgbClr val="1B2B34"/>
                </a:solidFill>
                <a:latin typeface="Consolas"/>
              </a:rPr>
              <a:t>{</a:t>
            </a:r>
          </a:p>
          <a:p>
            <a:pPr algn="l"/>
            <a:r>
              <a:rPr sz="1100" b="0">
                <a:solidFill>
                  <a:srgbClr val="1B2B34"/>
                </a:solidFill>
                <a:latin typeface="Consolas"/>
              </a:rPr>
              <a:t>  "name": "demo_pbs.metrics",</a:t>
            </a:r>
          </a:p>
          <a:p>
            <a:pPr algn="l"/>
            <a:r>
              <a:rPr sz="1100" b="0">
                <a:solidFill>
                  <a:srgbClr val="1E7D3C"/>
                </a:solidFill>
                <a:latin typeface="Consolas"/>
              </a:rPr>
              <a:t>  "result": "PASS",</a:t>
            </a:r>
          </a:p>
          <a:p>
            <a:pPr algn="l"/>
            <a:r>
              <a:rPr sz="1100" b="0">
                <a:solidFill>
                  <a:srgbClr val="1B2B34"/>
                </a:solidFill>
                <a:latin typeface="Consolas"/>
              </a:rPr>
              <a:t>  "throughput_mbs": 123.45,</a:t>
            </a:r>
          </a:p>
          <a:p>
            <a:pPr algn="l"/>
            <a:r>
              <a:rPr sz="1100" b="0">
                <a:solidFill>
                  <a:srgbClr val="1B2B34"/>
                </a:solidFill>
                <a:latin typeface="Consolas"/>
              </a:rPr>
              <a:t>  "latency_ms": 5.6,</a:t>
            </a:r>
          </a:p>
          <a:p>
            <a:pPr algn="l"/>
            <a:r>
              <a:rPr sz="1100" b="0">
                <a:solidFill>
                  <a:srgbClr val="1B2B34"/>
                </a:solidFill>
                <a:latin typeface="Consolas"/>
              </a:rPr>
              <a:t>  "errors": 0,</a:t>
            </a:r>
          </a:p>
          <a:p>
            <a:pPr algn="l"/>
            <a:r>
              <a:rPr sz="1100" b="0">
                <a:solidFill>
                  <a:srgbClr val="1B2B34"/>
                </a:solidFill>
                <a:latin typeface="Consolas"/>
              </a:rPr>
              <a:t>  "duration": 0.041</a:t>
            </a:r>
          </a:p>
          <a:p>
            <a:pPr algn="l"/>
            <a:r>
              <a:rPr sz="1100" b="0">
                <a:solidFill>
                  <a:srgbClr val="1B2B34"/>
                </a:solidFill>
                <a:latin typeface="Consolas"/>
              </a:rPr>
              <a:t>}</a:t>
            </a:r>
          </a:p>
        </p:txBody>
      </p:sp>
      <p:sp>
        <p:nvSpPr>
          <p:cNvPr id="6" name="TextBox 5"/>
          <p:cNvSpPr txBox="1"/>
          <p:nvPr/>
        </p:nvSpPr>
        <p:spPr>
          <a:xfrm>
            <a:off x="640080" y="6144768"/>
            <a:ext cx="10972800" cy="502920"/>
          </a:xfrm>
          <a:prstGeom prst="rect">
            <a:avLst/>
          </a:prstGeom>
          <a:noFill/>
        </p:spPr>
        <p:txBody>
          <a:bodyPr wrap="square">
            <a:spAutoFit/>
          </a:bodyPr>
          <a:lstStyle/>
          <a:p>
            <a:r>
              <a:rPr sz="1400" b="0">
                <a:solidFill>
                  <a:srgbClr val="5B6674"/>
                </a:solidFill>
                <a:latin typeface="Arial"/>
              </a:rPr>
              <a:t>Same results, two shapes: a table to read, JSON to pipe into jq / a script / a logger.</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651760"/>
            <a:ext cx="12191695" cy="1554480"/>
          </a:xfrm>
          <a:prstGeom prst="rect">
            <a:avLst/>
          </a:prstGeom>
          <a:solidFill>
            <a:srgbClr val="EE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834640"/>
            <a:ext cx="10698480" cy="1188720"/>
          </a:xfrm>
          <a:prstGeom prst="rect">
            <a:avLst/>
          </a:prstGeom>
          <a:noFill/>
        </p:spPr>
        <p:txBody>
          <a:bodyPr wrap="square">
            <a:spAutoFit/>
          </a:bodyPr>
          <a:lstStyle/>
          <a:p>
            <a:r>
              <a:rPr sz="1300" b="1">
                <a:solidFill>
                  <a:srgbClr val="2E6DA4"/>
                </a:solidFill>
                <a:latin typeface="Arial"/>
              </a:rPr>
              <a:t>EXTENDING PAVILION</a:t>
            </a:r>
          </a:p>
          <a:p>
            <a:r>
              <a:rPr sz="3600" b="1">
                <a:solidFill>
                  <a:srgbClr val="1F3B63"/>
                </a:solidFill>
                <a:latin typeface="Arial"/>
              </a:rPr>
              <a:t>Plugins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7680960" cy="365760"/>
          </a:xfrm>
          <a:prstGeom prst="rect">
            <a:avLst/>
          </a:prstGeom>
          <a:noFill/>
        </p:spPr>
        <p:txBody>
          <a:bodyPr wrap="square">
            <a:spAutoFit/>
          </a:bodyPr>
          <a:lstStyle/>
          <a:p>
            <a:r>
              <a:rPr sz="1200" b="1">
                <a:solidFill>
                  <a:srgbClr val="2E6DA4"/>
                </a:solidFill>
                <a:latin typeface="Arial"/>
              </a:rPr>
              <a:t>PLUGINS</a:t>
            </a:r>
          </a:p>
        </p:txBody>
      </p:sp>
      <p:sp>
        <p:nvSpPr>
          <p:cNvPr id="3" name="TextBox 2"/>
          <p:cNvSpPr txBox="1"/>
          <p:nvPr/>
        </p:nvSpPr>
        <p:spPr>
          <a:xfrm>
            <a:off x="548640" y="640080"/>
            <a:ext cx="11064240" cy="822960"/>
          </a:xfrm>
          <a:prstGeom prst="rect">
            <a:avLst/>
          </a:prstGeom>
          <a:noFill/>
        </p:spPr>
        <p:txBody>
          <a:bodyPr wrap="square">
            <a:spAutoFit/>
          </a:bodyPr>
          <a:lstStyle/>
          <a:p>
            <a:r>
              <a:rPr sz="3000" b="1">
                <a:solidFill>
                  <a:srgbClr val="1F3B63"/>
                </a:solidFill>
                <a:latin typeface="Arial"/>
              </a:rPr>
              <a:t>Pavilion is plugins all the way down</a:t>
            </a:r>
          </a:p>
        </p:txBody>
      </p:sp>
      <p:sp>
        <p:nvSpPr>
          <p:cNvPr id="4" name="Rectangle 3"/>
          <p:cNvSpPr/>
          <p:nvPr/>
        </p:nvSpPr>
        <p:spPr>
          <a:xfrm>
            <a:off x="566928" y="1417320"/>
            <a:ext cx="2011680"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91640"/>
            <a:ext cx="10972800" cy="4754880"/>
          </a:xfrm>
          <a:prstGeom prst="rect">
            <a:avLst/>
          </a:prstGeom>
          <a:noFill/>
        </p:spPr>
        <p:txBody>
          <a:bodyPr wrap="square">
            <a:spAutoFit/>
          </a:bodyPr>
          <a:lstStyle/>
          <a:p>
            <a:pPr>
              <a:spcAft>
                <a:spcPts val="1000"/>
              </a:spcAft>
            </a:pPr>
            <a:r>
              <a:rPr sz="2000" b="0">
                <a:solidFill>
                  <a:srgbClr val="21252B"/>
                </a:solidFill>
                <a:latin typeface="Arial"/>
              </a:rPr>
              <a:t>•  Scheduler plugins — raw, slurm, flux, pbs (PBS is ours).</a:t>
            </a:r>
          </a:p>
          <a:p>
            <a:pPr>
              <a:spcAft>
                <a:spcPts val="1000"/>
              </a:spcAft>
            </a:pPr>
            <a:r>
              <a:rPr sz="2000" b="0">
                <a:solidFill>
                  <a:srgbClr val="21252B"/>
                </a:solidFill>
                <a:latin typeface="Arial"/>
              </a:rPr>
              <a:t>•  Result parsers — regex, constant, table, …</a:t>
            </a:r>
          </a:p>
          <a:p>
            <a:pPr>
              <a:spcAft>
                <a:spcPts val="1000"/>
              </a:spcAft>
            </a:pPr>
            <a:r>
              <a:rPr sz="2000" b="0">
                <a:solidFill>
                  <a:srgbClr val="21252B"/>
                </a:solidFill>
                <a:latin typeface="Arial"/>
              </a:rPr>
              <a:t>•  System variables — expose machine facts to tests (e.g. sys_name).</a:t>
            </a:r>
          </a:p>
          <a:p>
            <a:pPr>
              <a:spcAft>
                <a:spcPts val="1000"/>
              </a:spcAft>
            </a:pPr>
            <a:r>
              <a:rPr sz="2000" b="0">
                <a:solidFill>
                  <a:srgbClr val="21252B"/>
                </a:solidFill>
                <a:latin typeface="Arial"/>
              </a:rPr>
              <a:t>•  Command plugins — add whole new `pav &lt;command&gt;` subcommands.</a:t>
            </a:r>
          </a:p>
          <a:p>
            <a:pPr>
              <a:spcAft>
                <a:spcPts val="1000"/>
              </a:spcAft>
            </a:pPr>
            <a:r>
              <a:rPr sz="2000" b="0">
                <a:solidFill>
                  <a:srgbClr val="21252B"/>
                </a:solidFill>
                <a:latin typeface="Arial"/>
              </a:rPr>
              <a:t>•  Result loggers — ship results anywhere (CSV, OpenSearch, custom).</a:t>
            </a:r>
          </a:p>
          <a:p>
            <a:pPr>
              <a:spcAft>
                <a:spcPts val="1000"/>
              </a:spcAft>
            </a:pPr>
            <a:r>
              <a:rPr sz="1700" b="0">
                <a:solidFill>
                  <a:srgbClr val="5B6674"/>
                </a:solidFill>
                <a:latin typeface="Arial"/>
              </a:rPr>
              <a:t>    – Drop a .py + a .yapsy-plugin into config/plugins/ — Pavilion discovers it.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7680960" cy="365760"/>
          </a:xfrm>
          <a:prstGeom prst="rect">
            <a:avLst/>
          </a:prstGeom>
          <a:noFill/>
        </p:spPr>
        <p:txBody>
          <a:bodyPr wrap="square">
            <a:spAutoFit/>
          </a:bodyPr>
          <a:lstStyle/>
          <a:p>
            <a:r>
              <a:rPr sz="1200" b="1">
                <a:solidFill>
                  <a:srgbClr val="2E6DA4"/>
                </a:solidFill>
                <a:latin typeface="Arial"/>
              </a:rPr>
              <a:t>CUSTOM COMMANDS</a:t>
            </a:r>
          </a:p>
        </p:txBody>
      </p:sp>
      <p:sp>
        <p:nvSpPr>
          <p:cNvPr id="3" name="TextBox 2"/>
          <p:cNvSpPr txBox="1"/>
          <p:nvPr/>
        </p:nvSpPr>
        <p:spPr>
          <a:xfrm>
            <a:off x="548640" y="640080"/>
            <a:ext cx="11064240" cy="822960"/>
          </a:xfrm>
          <a:prstGeom prst="rect">
            <a:avLst/>
          </a:prstGeom>
          <a:noFill/>
        </p:spPr>
        <p:txBody>
          <a:bodyPr wrap="square">
            <a:spAutoFit/>
          </a:bodyPr>
          <a:lstStyle/>
          <a:p>
            <a:r>
              <a:rPr sz="3000" b="1">
                <a:solidFill>
                  <a:srgbClr val="1F3B63"/>
                </a:solidFill>
                <a:latin typeface="Arial"/>
              </a:rPr>
              <a:t>Command plugins (ours)</a:t>
            </a:r>
          </a:p>
        </p:txBody>
      </p:sp>
      <p:sp>
        <p:nvSpPr>
          <p:cNvPr id="4" name="Rectangle 3"/>
          <p:cNvSpPr/>
          <p:nvPr/>
        </p:nvSpPr>
        <p:spPr>
          <a:xfrm>
            <a:off x="566928" y="1417320"/>
            <a:ext cx="2011680"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91640"/>
            <a:ext cx="10972800" cy="4754880"/>
          </a:xfrm>
          <a:prstGeom prst="rect">
            <a:avLst/>
          </a:prstGeom>
          <a:noFill/>
        </p:spPr>
        <p:txBody>
          <a:bodyPr wrap="square">
            <a:spAutoFit/>
          </a:bodyPr>
          <a:lstStyle/>
          <a:p>
            <a:pPr>
              <a:spcAft>
                <a:spcPts val="1000"/>
              </a:spcAft>
            </a:pPr>
            <a:r>
              <a:rPr sz="2000" b="0">
                <a:solidFill>
                  <a:srgbClr val="21252B"/>
                </a:solidFill>
                <a:latin typeface="Arial"/>
              </a:rPr>
              <a:t>•  hello — a friendly sanity check + Pavilion info.</a:t>
            </a:r>
          </a:p>
          <a:p>
            <a:pPr>
              <a:spcAft>
                <a:spcPts val="1000"/>
              </a:spcAft>
            </a:pPr>
            <a:r>
              <a:rPr sz="2000" b="0">
                <a:solidFill>
                  <a:srgbClr val="21252B"/>
                </a:solidFill>
                <a:latin typeface="Arial"/>
              </a:rPr>
              <a:t>•  recent — the most recent test runs, colored by result.</a:t>
            </a:r>
          </a:p>
          <a:p>
            <a:pPr>
              <a:spcAft>
                <a:spcPts val="1000"/>
              </a:spcAft>
            </a:pPr>
            <a:r>
              <a:rPr sz="2000" b="0">
                <a:solidFill>
                  <a:srgbClr val="21252B"/>
                </a:solidFill>
                <a:latin typeface="Arial"/>
              </a:rPr>
              <a:t>•  test-summary — a PASS/FAIL tally across recent runs.</a:t>
            </a:r>
          </a:p>
          <a:p>
            <a:pPr>
              <a:spcAft>
                <a:spcPts val="1000"/>
              </a:spcAft>
            </a:pPr>
            <a:r>
              <a:rPr sz="2000" b="0">
                <a:solidFill>
                  <a:srgbClr val="21252B"/>
                </a:solidFill>
                <a:latin typeface="Arial"/>
              </a:rPr>
              <a:t>•  disk-usage — how much space test runs / builds / series consume.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7680960" cy="365760"/>
          </a:xfrm>
          <a:prstGeom prst="rect">
            <a:avLst/>
          </a:prstGeom>
          <a:noFill/>
        </p:spPr>
        <p:txBody>
          <a:bodyPr wrap="square">
            <a:spAutoFit/>
          </a:bodyPr>
          <a:lstStyle/>
          <a:p>
            <a:r>
              <a:rPr sz="1200" b="1">
                <a:solidFill>
                  <a:srgbClr val="2E6DA4"/>
                </a:solidFill>
                <a:latin typeface="Arial"/>
              </a:rPr>
              <a:t>LIVE DEMO · L7</a:t>
            </a:r>
          </a:p>
        </p:txBody>
      </p:sp>
      <p:sp>
        <p:nvSpPr>
          <p:cNvPr id="3" name="TextBox 2"/>
          <p:cNvSpPr txBox="1"/>
          <p:nvPr/>
        </p:nvSpPr>
        <p:spPr>
          <a:xfrm>
            <a:off x="548640" y="640080"/>
            <a:ext cx="11064240" cy="822960"/>
          </a:xfrm>
          <a:prstGeom prst="rect">
            <a:avLst/>
          </a:prstGeom>
          <a:noFill/>
        </p:spPr>
        <p:txBody>
          <a:bodyPr wrap="square">
            <a:spAutoFit/>
          </a:bodyPr>
          <a:lstStyle/>
          <a:p>
            <a:r>
              <a:rPr sz="3000" b="1">
                <a:solidFill>
                  <a:srgbClr val="1F3B63"/>
                </a:solidFill>
                <a:latin typeface="Arial"/>
              </a:rPr>
              <a:t>Custom commands in action</a:t>
            </a:r>
          </a:p>
        </p:txBody>
      </p:sp>
      <p:sp>
        <p:nvSpPr>
          <p:cNvPr id="4" name="Rectangle 3"/>
          <p:cNvSpPr/>
          <p:nvPr/>
        </p:nvSpPr>
        <p:spPr>
          <a:xfrm>
            <a:off x="566928" y="1417320"/>
            <a:ext cx="2011680"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503920" y="457200"/>
            <a:ext cx="3108960" cy="50292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Arial"/>
              </a:rPr>
              <a:t>▶  07-command-plugins.sh</a:t>
            </a:r>
          </a:p>
        </p:txBody>
      </p:sp>
      <p:sp>
        <p:nvSpPr>
          <p:cNvPr id="6" name="Rectangle 5"/>
          <p:cNvSpPr/>
          <p:nvPr/>
        </p:nvSpPr>
        <p:spPr>
          <a:xfrm>
            <a:off x="640080" y="1645920"/>
            <a:ext cx="10972800" cy="4343400"/>
          </a:xfrm>
          <a:prstGeom prst="rect">
            <a:avLst/>
          </a:prstGeom>
          <a:solidFill>
            <a:srgbClr val="F3F4F6"/>
          </a:solidFill>
          <a:ln w="12700">
            <a:solidFill>
              <a:srgbClr val="D5DAE0"/>
            </a:solidFill>
          </a:ln>
        </p:spPr>
        <p:style>
          <a:lnRef idx="1">
            <a:schemeClr val="accent1"/>
          </a:lnRef>
          <a:fillRef idx="3">
            <a:schemeClr val="accent1"/>
          </a:fillRef>
          <a:effectRef idx="2">
            <a:schemeClr val="accent1"/>
          </a:effectRef>
          <a:fontRef idx="minor">
            <a:schemeClr val="lt1"/>
          </a:fontRef>
        </p:style>
        <p:txBody>
          <a:bodyPr rtlCol="0" anchor="t" wrap="square" lIns="228600" tIns="146304"/>
          <a:lstStyle/>
          <a:p>
            <a:pPr algn="l"/>
            <a:r>
              <a:rPr sz="1400" b="1">
                <a:solidFill>
                  <a:srgbClr val="2E6DA4"/>
                </a:solidFill>
                <a:latin typeface="Consolas"/>
              </a:rPr>
              <a:t>$ pav hello --name Team</a:t>
            </a:r>
          </a:p>
          <a:p>
            <a:pPr algn="l"/>
            <a:r>
              <a:rPr sz="1250" b="0">
                <a:solidFill>
                  <a:srgbClr val="1B2B34"/>
                </a:solidFill>
                <a:latin typeface="Consolas"/>
              </a:rPr>
              <a:t>Hello, Team!  Welcome to Pavilion 2!</a:t>
            </a:r>
          </a:p>
          <a:p>
            <a:pPr algn="l"/>
            <a:r>
              <a:rPr sz="1250" b="0">
                <a:solidFill>
                  <a:srgbClr val="1B2B34"/>
                </a:solidFill>
                <a:latin typeface="Consolas"/>
              </a:rPr>
              <a:t> </a:t>
            </a:r>
          </a:p>
          <a:p>
            <a:pPr algn="l"/>
            <a:r>
              <a:rPr sz="1400" b="1">
                <a:solidFill>
                  <a:srgbClr val="2E6DA4"/>
                </a:solidFill>
                <a:latin typeface="Consolas"/>
              </a:rPr>
              <a:t>$ pav recent -n 3</a:t>
            </a:r>
          </a:p>
          <a:p>
            <a:pPr algn="l"/>
            <a:r>
              <a:rPr sz="1250" b="0">
                <a:solidFill>
                  <a:srgbClr val="1E7D3C"/>
                </a:solidFill>
                <a:latin typeface="Consolas"/>
              </a:rPr>
              <a:t>[s75.4] opensearch_verify.os_version_tag.v1.0-verify   PASS</a:t>
            </a:r>
          </a:p>
          <a:p>
            <a:pPr algn="l"/>
            <a:r>
              <a:rPr sz="1250" b="0">
                <a:solidFill>
                  <a:srgbClr val="1E7D3C"/>
                </a:solidFill>
                <a:latin typeface="Consolas"/>
              </a:rPr>
              <a:t>[s75.3] opensearch_verify.os_with_metrics             PASS</a:t>
            </a:r>
          </a:p>
          <a:p>
            <a:pPr algn="l"/>
            <a:r>
              <a:rPr sz="1250" b="0">
                <a:solidFill>
                  <a:srgbClr val="B32A2A"/>
                </a:solidFill>
                <a:latin typeface="Consolas"/>
              </a:rPr>
              <a:t>[s75.2] opensearch_verify.os_fail                     FAIL</a:t>
            </a:r>
          </a:p>
          <a:p>
            <a:pPr algn="l"/>
            <a:r>
              <a:rPr sz="1250" b="0">
                <a:solidFill>
                  <a:srgbClr val="1B2B34"/>
                </a:solidFill>
                <a:latin typeface="Consolas"/>
              </a:rPr>
              <a:t> </a:t>
            </a:r>
          </a:p>
          <a:p>
            <a:pPr algn="l"/>
            <a:r>
              <a:rPr sz="1400" b="1">
                <a:solidFill>
                  <a:srgbClr val="2E6DA4"/>
                </a:solidFill>
                <a:latin typeface="Consolas"/>
              </a:rPr>
              <a:t>$ pav test-summary</a:t>
            </a:r>
          </a:p>
          <a:p>
            <a:pPr algn="l"/>
            <a:r>
              <a:rPr sz="1250" b="0">
                <a:solidFill>
                  <a:srgbClr val="1E7D3C"/>
                </a:solidFill>
                <a:latin typeface="Consolas"/>
              </a:rPr>
              <a:t>PASS: 74    FAIL: 8    TOTAL: 83</a:t>
            </a:r>
          </a:p>
        </p:txBody>
      </p:sp>
      <p:sp>
        <p:nvSpPr>
          <p:cNvPr id="7" name="TextBox 6"/>
          <p:cNvSpPr txBox="1"/>
          <p:nvPr/>
        </p:nvSpPr>
        <p:spPr>
          <a:xfrm>
            <a:off x="640080" y="6144768"/>
            <a:ext cx="10972800" cy="502920"/>
          </a:xfrm>
          <a:prstGeom prst="rect">
            <a:avLst/>
          </a:prstGeom>
          <a:noFill/>
        </p:spPr>
        <p:txBody>
          <a:bodyPr wrap="square">
            <a:spAutoFit/>
          </a:bodyPr>
          <a:lstStyle/>
          <a:p>
            <a:r>
              <a:rPr sz="1400" b="0">
                <a:solidFill>
                  <a:srgbClr val="5B6674"/>
                </a:solidFill>
                <a:latin typeface="Arial"/>
              </a:rPr>
              <a:t>New pav subcommands — our own tooling built on Pavilion's plugin API.</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7680960" cy="365760"/>
          </a:xfrm>
          <a:prstGeom prst="rect">
            <a:avLst/>
          </a:prstGeom>
          <a:noFill/>
        </p:spPr>
        <p:txBody>
          <a:bodyPr wrap="square">
            <a:spAutoFit/>
          </a:bodyPr>
          <a:lstStyle/>
          <a:p>
            <a:r>
              <a:rPr sz="1200" b="1">
                <a:solidFill>
                  <a:srgbClr val="2E6DA4"/>
                </a:solidFill>
                <a:latin typeface="Arial"/>
              </a:rPr>
              <a:t>LIVE DEMO · L7 · DISK-USAGE</a:t>
            </a:r>
          </a:p>
        </p:txBody>
      </p:sp>
      <p:sp>
        <p:nvSpPr>
          <p:cNvPr id="3" name="TextBox 2"/>
          <p:cNvSpPr txBox="1"/>
          <p:nvPr/>
        </p:nvSpPr>
        <p:spPr>
          <a:xfrm>
            <a:off x="548640" y="640080"/>
            <a:ext cx="11064240" cy="822960"/>
          </a:xfrm>
          <a:prstGeom prst="rect">
            <a:avLst/>
          </a:prstGeom>
          <a:noFill/>
        </p:spPr>
        <p:txBody>
          <a:bodyPr wrap="square">
            <a:spAutoFit/>
          </a:bodyPr>
          <a:lstStyle/>
          <a:p>
            <a:r>
              <a:rPr sz="3000" b="1">
                <a:solidFill>
                  <a:srgbClr val="1F3B63"/>
                </a:solidFill>
                <a:latin typeface="Arial"/>
              </a:rPr>
              <a:t>Disk usage at a glance</a:t>
            </a:r>
          </a:p>
        </p:txBody>
      </p:sp>
      <p:sp>
        <p:nvSpPr>
          <p:cNvPr id="4" name="Rectangle 3"/>
          <p:cNvSpPr/>
          <p:nvPr/>
        </p:nvSpPr>
        <p:spPr>
          <a:xfrm>
            <a:off x="566928" y="1417320"/>
            <a:ext cx="2011680"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503920" y="457200"/>
            <a:ext cx="3108960" cy="50292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Arial"/>
              </a:rPr>
              <a:t>▶  07-command-plugins.sh</a:t>
            </a:r>
          </a:p>
        </p:txBody>
      </p:sp>
      <p:sp>
        <p:nvSpPr>
          <p:cNvPr id="6" name="Rectangle 5"/>
          <p:cNvSpPr/>
          <p:nvPr/>
        </p:nvSpPr>
        <p:spPr>
          <a:xfrm>
            <a:off x="640080" y="1645920"/>
            <a:ext cx="10972800" cy="4343400"/>
          </a:xfrm>
          <a:prstGeom prst="rect">
            <a:avLst/>
          </a:prstGeom>
          <a:solidFill>
            <a:srgbClr val="F3F4F6"/>
          </a:solidFill>
          <a:ln w="12700">
            <a:solidFill>
              <a:srgbClr val="D5DAE0"/>
            </a:solidFill>
          </a:ln>
        </p:spPr>
        <p:style>
          <a:lnRef idx="1">
            <a:schemeClr val="accent1"/>
          </a:lnRef>
          <a:fillRef idx="3">
            <a:schemeClr val="accent1"/>
          </a:fillRef>
          <a:effectRef idx="2">
            <a:schemeClr val="accent1"/>
          </a:effectRef>
          <a:fontRef idx="minor">
            <a:schemeClr val="lt1"/>
          </a:fontRef>
        </p:style>
        <p:txBody>
          <a:bodyPr rtlCol="0" anchor="t" wrap="square" lIns="228600" tIns="146304"/>
          <a:lstStyle/>
          <a:p>
            <a:pPr algn="l"/>
            <a:r>
              <a:rPr sz="1400" b="1">
                <a:solidFill>
                  <a:srgbClr val="2E6DA4"/>
                </a:solidFill>
                <a:latin typeface="Consolas"/>
              </a:rPr>
              <a:t>$ pav disk-usage        # our command plugin: where the space goes</a:t>
            </a:r>
          </a:p>
          <a:p>
            <a:pPr algn="l"/>
            <a:r>
              <a:rPr sz="1250" b="0">
                <a:solidFill>
                  <a:srgbClr val="1B2B34"/>
                </a:solidFill>
                <a:latin typeface="Consolas"/>
              </a:rPr>
              <a:t>Config Area: main</a:t>
            </a:r>
          </a:p>
          <a:p>
            <a:pPr algn="l"/>
            <a:r>
              <a:rPr sz="1250" b="0">
                <a:solidFill>
                  <a:srgbClr val="1B2B34"/>
                </a:solidFill>
                <a:latin typeface="Consolas"/>
              </a:rPr>
              <a:t>  Working Dir: /home/pavilion/pavilion2/working_dir</a:t>
            </a:r>
          </a:p>
          <a:p>
            <a:pPr algn="l"/>
            <a:r>
              <a:rPr sz="1250" b="0">
                <a:solidFill>
                  <a:srgbClr val="1B2B34"/>
                </a:solidFill>
                <a:latin typeface="Consolas"/>
              </a:rPr>
              <a:t>  Test Runs:     4.42 MB</a:t>
            </a:r>
          </a:p>
          <a:p>
            <a:pPr algn="l"/>
            <a:r>
              <a:rPr sz="1250" b="0">
                <a:solidFill>
                  <a:srgbClr val="1B2B34"/>
                </a:solidFill>
                <a:latin typeface="Consolas"/>
              </a:rPr>
              <a:t>  Builds:       59.77 MB</a:t>
            </a:r>
          </a:p>
          <a:p>
            <a:pPr algn="l"/>
            <a:r>
              <a:rPr sz="1250" b="0">
                <a:solidFill>
                  <a:srgbClr val="1B2B34"/>
                </a:solidFill>
                <a:latin typeface="Consolas"/>
              </a:rPr>
              <a:t> </a:t>
            </a:r>
          </a:p>
          <a:p>
            <a:pPr algn="l"/>
            <a:r>
              <a:rPr sz="1250" b="0">
                <a:solidFill>
                  <a:srgbClr val="1B2B34"/>
                </a:solidFill>
                <a:latin typeface="Consolas"/>
              </a:rPr>
              <a:t>Series:          16.84 MB</a:t>
            </a:r>
          </a:p>
          <a:p>
            <a:pPr algn="l"/>
            <a:r>
              <a:rPr sz="1250" b="0">
                <a:solidFill>
                  <a:srgbClr val="1B2B34"/>
                </a:solidFill>
                <a:latin typeface="Consolas"/>
              </a:rPr>
              <a:t>------------------------------------------------------------</a:t>
            </a:r>
          </a:p>
          <a:p>
            <a:pPr algn="l"/>
            <a:r>
              <a:rPr sz="1250" b="0">
                <a:solidFill>
                  <a:srgbClr val="1B2B34"/>
                </a:solidFill>
                <a:latin typeface="Consolas"/>
              </a:rPr>
              <a:t>TOTAL USAGE:    145.22 MB</a:t>
            </a:r>
          </a:p>
        </p:txBody>
      </p:sp>
      <p:sp>
        <p:nvSpPr>
          <p:cNvPr id="7" name="TextBox 6"/>
          <p:cNvSpPr txBox="1"/>
          <p:nvPr/>
        </p:nvSpPr>
        <p:spPr>
          <a:xfrm>
            <a:off x="640080" y="6144768"/>
            <a:ext cx="10972800" cy="502920"/>
          </a:xfrm>
          <a:prstGeom prst="rect">
            <a:avLst/>
          </a:prstGeom>
          <a:noFill/>
        </p:spPr>
        <p:txBody>
          <a:bodyPr wrap="square">
            <a:spAutoFit/>
          </a:bodyPr>
          <a:lstStyle/>
          <a:p>
            <a:r>
              <a:rPr sz="1400" b="0">
                <a:solidFill>
                  <a:srgbClr val="5B6674"/>
                </a:solidFill>
                <a:latin typeface="Arial"/>
              </a:rPr>
              <a:t>Another command plugin — a quick accounting of what test runs, builds, and series consume.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7680960" cy="365760"/>
          </a:xfrm>
          <a:prstGeom prst="rect">
            <a:avLst/>
          </a:prstGeom>
          <a:noFill/>
        </p:spPr>
        <p:txBody>
          <a:bodyPr wrap="square">
            <a:spAutoFit/>
          </a:bodyPr>
          <a:lstStyle/>
          <a:p>
            <a:r>
              <a:rPr sz="1200" b="1">
                <a:solidFill>
                  <a:srgbClr val="2E6DA4"/>
                </a:solidFill>
                <a:latin typeface="Arial"/>
              </a:rPr>
              <a:t>CUSTOM OUTPUT</a:t>
            </a:r>
          </a:p>
        </p:txBody>
      </p:sp>
      <p:sp>
        <p:nvSpPr>
          <p:cNvPr id="3" name="TextBox 2"/>
          <p:cNvSpPr txBox="1"/>
          <p:nvPr/>
        </p:nvSpPr>
        <p:spPr>
          <a:xfrm>
            <a:off x="548640" y="640080"/>
            <a:ext cx="11064240" cy="822960"/>
          </a:xfrm>
          <a:prstGeom prst="rect">
            <a:avLst/>
          </a:prstGeom>
          <a:noFill/>
        </p:spPr>
        <p:txBody>
          <a:bodyPr wrap="square">
            <a:spAutoFit/>
          </a:bodyPr>
          <a:lstStyle/>
          <a:p>
            <a:r>
              <a:rPr sz="3000" b="1">
                <a:solidFill>
                  <a:srgbClr val="1F3B63"/>
                </a:solidFill>
                <a:latin typeface="Arial"/>
              </a:rPr>
              <a:t>Result loggers (ours)</a:t>
            </a:r>
          </a:p>
        </p:txBody>
      </p:sp>
      <p:sp>
        <p:nvSpPr>
          <p:cNvPr id="4" name="Rectangle 3"/>
          <p:cNvSpPr/>
          <p:nvPr/>
        </p:nvSpPr>
        <p:spPr>
          <a:xfrm>
            <a:off x="566928" y="1417320"/>
            <a:ext cx="2011680"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91640"/>
            <a:ext cx="10972800" cy="4754880"/>
          </a:xfrm>
          <a:prstGeom prst="rect">
            <a:avLst/>
          </a:prstGeom>
          <a:noFill/>
        </p:spPr>
        <p:txBody>
          <a:bodyPr wrap="square">
            <a:spAutoFit/>
          </a:bodyPr>
          <a:lstStyle/>
          <a:p>
            <a:pPr>
              <a:spcAft>
                <a:spcPts val="1000"/>
              </a:spcAft>
            </a:pPr>
            <a:r>
              <a:rPr sz="2000" b="0">
                <a:solidFill>
                  <a:srgbClr val="21252B"/>
                </a:solidFill>
                <a:latin typeface="Arial"/>
              </a:rPr>
              <a:t>•  csv_file — appends one CSV row per test (result, duration, metrics, permute vars).</a:t>
            </a:r>
          </a:p>
          <a:p>
            <a:pPr>
              <a:spcAft>
                <a:spcPts val="1000"/>
              </a:spcAft>
            </a:pPr>
            <a:r>
              <a:rPr sz="2000" b="0">
                <a:solidFill>
                  <a:srgbClr val="21252B"/>
                </a:solidFill>
                <a:latin typeface="Arial"/>
              </a:rPr>
              <a:t>•  saLog — a custom NASA/NOAA logger; writes a CSV row on result 'released'.</a:t>
            </a:r>
          </a:p>
          <a:p>
            <a:pPr>
              <a:spcAft>
                <a:spcPts val="1000"/>
              </a:spcAft>
            </a:pPr>
            <a:r>
              <a:rPr sz="2000" b="0">
                <a:solidFill>
                  <a:srgbClr val="21252B"/>
                </a:solidFill>
                <a:latin typeface="Arial"/>
              </a:rPr>
              <a:t>•  opensearch — ships each result document into the `pavilion-results` index.</a:t>
            </a:r>
          </a:p>
          <a:p>
            <a:pPr>
              <a:spcAft>
                <a:spcPts val="1000"/>
              </a:spcAft>
            </a:pPr>
            <a:r>
              <a:rPr sz="2000" b="0">
                <a:solidFill>
                  <a:srgbClr val="21252B"/>
                </a:solidFill>
                <a:latin typeface="Arial"/>
              </a:rPr>
              <a:t>•  Configured once in pavilion.yaml → every test result flows through them.</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7680960" cy="365760"/>
          </a:xfrm>
          <a:prstGeom prst="rect">
            <a:avLst/>
          </a:prstGeom>
          <a:noFill/>
        </p:spPr>
        <p:txBody>
          <a:bodyPr wrap="square">
            <a:spAutoFit/>
          </a:bodyPr>
          <a:lstStyle/>
          <a:p>
            <a:r>
              <a:rPr sz="1200" b="1">
                <a:solidFill>
                  <a:srgbClr val="2E6DA4"/>
                </a:solidFill>
                <a:latin typeface="Arial"/>
              </a:rPr>
              <a:t>LIVE DEMO · L8</a:t>
            </a:r>
          </a:p>
        </p:txBody>
      </p:sp>
      <p:sp>
        <p:nvSpPr>
          <p:cNvPr id="3" name="TextBox 2"/>
          <p:cNvSpPr txBox="1"/>
          <p:nvPr/>
        </p:nvSpPr>
        <p:spPr>
          <a:xfrm>
            <a:off x="548640" y="640080"/>
            <a:ext cx="11064240" cy="822960"/>
          </a:xfrm>
          <a:prstGeom prst="rect">
            <a:avLst/>
          </a:prstGeom>
          <a:noFill/>
        </p:spPr>
        <p:txBody>
          <a:bodyPr wrap="square">
            <a:spAutoFit/>
          </a:bodyPr>
          <a:lstStyle/>
          <a:p>
            <a:r>
              <a:rPr sz="3000" b="1">
                <a:solidFill>
                  <a:srgbClr val="1F3B63"/>
                </a:solidFill>
                <a:latin typeface="Arial"/>
              </a:rPr>
              <a:t>Output plugin: CSV</a:t>
            </a:r>
          </a:p>
        </p:txBody>
      </p:sp>
      <p:sp>
        <p:nvSpPr>
          <p:cNvPr id="4" name="Rectangle 3"/>
          <p:cNvSpPr/>
          <p:nvPr/>
        </p:nvSpPr>
        <p:spPr>
          <a:xfrm>
            <a:off x="566928" y="1417320"/>
            <a:ext cx="2011680"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503920" y="457200"/>
            <a:ext cx="3108960" cy="50292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Arial"/>
              </a:rPr>
              <a:t>▶  08-output-csv.sh</a:t>
            </a:r>
          </a:p>
        </p:txBody>
      </p:sp>
      <p:sp>
        <p:nvSpPr>
          <p:cNvPr id="6" name="Rectangle 5"/>
          <p:cNvSpPr/>
          <p:nvPr/>
        </p:nvSpPr>
        <p:spPr>
          <a:xfrm>
            <a:off x="640080" y="1645920"/>
            <a:ext cx="10972800" cy="4343400"/>
          </a:xfrm>
          <a:prstGeom prst="rect">
            <a:avLst/>
          </a:prstGeom>
          <a:solidFill>
            <a:srgbClr val="F3F4F6"/>
          </a:solidFill>
          <a:ln w="12700">
            <a:solidFill>
              <a:srgbClr val="D5DAE0"/>
            </a:solidFill>
          </a:ln>
        </p:spPr>
        <p:style>
          <a:lnRef idx="1">
            <a:schemeClr val="accent1"/>
          </a:lnRef>
          <a:fillRef idx="3">
            <a:schemeClr val="accent1"/>
          </a:fillRef>
          <a:effectRef idx="2">
            <a:schemeClr val="accent1"/>
          </a:effectRef>
          <a:fontRef idx="minor">
            <a:schemeClr val="lt1"/>
          </a:fontRef>
        </p:style>
        <p:txBody>
          <a:bodyPr rtlCol="0" anchor="t" wrap="square" lIns="228600" tIns="146304"/>
          <a:lstStyle/>
          <a:p>
            <a:pPr algn="l"/>
            <a:r>
              <a:rPr sz="1400" b="1">
                <a:solidFill>
                  <a:srgbClr val="2E6DA4"/>
                </a:solidFill>
                <a:latin typeface="Consolas"/>
              </a:rPr>
              <a:t>$ pav run demo_pbs.pass demo_pbs.metrics      # real PBS jobs</a:t>
            </a:r>
          </a:p>
          <a:p>
            <a:pPr algn="l"/>
            <a:r>
              <a:rPr sz="1150" b="0">
                <a:solidFill>
                  <a:srgbClr val="1B2B34"/>
                </a:solidFill>
                <a:latin typeface="Consolas"/>
              </a:rPr>
              <a:t>sid: s74</a:t>
            </a:r>
          </a:p>
          <a:p>
            <a:pPr algn="l"/>
            <a:r>
              <a:rPr sz="1150" b="0">
                <a:solidFill>
                  <a:srgbClr val="1B2B34"/>
                </a:solidFill>
                <a:latin typeface="Consolas"/>
              </a:rPr>
              <a:t>tests: 2</a:t>
            </a:r>
          </a:p>
          <a:p>
            <a:pPr algn="l"/>
            <a:r>
              <a:rPr sz="1150" b="0">
                <a:solidFill>
                  <a:srgbClr val="1B2B34"/>
                </a:solidFill>
                <a:latin typeface="Consolas"/>
              </a:rPr>
              <a:t> </a:t>
            </a:r>
          </a:p>
          <a:p>
            <a:pPr algn="l"/>
            <a:r>
              <a:rPr sz="1400" b="1">
                <a:solidFill>
                  <a:srgbClr val="2E6DA4"/>
                </a:solidFill>
                <a:latin typeface="Consolas"/>
              </a:rPr>
              <a:t>$ qstat -a                                    # yes — it went through the scheduler</a:t>
            </a:r>
          </a:p>
          <a:p>
            <a:pPr algn="l"/>
            <a:r>
              <a:rPr sz="1150" b="0">
                <a:solidFill>
                  <a:srgbClr val="1B2B34"/>
                </a:solidFill>
                <a:latin typeface="Consolas"/>
              </a:rPr>
              <a:t>8387.pbs-server  pavilion  workq  pav_demo_*  1  1  R</a:t>
            </a:r>
          </a:p>
          <a:p>
            <a:pPr algn="l"/>
            <a:r>
              <a:rPr sz="1150" b="0">
                <a:solidFill>
                  <a:srgbClr val="1B2B34"/>
                </a:solidFill>
                <a:latin typeface="Consolas"/>
              </a:rPr>
              <a:t> </a:t>
            </a:r>
          </a:p>
          <a:p>
            <a:pPr algn="l"/>
            <a:r>
              <a:rPr sz="1400" b="1">
                <a:solidFill>
                  <a:srgbClr val="2E6DA4"/>
                </a:solidFill>
                <a:latin typeface="Consolas"/>
              </a:rPr>
              <a:t>$ tail ~/pav_logs/results.csv                 # csv_file logger: one row per test</a:t>
            </a:r>
          </a:p>
          <a:p>
            <a:pPr algn="l"/>
            <a:r>
              <a:rPr sz="1150" b="0">
                <a:solidFill>
                  <a:srgbClr val="1B2B34"/>
                </a:solidFill>
                <a:latin typeface="Consolas"/>
              </a:rPr>
              <a:t>name,id,result,sys_name,user, ... ,duration</a:t>
            </a:r>
          </a:p>
          <a:p>
            <a:pPr algn="l"/>
            <a:r>
              <a:rPr sz="1150" b="0">
                <a:solidFill>
                  <a:srgbClr val="1E7D3C"/>
                </a:solidFill>
                <a:latin typeface="Consolas"/>
              </a:rPr>
              <a:t>demo_pbs.pass,s74.1,PASS,pbs-server,pavilion, ... ,0.043</a:t>
            </a:r>
          </a:p>
          <a:p>
            <a:pPr algn="l"/>
            <a:r>
              <a:rPr sz="1150" b="0">
                <a:solidFill>
                  <a:srgbClr val="1E7D3C"/>
                </a:solidFill>
                <a:latin typeface="Consolas"/>
              </a:rPr>
              <a:t>demo_pbs.metrics,s74.2,PASS,pbs-server,pavilion, ... ,0.040</a:t>
            </a:r>
          </a:p>
        </p:txBody>
      </p:sp>
      <p:sp>
        <p:nvSpPr>
          <p:cNvPr id="7" name="TextBox 6"/>
          <p:cNvSpPr txBox="1"/>
          <p:nvPr/>
        </p:nvSpPr>
        <p:spPr>
          <a:xfrm>
            <a:off x="640080" y="6144768"/>
            <a:ext cx="10972800" cy="502920"/>
          </a:xfrm>
          <a:prstGeom prst="rect">
            <a:avLst/>
          </a:prstGeom>
          <a:noFill/>
        </p:spPr>
        <p:txBody>
          <a:bodyPr wrap="square">
            <a:spAutoFit/>
          </a:bodyPr>
          <a:lstStyle/>
          <a:p>
            <a:r>
              <a:rPr sz="1400" b="0">
                <a:solidFill>
                  <a:srgbClr val="5B6674"/>
                </a:solidFill>
                <a:latin typeface="Arial"/>
              </a:rPr>
              <a:t>A real PBS job (qstat proves dispatch), then the csv_file logger writes one row per test.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7680960" cy="365760"/>
          </a:xfrm>
          <a:prstGeom prst="rect">
            <a:avLst/>
          </a:prstGeom>
          <a:noFill/>
        </p:spPr>
        <p:txBody>
          <a:bodyPr wrap="square">
            <a:spAutoFit/>
          </a:bodyPr>
          <a:lstStyle/>
          <a:p>
            <a:r>
              <a:rPr sz="1200" b="1">
                <a:solidFill>
                  <a:srgbClr val="2E6DA4"/>
                </a:solidFill>
                <a:latin typeface="Arial"/>
              </a:rPr>
              <a:t>LIVE DEMO · SALOG</a:t>
            </a:r>
          </a:p>
        </p:txBody>
      </p:sp>
      <p:sp>
        <p:nvSpPr>
          <p:cNvPr id="3" name="TextBox 2"/>
          <p:cNvSpPr txBox="1"/>
          <p:nvPr/>
        </p:nvSpPr>
        <p:spPr>
          <a:xfrm>
            <a:off x="548640" y="640080"/>
            <a:ext cx="11064240" cy="822960"/>
          </a:xfrm>
          <a:prstGeom prst="rect">
            <a:avLst/>
          </a:prstGeom>
          <a:noFill/>
        </p:spPr>
        <p:txBody>
          <a:bodyPr wrap="square">
            <a:spAutoFit/>
          </a:bodyPr>
          <a:lstStyle/>
          <a:p>
            <a:r>
              <a:rPr sz="3000" b="1">
                <a:solidFill>
                  <a:srgbClr val="1F3B63"/>
                </a:solidFill>
                <a:latin typeface="Arial"/>
              </a:rPr>
              <a:t>Output plugin: saLog</a:t>
            </a:r>
          </a:p>
        </p:txBody>
      </p:sp>
      <p:sp>
        <p:nvSpPr>
          <p:cNvPr id="4" name="Rectangle 3"/>
          <p:cNvSpPr/>
          <p:nvPr/>
        </p:nvSpPr>
        <p:spPr>
          <a:xfrm>
            <a:off x="566928" y="1417320"/>
            <a:ext cx="2011680"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503920" y="457200"/>
            <a:ext cx="3108960" cy="50292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Arial"/>
              </a:rPr>
              <a:t>▶  12-salog.sh</a:t>
            </a:r>
          </a:p>
        </p:txBody>
      </p:sp>
      <p:sp>
        <p:nvSpPr>
          <p:cNvPr id="6" name="Rectangle 5"/>
          <p:cNvSpPr/>
          <p:nvPr/>
        </p:nvSpPr>
        <p:spPr>
          <a:xfrm>
            <a:off x="640080" y="1645920"/>
            <a:ext cx="10972800" cy="4343400"/>
          </a:xfrm>
          <a:prstGeom prst="rect">
            <a:avLst/>
          </a:prstGeom>
          <a:solidFill>
            <a:srgbClr val="F3F4F6"/>
          </a:solidFill>
          <a:ln w="12700">
            <a:solidFill>
              <a:srgbClr val="D5DAE0"/>
            </a:solidFill>
          </a:ln>
        </p:spPr>
        <p:style>
          <a:lnRef idx="1">
            <a:schemeClr val="accent1"/>
          </a:lnRef>
          <a:fillRef idx="3">
            <a:schemeClr val="accent1"/>
          </a:fillRef>
          <a:effectRef idx="2">
            <a:schemeClr val="accent1"/>
          </a:effectRef>
          <a:fontRef idx="minor">
            <a:schemeClr val="lt1"/>
          </a:fontRef>
        </p:style>
        <p:txBody>
          <a:bodyPr rtlCol="0" anchor="t" wrap="square" lIns="228600" tIns="146304"/>
          <a:lstStyle/>
          <a:p>
            <a:pPr algn="l"/>
            <a:r>
              <a:rPr sz="1400" b="1">
                <a:solidFill>
                  <a:srgbClr val="2E6DA4"/>
                </a:solidFill>
                <a:latin typeface="Consolas"/>
              </a:rPr>
              <a:t>$ pav run demo_pbs.pass demo_pbs.fail    # 1. run in Pavilion</a:t>
            </a:r>
          </a:p>
          <a:p>
            <a:pPr algn="l"/>
            <a:r>
              <a:rPr sz="1250" b="0">
                <a:solidFill>
                  <a:srgbClr val="1B2B34"/>
                </a:solidFill>
                <a:latin typeface="Consolas"/>
              </a:rPr>
              <a:t>sid: s70</a:t>
            </a:r>
          </a:p>
          <a:p>
            <a:pPr algn="l"/>
            <a:r>
              <a:rPr sz="1250" b="0">
                <a:solidFill>
                  <a:srgbClr val="1B2B34"/>
                </a:solidFill>
                <a:latin typeface="Consolas"/>
              </a:rPr>
              <a:t>tests: 2</a:t>
            </a:r>
          </a:p>
          <a:p>
            <a:pPr algn="l"/>
            <a:r>
              <a:rPr sz="1250" b="0">
                <a:solidFill>
                  <a:srgbClr val="1B2B34"/>
                </a:solidFill>
                <a:latin typeface="Consolas"/>
              </a:rPr>
              <a:t> </a:t>
            </a:r>
          </a:p>
          <a:p>
            <a:pPr algn="l"/>
            <a:r>
              <a:rPr sz="1400" b="1">
                <a:solidFill>
                  <a:srgbClr val="2E6DA4"/>
                </a:solidFill>
                <a:latin typeface="Consolas"/>
              </a:rPr>
              <a:t>$ qstat -a                               # 2. the jobs, running in PBS</a:t>
            </a:r>
          </a:p>
          <a:p>
            <a:pPr algn="l"/>
            <a:r>
              <a:rPr sz="1250" b="0">
                <a:solidFill>
                  <a:srgbClr val="1B2B34"/>
                </a:solidFill>
                <a:latin typeface="Consolas"/>
              </a:rPr>
              <a:t>8383.pbs-server pavilion workq pav_demo_*  1  1  R</a:t>
            </a:r>
          </a:p>
          <a:p>
            <a:pPr algn="l"/>
            <a:r>
              <a:rPr sz="1250" b="0">
                <a:solidFill>
                  <a:srgbClr val="1B2B34"/>
                </a:solidFill>
                <a:latin typeface="Consolas"/>
              </a:rPr>
              <a:t> </a:t>
            </a:r>
          </a:p>
          <a:p>
            <a:pPr algn="l"/>
            <a:r>
              <a:rPr sz="1400" b="1">
                <a:solidFill>
                  <a:srgbClr val="2E6DA4"/>
                </a:solidFill>
                <a:latin typeface="Consolas"/>
              </a:rPr>
              <a:t>$ tail salog_output.txt                  # 3. the CSV saLog wrote on release</a:t>
            </a:r>
          </a:p>
          <a:p>
            <a:pPr algn="l"/>
            <a:r>
              <a:rPr sz="1250" b="0">
                <a:solidFill>
                  <a:srgbClr val="1E7D3C"/>
                </a:solidFill>
                <a:latin typeface="Consolas"/>
              </a:rPr>
              <a:t>x1003c7s7b0n3,"pav_test result=PASS",pavilion,released</a:t>
            </a:r>
          </a:p>
          <a:p>
            <a:pPr algn="l"/>
            <a:r>
              <a:rPr sz="1250" b="0">
                <a:solidFill>
                  <a:srgbClr val="B32A2A"/>
                </a:solidFill>
                <a:latin typeface="Consolas"/>
              </a:rPr>
              <a:t>x1003c7s7b0n1,x1003c7s7b0n2,x1003c7s7b0n3,"pav_test result=FAIL",pavilion,released</a:t>
            </a:r>
          </a:p>
        </p:txBody>
      </p:sp>
      <p:sp>
        <p:nvSpPr>
          <p:cNvPr id="7" name="TextBox 6"/>
          <p:cNvSpPr txBox="1"/>
          <p:nvPr/>
        </p:nvSpPr>
        <p:spPr>
          <a:xfrm>
            <a:off x="640080" y="6144768"/>
            <a:ext cx="10972800" cy="502920"/>
          </a:xfrm>
          <a:prstGeom prst="rect">
            <a:avLst/>
          </a:prstGeom>
          <a:noFill/>
        </p:spPr>
        <p:txBody>
          <a:bodyPr wrap="square">
            <a:spAutoFit/>
          </a:bodyPr>
          <a:lstStyle/>
          <a:p>
            <a:r>
              <a:rPr sz="1400" b="0">
                <a:solidFill>
                  <a:srgbClr val="5B6674"/>
                </a:solidFill>
                <a:latin typeface="Arial"/>
              </a:rPr>
              <a:t>Run in Pavilion → jobs in PBS → saLog writes a CSV row as each node is released.</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7680960" cy="365760"/>
          </a:xfrm>
          <a:prstGeom prst="rect">
            <a:avLst/>
          </a:prstGeom>
          <a:noFill/>
        </p:spPr>
        <p:txBody>
          <a:bodyPr wrap="square">
            <a:spAutoFit/>
          </a:bodyPr>
          <a:lstStyle/>
          <a:p>
            <a:r>
              <a:rPr sz="1200" b="1">
                <a:solidFill>
                  <a:srgbClr val="2E6DA4"/>
                </a:solidFill>
                <a:latin typeface="Arial"/>
              </a:rPr>
              <a:t>LIVE DEMO · L9</a:t>
            </a:r>
          </a:p>
        </p:txBody>
      </p:sp>
      <p:sp>
        <p:nvSpPr>
          <p:cNvPr id="3" name="TextBox 2"/>
          <p:cNvSpPr txBox="1"/>
          <p:nvPr/>
        </p:nvSpPr>
        <p:spPr>
          <a:xfrm>
            <a:off x="548640" y="640080"/>
            <a:ext cx="11064240" cy="822960"/>
          </a:xfrm>
          <a:prstGeom prst="rect">
            <a:avLst/>
          </a:prstGeom>
          <a:noFill/>
        </p:spPr>
        <p:txBody>
          <a:bodyPr wrap="square">
            <a:spAutoFit/>
          </a:bodyPr>
          <a:lstStyle/>
          <a:p>
            <a:r>
              <a:rPr sz="3000" b="1">
                <a:solidFill>
                  <a:srgbClr val="1F3B63"/>
                </a:solidFill>
                <a:latin typeface="Arial"/>
              </a:rPr>
              <a:t>Output plugin: OpenSearch → Grafana</a:t>
            </a:r>
          </a:p>
        </p:txBody>
      </p:sp>
      <p:sp>
        <p:nvSpPr>
          <p:cNvPr id="4" name="Rectangle 3"/>
          <p:cNvSpPr/>
          <p:nvPr/>
        </p:nvSpPr>
        <p:spPr>
          <a:xfrm>
            <a:off x="566928" y="1417320"/>
            <a:ext cx="2011680"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503920" y="457200"/>
            <a:ext cx="3108960" cy="50292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Arial"/>
              </a:rPr>
              <a:t>▶  09-opensearch.sh</a:t>
            </a:r>
          </a:p>
        </p:txBody>
      </p:sp>
      <p:sp>
        <p:nvSpPr>
          <p:cNvPr id="6" name="Rectangle 5"/>
          <p:cNvSpPr/>
          <p:nvPr/>
        </p:nvSpPr>
        <p:spPr>
          <a:xfrm>
            <a:off x="640080" y="1645920"/>
            <a:ext cx="10972800" cy="4343400"/>
          </a:xfrm>
          <a:prstGeom prst="rect">
            <a:avLst/>
          </a:prstGeom>
          <a:solidFill>
            <a:srgbClr val="F3F4F6"/>
          </a:solidFill>
          <a:ln w="12700">
            <a:solidFill>
              <a:srgbClr val="D5DAE0"/>
            </a:solidFill>
          </a:ln>
        </p:spPr>
        <p:style>
          <a:lnRef idx="1">
            <a:schemeClr val="accent1"/>
          </a:lnRef>
          <a:fillRef idx="3">
            <a:schemeClr val="accent1"/>
          </a:fillRef>
          <a:effectRef idx="2">
            <a:schemeClr val="accent1"/>
          </a:effectRef>
          <a:fontRef idx="minor">
            <a:schemeClr val="lt1"/>
          </a:fontRef>
        </p:style>
        <p:txBody>
          <a:bodyPr rtlCol="0" anchor="t" wrap="square" lIns="228600" tIns="146304"/>
          <a:lstStyle/>
          <a:p>
            <a:pPr algn="l"/>
            <a:r>
              <a:rPr sz="1400" b="1">
                <a:solidFill>
                  <a:srgbClr val="2E6DA4"/>
                </a:solidFill>
                <a:latin typeface="Consolas"/>
              </a:rPr>
              <a:t>$ pav run -m pbs opensearch_verify        # 4 tests via PBS; each result → OpenSearch</a:t>
            </a:r>
          </a:p>
          <a:p>
            <a:pPr algn="l"/>
            <a:r>
              <a:rPr sz="1250" b="0">
                <a:solidFill>
                  <a:srgbClr val="1B2B34"/>
                </a:solidFill>
                <a:latin typeface="Consolas"/>
              </a:rPr>
              <a:t>created 4 tests, skipped 0, 0 errors.</a:t>
            </a:r>
          </a:p>
          <a:p>
            <a:pPr algn="l"/>
            <a:r>
              <a:rPr sz="1250" b="0">
                <a:solidFill>
                  <a:srgbClr val="1B2B34"/>
                </a:solidFill>
                <a:latin typeface="Consolas"/>
              </a:rPr>
              <a:t>sid: s75</a:t>
            </a:r>
          </a:p>
          <a:p>
            <a:pPr algn="l"/>
            <a:r>
              <a:rPr sz="1250" b="0">
                <a:solidFill>
                  <a:srgbClr val="1B2B34"/>
                </a:solidFill>
                <a:latin typeface="Consolas"/>
              </a:rPr>
              <a:t> </a:t>
            </a:r>
          </a:p>
          <a:p>
            <a:pPr algn="l"/>
            <a:r>
              <a:rPr sz="1400" b="1">
                <a:solidFill>
                  <a:srgbClr val="2E6DA4"/>
                </a:solidFill>
                <a:latin typeface="Consolas"/>
              </a:rPr>
              <a:t>$ qstat -a                                # through the scheduler</a:t>
            </a:r>
          </a:p>
          <a:p>
            <a:pPr algn="l"/>
            <a:r>
              <a:rPr sz="1250" b="0">
                <a:solidFill>
                  <a:srgbClr val="1B2B34"/>
                </a:solidFill>
                <a:latin typeface="Consolas"/>
              </a:rPr>
              <a:t>8389.pbs-server pavilion workq pav_opens*  1  1  R</a:t>
            </a:r>
          </a:p>
          <a:p>
            <a:pPr algn="l"/>
            <a:r>
              <a:rPr sz="1250" b="0">
                <a:solidFill>
                  <a:srgbClr val="1B2B34"/>
                </a:solidFill>
                <a:latin typeface="Consolas"/>
              </a:rPr>
              <a:t> </a:t>
            </a:r>
          </a:p>
          <a:p>
            <a:pPr algn="l"/>
            <a:r>
              <a:rPr sz="1400" b="1">
                <a:solidFill>
                  <a:srgbClr val="2E6DA4"/>
                </a:solidFill>
                <a:latin typeface="Consolas"/>
              </a:rPr>
              <a:t>$ python3 ~/opensearch_results.py --name opensearch_verify</a:t>
            </a:r>
          </a:p>
          <a:p>
            <a:pPr algn="l"/>
            <a:r>
              <a:rPr sz="1250" b="0">
                <a:solidFill>
                  <a:srgbClr val="1B2B34"/>
                </a:solidFill>
                <a:latin typeface="Consolas"/>
              </a:rPr>
              <a:t>pav_id   name                                          result</a:t>
            </a:r>
          </a:p>
          <a:p>
            <a:pPr algn="l"/>
            <a:r>
              <a:rPr sz="1250" b="0">
                <a:solidFill>
                  <a:srgbClr val="1E7D3C"/>
                </a:solidFill>
                <a:latin typeface="Consolas"/>
              </a:rPr>
              <a:t>s75.1    opensearch_verify.os_pass                     PASS</a:t>
            </a:r>
          </a:p>
          <a:p>
            <a:pPr algn="l"/>
            <a:r>
              <a:rPr sz="1250" b="0">
                <a:solidFill>
                  <a:srgbClr val="B32A2A"/>
                </a:solidFill>
                <a:latin typeface="Consolas"/>
              </a:rPr>
              <a:t>s75.2    opensearch_verify.os_fail                     FAIL</a:t>
            </a:r>
          </a:p>
          <a:p>
            <a:pPr algn="l"/>
            <a:r>
              <a:rPr sz="1250" b="0">
                <a:solidFill>
                  <a:srgbClr val="1E7D3C"/>
                </a:solidFill>
                <a:latin typeface="Consolas"/>
              </a:rPr>
              <a:t>s75.3    opensearch_verify.os_with_metrics             PASS</a:t>
            </a:r>
          </a:p>
          <a:p>
            <a:pPr algn="l"/>
            <a:r>
              <a:rPr sz="1250" b="0">
                <a:solidFill>
                  <a:srgbClr val="1E7D3C"/>
                </a:solidFill>
                <a:latin typeface="Consolas"/>
              </a:rPr>
              <a:t>s75.4    opensearch_verify.os_version_tag.v1.0-verify  PASS</a:t>
            </a:r>
          </a:p>
        </p:txBody>
      </p:sp>
      <p:sp>
        <p:nvSpPr>
          <p:cNvPr id="7" name="TextBox 6"/>
          <p:cNvSpPr txBox="1"/>
          <p:nvPr/>
        </p:nvSpPr>
        <p:spPr>
          <a:xfrm>
            <a:off x="640080" y="6144768"/>
            <a:ext cx="10972800" cy="502920"/>
          </a:xfrm>
          <a:prstGeom prst="rect">
            <a:avLst/>
          </a:prstGeom>
          <a:noFill/>
        </p:spPr>
        <p:txBody>
          <a:bodyPr wrap="square">
            <a:spAutoFit/>
          </a:bodyPr>
          <a:lstStyle/>
          <a:p>
            <a:r>
              <a:rPr sz="1400" b="0">
                <a:solidFill>
                  <a:srgbClr val="5B6674"/>
                </a:solidFill>
                <a:latin typeface="Arial"/>
              </a:rPr>
              <a:t>Shipped to OpenSearch, read back from the index — then on to Grafana dashboards.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7680960" cy="365760"/>
          </a:xfrm>
          <a:prstGeom prst="rect">
            <a:avLst/>
          </a:prstGeom>
          <a:noFill/>
        </p:spPr>
        <p:txBody>
          <a:bodyPr wrap="square">
            <a:spAutoFit/>
          </a:bodyPr>
          <a:lstStyle/>
          <a:p>
            <a:r>
              <a:rPr sz="1200" b="1">
                <a:solidFill>
                  <a:srgbClr val="2E6DA4"/>
                </a:solidFill>
                <a:latin typeface="Arial"/>
              </a:rPr>
              <a:t>LIVE DEMO · L10</a:t>
            </a:r>
          </a:p>
        </p:txBody>
      </p:sp>
      <p:sp>
        <p:nvSpPr>
          <p:cNvPr id="3" name="TextBox 2"/>
          <p:cNvSpPr txBox="1"/>
          <p:nvPr/>
        </p:nvSpPr>
        <p:spPr>
          <a:xfrm>
            <a:off x="548640" y="640080"/>
            <a:ext cx="11064240" cy="822960"/>
          </a:xfrm>
          <a:prstGeom prst="rect">
            <a:avLst/>
          </a:prstGeom>
          <a:noFill/>
        </p:spPr>
        <p:txBody>
          <a:bodyPr wrap="square">
            <a:spAutoFit/>
          </a:bodyPr>
          <a:lstStyle/>
          <a:p>
            <a:r>
              <a:rPr sz="3000" b="1">
                <a:solidFill>
                  <a:srgbClr val="1F3B63"/>
                </a:solidFill>
                <a:latin typeface="Arial"/>
              </a:rPr>
              <a:t>Output plugin: MySQL</a:t>
            </a:r>
          </a:p>
        </p:txBody>
      </p:sp>
      <p:sp>
        <p:nvSpPr>
          <p:cNvPr id="4" name="Rectangle 3"/>
          <p:cNvSpPr/>
          <p:nvPr/>
        </p:nvSpPr>
        <p:spPr>
          <a:xfrm>
            <a:off x="566928" y="1417320"/>
            <a:ext cx="2011680"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503920" y="457200"/>
            <a:ext cx="3108960" cy="50292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Arial"/>
              </a:rPr>
              <a:t>▶  10-mysql.sh</a:t>
            </a:r>
          </a:p>
        </p:txBody>
      </p:sp>
      <p:sp>
        <p:nvSpPr>
          <p:cNvPr id="6" name="Rectangle 5"/>
          <p:cNvSpPr/>
          <p:nvPr/>
        </p:nvSpPr>
        <p:spPr>
          <a:xfrm>
            <a:off x="640080" y="1645920"/>
            <a:ext cx="10972800" cy="4343400"/>
          </a:xfrm>
          <a:prstGeom prst="rect">
            <a:avLst/>
          </a:prstGeom>
          <a:solidFill>
            <a:srgbClr val="F3F4F6"/>
          </a:solidFill>
          <a:ln w="12700">
            <a:solidFill>
              <a:srgbClr val="D5DAE0"/>
            </a:solidFill>
          </a:ln>
        </p:spPr>
        <p:style>
          <a:lnRef idx="1">
            <a:schemeClr val="accent1"/>
          </a:lnRef>
          <a:fillRef idx="3">
            <a:schemeClr val="accent1"/>
          </a:fillRef>
          <a:effectRef idx="2">
            <a:schemeClr val="accent1"/>
          </a:effectRef>
          <a:fontRef idx="minor">
            <a:schemeClr val="lt1"/>
          </a:fontRef>
        </p:style>
        <p:txBody>
          <a:bodyPr rtlCol="0" anchor="t" wrap="square" lIns="228600" tIns="146304"/>
          <a:lstStyle/>
          <a:p>
            <a:pPr algn="l"/>
            <a:r>
              <a:rPr sz="1400" b="1">
                <a:solidFill>
                  <a:srgbClr val="2E6DA4"/>
                </a:solidFill>
                <a:latin typeface="Consolas"/>
              </a:rPr>
              <a:t>$ pav run demo_pbs.metrics          # every logger fires, incl. mysql</a:t>
            </a:r>
          </a:p>
          <a:p>
            <a:pPr algn="l"/>
            <a:r>
              <a:rPr sz="1250" b="0">
                <a:solidFill>
                  <a:srgbClr val="1B2B34"/>
                </a:solidFill>
                <a:latin typeface="Consolas"/>
              </a:rPr>
              <a:t>sid: s71</a:t>
            </a:r>
          </a:p>
          <a:p>
            <a:pPr algn="l"/>
            <a:r>
              <a:rPr sz="1250" b="0">
                <a:solidFill>
                  <a:srgbClr val="1B2B34"/>
                </a:solidFill>
                <a:latin typeface="Consolas"/>
              </a:rPr>
              <a:t>tests: 1</a:t>
            </a:r>
          </a:p>
          <a:p>
            <a:pPr algn="l"/>
            <a:r>
              <a:rPr sz="1250" b="0">
                <a:solidFill>
                  <a:srgbClr val="1B2B34"/>
                </a:solidFill>
                <a:latin typeface="Consolas"/>
              </a:rPr>
              <a:t> </a:t>
            </a:r>
          </a:p>
          <a:p>
            <a:pPr algn="l"/>
            <a:r>
              <a:rPr sz="1400" b="1">
                <a:solidFill>
                  <a:srgbClr val="2E6DA4"/>
                </a:solidFill>
                <a:latin typeface="Consolas"/>
              </a:rPr>
              <a:t>$ qstat -a                          # a real PBS job</a:t>
            </a:r>
          </a:p>
          <a:p>
            <a:pPr algn="l"/>
            <a:r>
              <a:rPr sz="1250" b="0">
                <a:solidFill>
                  <a:srgbClr val="1B2B34"/>
                </a:solidFill>
                <a:latin typeface="Consolas"/>
              </a:rPr>
              <a:t>8384.pbs-server pavilion workq pav_demo_*  1  1  R</a:t>
            </a:r>
          </a:p>
          <a:p>
            <a:pPr algn="l"/>
            <a:r>
              <a:rPr sz="1250" b="0">
                <a:solidFill>
                  <a:srgbClr val="1B2B34"/>
                </a:solidFill>
                <a:latin typeface="Consolas"/>
              </a:rPr>
              <a:t> </a:t>
            </a:r>
          </a:p>
          <a:p>
            <a:pPr algn="l"/>
            <a:r>
              <a:rPr sz="1400" b="1">
                <a:solidFill>
                  <a:srgbClr val="2E6DA4"/>
                </a:solidFill>
                <a:latin typeface="Consolas"/>
              </a:rPr>
              <a:t>$ mysql pavilion -e 'SELECT pav_id,name,result,sys_name,ROUND(duration,3) dur
                    FROM results ORDER BY logged_at DESC LIMIT 4'</a:t>
            </a:r>
          </a:p>
          <a:p>
            <a:pPr algn="l"/>
            <a:r>
              <a:rPr sz="1250" b="0">
                <a:solidFill>
                  <a:srgbClr val="1B2B34"/>
                </a:solidFill>
                <a:latin typeface="Consolas"/>
              </a:rPr>
              <a:t>pav_id  name                  result  sys_name    dur</a:t>
            </a:r>
          </a:p>
          <a:p>
            <a:pPr algn="l"/>
            <a:r>
              <a:rPr sz="1250" b="0">
                <a:solidFill>
                  <a:srgbClr val="1E7D3C"/>
                </a:solidFill>
                <a:latin typeface="Consolas"/>
              </a:rPr>
              <a:t>s74.2   demo_pbs.metrics      PASS    pbs-server  0.040</a:t>
            </a:r>
          </a:p>
          <a:p>
            <a:pPr algn="l"/>
            <a:r>
              <a:rPr sz="1250" b="0">
                <a:solidFill>
                  <a:srgbClr val="1E7D3C"/>
                </a:solidFill>
                <a:latin typeface="Consolas"/>
              </a:rPr>
              <a:t>s74.1   demo_pbs.pass         PASS    pbs-server  0.043</a:t>
            </a:r>
          </a:p>
          <a:p>
            <a:pPr algn="l"/>
            <a:r>
              <a:rPr sz="1250" b="0">
                <a:solidFill>
                  <a:srgbClr val="1E7D3C"/>
                </a:solidFill>
                <a:latin typeface="Consolas"/>
              </a:rPr>
              <a:t>s73.1   demo_modes.mode_demo  PASS    pbs-server  0.040</a:t>
            </a:r>
          </a:p>
          <a:p>
            <a:pPr algn="l"/>
            <a:r>
              <a:rPr sz="1250" b="0">
                <a:solidFill>
                  <a:srgbClr val="1E7D3C"/>
                </a:solidFill>
                <a:latin typeface="Consolas"/>
              </a:rPr>
              <a:t>s72.3   demo_perms.matrix...  PASS    pbs-server  0.040</a:t>
            </a:r>
          </a:p>
        </p:txBody>
      </p:sp>
      <p:sp>
        <p:nvSpPr>
          <p:cNvPr id="7" name="TextBox 6"/>
          <p:cNvSpPr txBox="1"/>
          <p:nvPr/>
        </p:nvSpPr>
        <p:spPr>
          <a:xfrm>
            <a:off x="640080" y="6144768"/>
            <a:ext cx="10972800" cy="502920"/>
          </a:xfrm>
          <a:prstGeom prst="rect">
            <a:avLst/>
          </a:prstGeom>
          <a:noFill/>
        </p:spPr>
        <p:txBody>
          <a:bodyPr wrap="square">
            <a:spAutoFit/>
          </a:bodyPr>
          <a:lstStyle/>
          <a:p>
            <a:r>
              <a:rPr sz="1400" b="0">
                <a:solidFill>
                  <a:srgbClr val="5B6674"/>
                </a:solidFill>
                <a:latin typeface="Arial"/>
              </a:rPr>
              <a:t>A result logger we wrote — every result lands in a MySQL table (passwordless local auth).</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7680960" cy="365760"/>
          </a:xfrm>
          <a:prstGeom prst="rect">
            <a:avLst/>
          </a:prstGeom>
          <a:noFill/>
        </p:spPr>
        <p:txBody>
          <a:bodyPr wrap="square">
            <a:spAutoFit/>
          </a:bodyPr>
          <a:lstStyle/>
          <a:p>
            <a:r>
              <a:rPr sz="1200" b="1">
                <a:solidFill>
                  <a:srgbClr val="2E6DA4"/>
                </a:solidFill>
                <a:latin typeface="Arial"/>
              </a:rPr>
              <a:t>RESULT LOGGERS</a:t>
            </a:r>
          </a:p>
        </p:txBody>
      </p:sp>
      <p:sp>
        <p:nvSpPr>
          <p:cNvPr id="3" name="TextBox 2"/>
          <p:cNvSpPr txBox="1"/>
          <p:nvPr/>
        </p:nvSpPr>
        <p:spPr>
          <a:xfrm>
            <a:off x="548640" y="640080"/>
            <a:ext cx="11064240" cy="822960"/>
          </a:xfrm>
          <a:prstGeom prst="rect">
            <a:avLst/>
          </a:prstGeom>
          <a:noFill/>
        </p:spPr>
        <p:txBody>
          <a:bodyPr wrap="square">
            <a:spAutoFit/>
          </a:bodyPr>
          <a:lstStyle/>
          <a:p>
            <a:r>
              <a:rPr sz="3000" b="1">
                <a:solidFill>
                  <a:srgbClr val="1F3B63"/>
                </a:solidFill>
                <a:latin typeface="Arial"/>
              </a:rPr>
              <a:t>Export results anywhere</a:t>
            </a:r>
          </a:p>
        </p:txBody>
      </p:sp>
      <p:sp>
        <p:nvSpPr>
          <p:cNvPr id="4" name="Rectangle 3"/>
          <p:cNvSpPr/>
          <p:nvPr/>
        </p:nvSpPr>
        <p:spPr>
          <a:xfrm>
            <a:off x="566928" y="1417320"/>
            <a:ext cx="2011680"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91640"/>
            <a:ext cx="10972800" cy="4754880"/>
          </a:xfrm>
          <a:prstGeom prst="rect">
            <a:avLst/>
          </a:prstGeom>
          <a:noFill/>
        </p:spPr>
        <p:txBody>
          <a:bodyPr wrap="square">
            <a:spAutoFit/>
          </a:bodyPr>
          <a:lstStyle/>
          <a:p>
            <a:pPr>
              <a:spcAft>
                <a:spcPts val="1000"/>
              </a:spcAft>
            </a:pPr>
            <a:r>
              <a:rPr sz="2000" b="0">
                <a:solidFill>
                  <a:srgbClr val="21252B"/>
                </a:solidFill>
                <a:latin typeface="Arial"/>
              </a:rPr>
              <a:t>•  Grafana — live dashboards &amp; trends  (shown today).</a:t>
            </a:r>
          </a:p>
          <a:p>
            <a:pPr>
              <a:spcAft>
                <a:spcPts val="1000"/>
              </a:spcAft>
            </a:pPr>
            <a:r>
              <a:rPr sz="2000" b="0">
                <a:solidFill>
                  <a:srgbClr val="21252B"/>
                </a:solidFill>
                <a:latin typeface="Arial"/>
              </a:rPr>
              <a:t>•  OpenSearch — index every result document  (shown today).</a:t>
            </a:r>
          </a:p>
          <a:p>
            <a:pPr>
              <a:spcAft>
                <a:spcPts val="1000"/>
              </a:spcAft>
            </a:pPr>
            <a:r>
              <a:rPr sz="2000" b="0">
                <a:solidFill>
                  <a:srgbClr val="21252B"/>
                </a:solidFill>
                <a:latin typeface="Arial"/>
              </a:rPr>
              <a:t>•  MySQL — a row per result in a relational table  (shown today).</a:t>
            </a:r>
          </a:p>
          <a:p>
            <a:pPr>
              <a:spcAft>
                <a:spcPts val="1000"/>
              </a:spcAft>
            </a:pPr>
            <a:r>
              <a:rPr sz="2000" b="0">
                <a:solidFill>
                  <a:srgbClr val="21252B"/>
                </a:solidFill>
                <a:latin typeface="Arial"/>
              </a:rPr>
              <a:t>•  PostgreSQL — same idea, for a Postgres shop.</a:t>
            </a:r>
          </a:p>
          <a:p>
            <a:pPr>
              <a:spcAft>
                <a:spcPts val="1000"/>
              </a:spcAft>
            </a:pPr>
            <a:r>
              <a:rPr sz="2000" b="0">
                <a:solidFill>
                  <a:srgbClr val="21252B"/>
                </a:solidFill>
                <a:latin typeface="Arial"/>
              </a:rPr>
              <a:t>•  [add your own] — a result logger is just a plugin: target any destination.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651760"/>
            <a:ext cx="12191695" cy="1554480"/>
          </a:xfrm>
          <a:prstGeom prst="rect">
            <a:avLst/>
          </a:prstGeom>
          <a:solidFill>
            <a:srgbClr val="EE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834640"/>
            <a:ext cx="10698480" cy="1188720"/>
          </a:xfrm>
          <a:prstGeom prst="rect">
            <a:avLst/>
          </a:prstGeom>
          <a:noFill/>
        </p:spPr>
        <p:txBody>
          <a:bodyPr wrap="square">
            <a:spAutoFit/>
          </a:bodyPr>
          <a:lstStyle/>
          <a:p>
            <a:r>
              <a:rPr sz="1300" b="1">
                <a:solidFill>
                  <a:srgbClr val="2E6DA4"/>
                </a:solidFill>
                <a:latin typeface="Arial"/>
              </a:rPr>
              <a:t>REAL-WORLD</a:t>
            </a:r>
          </a:p>
          <a:p>
            <a:r>
              <a:rPr sz="3600" b="1">
                <a:solidFill>
                  <a:srgbClr val="1F3B63"/>
                </a:solidFill>
                <a:latin typeface="Arial"/>
              </a:rPr>
              <a:t>Putting it together</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7680960" cy="365760"/>
          </a:xfrm>
          <a:prstGeom prst="rect">
            <a:avLst/>
          </a:prstGeom>
          <a:noFill/>
        </p:spPr>
        <p:txBody>
          <a:bodyPr wrap="square">
            <a:spAutoFit/>
          </a:bodyPr>
          <a:lstStyle/>
          <a:p>
            <a:r>
              <a:rPr sz="1200" b="1">
                <a:solidFill>
                  <a:srgbClr val="2E6DA4"/>
                </a:solidFill>
                <a:latin typeface="Arial"/>
              </a:rPr>
              <a:t>IN PRACTICE</a:t>
            </a:r>
          </a:p>
        </p:txBody>
      </p:sp>
      <p:sp>
        <p:nvSpPr>
          <p:cNvPr id="3" name="TextBox 2"/>
          <p:cNvSpPr txBox="1"/>
          <p:nvPr/>
        </p:nvSpPr>
        <p:spPr>
          <a:xfrm>
            <a:off x="548640" y="640080"/>
            <a:ext cx="11064240" cy="822960"/>
          </a:xfrm>
          <a:prstGeom prst="rect">
            <a:avLst/>
          </a:prstGeom>
          <a:noFill/>
        </p:spPr>
        <p:txBody>
          <a:bodyPr wrap="square">
            <a:spAutoFit/>
          </a:bodyPr>
          <a:lstStyle/>
          <a:p>
            <a:r>
              <a:rPr sz="3000" b="1">
                <a:solidFill>
                  <a:srgbClr val="1F3B63"/>
                </a:solidFill>
                <a:latin typeface="Arial"/>
              </a:rPr>
              <a:t>How we use it here</a:t>
            </a:r>
          </a:p>
        </p:txBody>
      </p:sp>
      <p:sp>
        <p:nvSpPr>
          <p:cNvPr id="4" name="Rectangle 3"/>
          <p:cNvSpPr/>
          <p:nvPr/>
        </p:nvSpPr>
        <p:spPr>
          <a:xfrm>
            <a:off x="566928" y="1417320"/>
            <a:ext cx="2011680"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91640"/>
            <a:ext cx="10972800" cy="4754880"/>
          </a:xfrm>
          <a:prstGeom prst="rect">
            <a:avLst/>
          </a:prstGeom>
          <a:noFill/>
        </p:spPr>
        <p:txBody>
          <a:bodyPr wrap="square">
            <a:spAutoFit/>
          </a:bodyPr>
          <a:lstStyle/>
          <a:p>
            <a:pPr>
              <a:spcAft>
                <a:spcPts val="1000"/>
              </a:spcAft>
            </a:pPr>
            <a:r>
              <a:rPr sz="2000" b="0">
                <a:solidFill>
                  <a:srgbClr val="21252B"/>
                </a:solidFill>
                <a:latin typeface="Arial"/>
              </a:rPr>
              <a:t>•  Define acceptance/regression tests once (incl. real benchmarks: HPL, HPCG).</a:t>
            </a:r>
          </a:p>
          <a:p>
            <a:pPr>
              <a:spcAft>
                <a:spcPts val="1000"/>
              </a:spcAft>
            </a:pPr>
            <a:r>
              <a:rPr sz="2000" b="0">
                <a:solidFill>
                  <a:srgbClr val="21252B"/>
                </a:solidFill>
                <a:latin typeface="Arial"/>
              </a:rPr>
              <a:t>•  Run through PBS across the cluster; permute across configurations.</a:t>
            </a:r>
          </a:p>
          <a:p>
            <a:pPr>
              <a:spcAft>
                <a:spcPts val="1000"/>
              </a:spcAft>
            </a:pPr>
            <a:r>
              <a:rPr sz="2000" b="0">
                <a:solidFill>
                  <a:srgbClr val="21252B"/>
                </a:solidFill>
                <a:latin typeface="Arial"/>
              </a:rPr>
              <a:t>•  Parse metrics; every result flows to CSV + OpenSearch automatically.</a:t>
            </a:r>
          </a:p>
          <a:p>
            <a:pPr>
              <a:spcAft>
                <a:spcPts val="1000"/>
              </a:spcAft>
            </a:pPr>
            <a:r>
              <a:rPr sz="2000" b="0">
                <a:solidFill>
                  <a:srgbClr val="21252B"/>
                </a:solidFill>
                <a:latin typeface="Arial"/>
              </a:rPr>
              <a:t>•  Grafana dashboards make trends and regressions visible over time.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7680960" cy="365760"/>
          </a:xfrm>
          <a:prstGeom prst="rect">
            <a:avLst/>
          </a:prstGeom>
          <a:noFill/>
        </p:spPr>
        <p:txBody>
          <a:bodyPr wrap="square">
            <a:spAutoFit/>
          </a:bodyPr>
          <a:lstStyle/>
          <a:p>
            <a:r>
              <a:rPr sz="1200" b="1">
                <a:solidFill>
                  <a:srgbClr val="2E6DA4"/>
                </a:solidFill>
                <a:latin typeface="Arial"/>
              </a:rPr>
              <a:t>WRAP-UP</a:t>
            </a:r>
          </a:p>
        </p:txBody>
      </p:sp>
      <p:sp>
        <p:nvSpPr>
          <p:cNvPr id="3" name="TextBox 2"/>
          <p:cNvSpPr txBox="1"/>
          <p:nvPr/>
        </p:nvSpPr>
        <p:spPr>
          <a:xfrm>
            <a:off x="548640" y="640080"/>
            <a:ext cx="11064240" cy="822960"/>
          </a:xfrm>
          <a:prstGeom prst="rect">
            <a:avLst/>
          </a:prstGeom>
          <a:noFill/>
        </p:spPr>
        <p:txBody>
          <a:bodyPr wrap="square">
            <a:spAutoFit/>
          </a:bodyPr>
          <a:lstStyle/>
          <a:p>
            <a:r>
              <a:rPr sz="3000" b="1">
                <a:solidFill>
                  <a:srgbClr val="1F3B63"/>
                </a:solidFill>
                <a:latin typeface="Arial"/>
              </a:rPr>
              <a:t>Recap</a:t>
            </a:r>
          </a:p>
        </p:txBody>
      </p:sp>
      <p:sp>
        <p:nvSpPr>
          <p:cNvPr id="4" name="Rectangle 3"/>
          <p:cNvSpPr/>
          <p:nvPr/>
        </p:nvSpPr>
        <p:spPr>
          <a:xfrm>
            <a:off x="566928" y="1417320"/>
            <a:ext cx="2011680" cy="3810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91640"/>
            <a:ext cx="10972800" cy="4754880"/>
          </a:xfrm>
          <a:prstGeom prst="rect">
            <a:avLst/>
          </a:prstGeom>
          <a:noFill/>
        </p:spPr>
        <p:txBody>
          <a:bodyPr wrap="square">
            <a:spAutoFit/>
          </a:bodyPr>
          <a:lstStyle/>
          <a:p>
            <a:pPr>
              <a:spcAft>
                <a:spcPts val="1000"/>
              </a:spcAft>
            </a:pPr>
            <a:r>
              <a:rPr sz="2000" b="0">
                <a:solidFill>
                  <a:srgbClr val="21252B"/>
                </a:solidFill>
                <a:latin typeface="Arial"/>
              </a:rPr>
              <a:t>•  YAML tests → build → run → parse → log. One model, everywhere.</a:t>
            </a:r>
          </a:p>
          <a:p>
            <a:pPr>
              <a:spcAft>
                <a:spcPts val="1000"/>
              </a:spcAft>
            </a:pPr>
            <a:r>
              <a:rPr sz="2000" b="0">
                <a:solidFill>
                  <a:srgbClr val="21252B"/>
                </a:solidFill>
                <a:latin typeface="Arial"/>
              </a:rPr>
              <a:t>•  Permutations turn one config into a whole test matrix.</a:t>
            </a:r>
          </a:p>
          <a:p>
            <a:pPr>
              <a:spcAft>
                <a:spcPts val="1000"/>
              </a:spcAft>
            </a:pPr>
            <a:r>
              <a:rPr sz="2000" b="0">
                <a:solidFill>
                  <a:srgbClr val="21252B"/>
                </a:solidFill>
                <a:latin typeface="Arial"/>
              </a:rPr>
              <a:t>•  Schedulers (incl. our PBS plugin) run it at cluster scale.</a:t>
            </a:r>
          </a:p>
          <a:p>
            <a:pPr>
              <a:spcAft>
                <a:spcPts val="1000"/>
              </a:spcAft>
            </a:pPr>
            <a:r>
              <a:rPr sz="2000" b="0">
                <a:solidFill>
                  <a:srgbClr val="21252B"/>
                </a:solidFill>
                <a:latin typeface="Arial"/>
              </a:rPr>
              <a:t>•  Plugins extend everything — our commands and result loggers included.</a:t>
            </a:r>
          </a:p>
          <a:p>
            <a:pPr>
              <a:spcAft>
                <a:spcPts val="1000"/>
              </a:spcAft>
            </a:pPr>
            <a:r>
              <a:rPr sz="2000" b="0">
                <a:solidFill>
                  <a:srgbClr val="21252B"/>
                </a:solidFill>
                <a:latin typeface="Arial"/>
              </a:rPr>
              <a:t>•  Results become dashboards. Questions?</a:t>
            </a:r>
          </a:p>
          <a:p>
            <a:pPr>
              <a:spcAft>
                <a:spcPts val="1000"/>
              </a:spcAft>
            </a:pPr>
            <a:r>
              <a:rPr sz="2000" b="0">
                <a:solidFill>
                  <a:srgbClr val="21252B"/>
                </a:solidFill>
                <a:latin typeface="Arial"/>
              </a:rPr>
              <a:t>•  Learn more →  github.com/hpc/pavilion2   ·   pavilion2.readthedocs.io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